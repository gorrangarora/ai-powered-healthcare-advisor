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7"/>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Arimo Bold" charset="1" panose="020B0704020202020204"/>
      <p:regular r:id="rId20"/>
    </p:embeddedFont>
    <p:embeddedFont>
      <p:font typeface="Open Sans Italics" charset="1" panose="00000000000000000000"/>
      <p:regular r:id="rId21"/>
    </p:embeddedFont>
    <p:embeddedFont>
      <p:font typeface="Open Sans" charset="1" panose="0000000000000000000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notesMasters/notesMaster1.xml" Type="http://schemas.openxmlformats.org/officeDocument/2006/relationships/notesMaster"/><Relationship Id="rId18" Target="theme/theme2.xml" Type="http://schemas.openxmlformats.org/officeDocument/2006/relationships/theme"/><Relationship Id="rId19" Target="notesSlides/notesSlide1.xml" Type="http://schemas.openxmlformats.org/officeDocument/2006/relationships/note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notesSlides/notesSlide2.xml" Type="http://schemas.openxmlformats.org/officeDocument/2006/relationships/notesSlide"/><Relationship Id="rId23" Target="notesSlides/notesSlide3.xml" Type="http://schemas.openxmlformats.org/officeDocument/2006/relationships/notesSlide"/><Relationship Id="rId24" Target="fonts/font24.fntdata" Type="http://schemas.openxmlformats.org/officeDocument/2006/relationships/font"/><Relationship Id="rId25" Target="notesSlides/notesSlide4.xml" Type="http://schemas.openxmlformats.org/officeDocument/2006/relationships/notesSlide"/><Relationship Id="rId26" Target="notesSlides/notesSlide5.xml" Type="http://schemas.openxmlformats.org/officeDocument/2006/relationships/notesSlide"/><Relationship Id="rId27" Target="notesSlides/notesSlide6.xml" Type="http://schemas.openxmlformats.org/officeDocument/2006/relationships/notesSlide"/><Relationship Id="rId28" Target="notesSlides/notesSlide7.xml" Type="http://schemas.openxmlformats.org/officeDocument/2006/relationships/notesSlide"/><Relationship Id="rId29" Target="notesSlides/notesSlide8.xml" Type="http://schemas.openxmlformats.org/officeDocument/2006/relationships/notesSlide"/><Relationship Id="rId3" Target="viewProps.xml" Type="http://schemas.openxmlformats.org/officeDocument/2006/relationships/viewProps"/><Relationship Id="rId30" Target="notesSlides/notesSlide9.xml" Type="http://schemas.openxmlformats.org/officeDocument/2006/relationships/notesSlide"/><Relationship Id="rId31" Target="notesSlides/notesSlide10.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3.png" Type="http://schemas.openxmlformats.org/officeDocument/2006/relationships/image"/><Relationship Id="rId4" Target="../media/image4.png" Type="http://schemas.openxmlformats.org/officeDocument/2006/relationships/image"/><Relationship Id="rId5" Target="../media/image5.png" Type="http://schemas.openxmlformats.org/officeDocument/2006/relationships/image"/><Relationship Id="rId6" Target="../media/image6.png" Type="http://schemas.openxmlformats.org/officeDocument/2006/relationships/image"/><Relationship Id="rId7" Target="../media/image7.png" Type="http://schemas.openxmlformats.org/officeDocument/2006/relationships/image"/><Relationship Id="rId8" Target="../media/image8.png" Type="http://schemas.openxmlformats.org/officeDocument/2006/relationships/image"/><Relationship Id="rId9" Target="../media/image9.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0.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1.png" Type="http://schemas.openxmlformats.org/officeDocument/2006/relationships/image"/><Relationship Id="rId4" Target="../media/image12.png" Type="http://schemas.openxmlformats.org/officeDocument/2006/relationships/image"/><Relationship Id="rId5" Target="../media/image13.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4.png" Type="http://schemas.openxmlformats.org/officeDocument/2006/relationships/image"/><Relationship Id="rId4" Target="../media/image15.png" Type="http://schemas.openxmlformats.org/officeDocument/2006/relationships/image"/><Relationship Id="rId5" Target="../media/image16.png" Type="http://schemas.openxmlformats.org/officeDocument/2006/relationships/image"/><Relationship Id="rId6" Target="../media/image17.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8.png" Type="http://schemas.openxmlformats.org/officeDocument/2006/relationships/image"/><Relationship Id="rId4" Target="../media/image19.png" Type="http://schemas.openxmlformats.org/officeDocument/2006/relationships/image"/><Relationship Id="rId5" Target="../media/image20.png" Type="http://schemas.openxmlformats.org/officeDocument/2006/relationships/image"/><Relationship Id="rId6" Target="../media/image2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9.png" Type="http://schemas.openxmlformats.org/officeDocument/2006/relationships/image"/><Relationship Id="rId2" Target="../notesSlides/notesSlide7.xml" Type="http://schemas.openxmlformats.org/officeDocument/2006/relationships/notesSlide"/><Relationship Id="rId3" Target="../media/image22.png" Type="http://schemas.openxmlformats.org/officeDocument/2006/relationships/image"/><Relationship Id="rId4" Target="../media/image23.png" Type="http://schemas.openxmlformats.org/officeDocument/2006/relationships/image"/><Relationship Id="rId5" Target="../media/image24.png" Type="http://schemas.openxmlformats.org/officeDocument/2006/relationships/image"/><Relationship Id="rId6" Target="../media/image25.png" Type="http://schemas.openxmlformats.org/officeDocument/2006/relationships/image"/><Relationship Id="rId7" Target="../media/image26.png" Type="http://schemas.openxmlformats.org/officeDocument/2006/relationships/image"/><Relationship Id="rId8" Target="../media/image27.png" Type="http://schemas.openxmlformats.org/officeDocument/2006/relationships/image"/><Relationship Id="rId9" Target="../media/image28.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30.png" Type="http://schemas.openxmlformats.org/officeDocument/2006/relationships/image"/><Relationship Id="rId4" Target="../media/image31.png" Type="http://schemas.openxmlformats.org/officeDocument/2006/relationships/image"/><Relationship Id="rId5" Target="../media/image32.png" Type="http://schemas.openxmlformats.org/officeDocument/2006/relationships/image"/><Relationship Id="rId6" Target="../media/image33.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4.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35.png" Type="http://schemas.openxmlformats.org/officeDocument/2006/relationships/image"/><Relationship Id="rId4" Target="../media/image36.png" Type="http://schemas.openxmlformats.org/officeDocument/2006/relationships/image"/><Relationship Id="rId5" Target="../media/image37.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2F3EF"/>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E2F3EF"/>
            </a:solidFill>
          </p:spPr>
        </p:sp>
      </p:grpSp>
      <p:grpSp>
        <p:nvGrpSpPr>
          <p:cNvPr name="Group 4" id="4"/>
          <p:cNvGrpSpPr/>
          <p:nvPr/>
        </p:nvGrpSpPr>
        <p:grpSpPr>
          <a:xfrm rot="0">
            <a:off x="0" y="-53992"/>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E2F3EF"/>
            </a:solidFill>
          </p:spPr>
        </p:sp>
      </p:grpSp>
      <p:sp>
        <p:nvSpPr>
          <p:cNvPr name="Freeform 6" id="6"/>
          <p:cNvSpPr/>
          <p:nvPr/>
        </p:nvSpPr>
        <p:spPr>
          <a:xfrm flipH="false" flipV="false" rot="0">
            <a:off x="11374741" y="0"/>
            <a:ext cx="6913259" cy="10287000"/>
          </a:xfrm>
          <a:custGeom>
            <a:avLst/>
            <a:gdLst/>
            <a:ahLst/>
            <a:cxnLst/>
            <a:rect r="r" b="b" t="t" l="l"/>
            <a:pathLst>
              <a:path h="10287000" w="6913259">
                <a:moveTo>
                  <a:pt x="0" y="0"/>
                </a:moveTo>
                <a:lnTo>
                  <a:pt x="6913259" y="0"/>
                </a:lnTo>
                <a:lnTo>
                  <a:pt x="6913259" y="10287000"/>
                </a:lnTo>
                <a:lnTo>
                  <a:pt x="0" y="10287000"/>
                </a:lnTo>
                <a:lnTo>
                  <a:pt x="0" y="0"/>
                </a:lnTo>
                <a:close/>
              </a:path>
            </a:pathLst>
          </a:custGeom>
          <a:blipFill>
            <a:blip r:embed="rId3"/>
            <a:stretch>
              <a:fillRect l="-24400" t="0" r="-24400" b="0"/>
            </a:stretch>
          </a:blipFill>
        </p:spPr>
      </p:sp>
      <p:sp>
        <p:nvSpPr>
          <p:cNvPr name="Freeform 7" id="7"/>
          <p:cNvSpPr/>
          <p:nvPr/>
        </p:nvSpPr>
        <p:spPr>
          <a:xfrm flipH="false" flipV="false" rot="0">
            <a:off x="0" y="-7127"/>
            <a:ext cx="4403782" cy="1273821"/>
          </a:xfrm>
          <a:custGeom>
            <a:avLst/>
            <a:gdLst/>
            <a:ahLst/>
            <a:cxnLst/>
            <a:rect r="r" b="b" t="t" l="l"/>
            <a:pathLst>
              <a:path h="1273821" w="4403782">
                <a:moveTo>
                  <a:pt x="0" y="0"/>
                </a:moveTo>
                <a:lnTo>
                  <a:pt x="4403782" y="0"/>
                </a:lnTo>
                <a:lnTo>
                  <a:pt x="4403782" y="1273821"/>
                </a:lnTo>
                <a:lnTo>
                  <a:pt x="0" y="1273821"/>
                </a:lnTo>
                <a:lnTo>
                  <a:pt x="0" y="0"/>
                </a:lnTo>
                <a:close/>
              </a:path>
            </a:pathLst>
          </a:custGeom>
          <a:blipFill>
            <a:blip r:embed="rId4"/>
            <a:stretch>
              <a:fillRect l="0" t="0" r="0" b="0"/>
            </a:stretch>
          </a:blipFill>
        </p:spPr>
      </p:sp>
      <p:sp>
        <p:nvSpPr>
          <p:cNvPr name="TextBox 8" id="8"/>
          <p:cNvSpPr txBox="true"/>
          <p:nvPr/>
        </p:nvSpPr>
        <p:spPr>
          <a:xfrm rot="0">
            <a:off x="0" y="1638169"/>
            <a:ext cx="13472221" cy="1907438"/>
          </a:xfrm>
          <a:prstGeom prst="rect">
            <a:avLst/>
          </a:prstGeom>
        </p:spPr>
        <p:txBody>
          <a:bodyPr anchor="t" rtlCol="false" tIns="0" lIns="0" bIns="0" rIns="0">
            <a:spAutoFit/>
          </a:bodyPr>
          <a:lstStyle/>
          <a:p>
            <a:pPr algn="l">
              <a:lnSpc>
                <a:spcPts val="7435"/>
              </a:lnSpc>
            </a:pPr>
            <a:r>
              <a:rPr lang="en-US" sz="5962" b="true">
                <a:solidFill>
                  <a:srgbClr val="333F70"/>
                </a:solidFill>
                <a:latin typeface="Arimo Bold"/>
                <a:ea typeface="Arimo Bold"/>
                <a:cs typeface="Arimo Bold"/>
                <a:sym typeface="Arimo Bold"/>
              </a:rPr>
              <a:t>AI-Powered Healthcare Advisor</a:t>
            </a:r>
          </a:p>
          <a:p>
            <a:pPr algn="l">
              <a:lnSpc>
                <a:spcPts val="7436"/>
              </a:lnSpc>
            </a:pPr>
            <a:r>
              <a:rPr lang="en-US" sz="5962" b="true">
                <a:solidFill>
                  <a:srgbClr val="333F70"/>
                </a:solidFill>
                <a:latin typeface="Arimo Bold"/>
                <a:ea typeface="Arimo Bold"/>
                <a:cs typeface="Arimo Bold"/>
                <a:sym typeface="Arimo Bold"/>
              </a:rPr>
              <a:t>                 </a:t>
            </a:r>
            <a:r>
              <a:rPr lang="en-US" sz="5962" b="true">
                <a:solidFill>
                  <a:srgbClr val="333F70"/>
                </a:solidFill>
                <a:latin typeface="Arimo Bold"/>
                <a:ea typeface="Arimo Bold"/>
                <a:cs typeface="Arimo Bold"/>
                <a:sym typeface="Arimo Bold"/>
              </a:rPr>
              <a:t>[AIHCA]</a:t>
            </a:r>
          </a:p>
        </p:txBody>
      </p:sp>
      <p:sp>
        <p:nvSpPr>
          <p:cNvPr name="TextBox 9" id="9"/>
          <p:cNvSpPr txBox="true"/>
          <p:nvPr/>
        </p:nvSpPr>
        <p:spPr>
          <a:xfrm rot="0">
            <a:off x="1028700" y="5019675"/>
            <a:ext cx="9445526" cy="582728"/>
          </a:xfrm>
          <a:prstGeom prst="rect">
            <a:avLst/>
          </a:prstGeom>
        </p:spPr>
        <p:txBody>
          <a:bodyPr anchor="t" rtlCol="false" tIns="0" lIns="0" bIns="0" rIns="0">
            <a:spAutoFit/>
          </a:bodyPr>
          <a:lstStyle/>
          <a:p>
            <a:pPr algn="l">
              <a:lnSpc>
                <a:spcPts val="4921"/>
              </a:lnSpc>
            </a:pPr>
            <a:r>
              <a:rPr lang="en-US" sz="3049" i="true">
                <a:solidFill>
                  <a:srgbClr val="333F70"/>
                </a:solidFill>
                <a:latin typeface="Open Sans Italics"/>
                <a:ea typeface="Open Sans Italics"/>
                <a:cs typeface="Open Sans Italics"/>
                <a:sym typeface="Open Sans Italics"/>
              </a:rPr>
              <a:t>Student Name: Gorrang Arora</a:t>
            </a:r>
          </a:p>
        </p:txBody>
      </p:sp>
      <p:sp>
        <p:nvSpPr>
          <p:cNvPr name="TextBox 10" id="10"/>
          <p:cNvSpPr txBox="true"/>
          <p:nvPr/>
        </p:nvSpPr>
        <p:spPr>
          <a:xfrm rot="0">
            <a:off x="1028700" y="5623760"/>
            <a:ext cx="9445526" cy="1201976"/>
          </a:xfrm>
          <a:prstGeom prst="rect">
            <a:avLst/>
          </a:prstGeom>
        </p:spPr>
        <p:txBody>
          <a:bodyPr anchor="t" rtlCol="false" tIns="0" lIns="0" bIns="0" rIns="0">
            <a:spAutoFit/>
          </a:bodyPr>
          <a:lstStyle/>
          <a:p>
            <a:pPr algn="l">
              <a:lnSpc>
                <a:spcPts val="4919"/>
              </a:lnSpc>
            </a:pPr>
            <a:r>
              <a:rPr lang="en-US" sz="3049" i="true">
                <a:solidFill>
                  <a:srgbClr val="333F70"/>
                </a:solidFill>
                <a:latin typeface="Open Sans Italics"/>
                <a:ea typeface="Open Sans Italics"/>
                <a:cs typeface="Open Sans Italics"/>
                <a:sym typeface="Open Sans Italics"/>
              </a:rPr>
              <a:t>Guide Name: Dr Ajay kumar </a:t>
            </a:r>
          </a:p>
          <a:p>
            <a:pPr algn="l">
              <a:lnSpc>
                <a:spcPts val="4921"/>
              </a:lnSpc>
            </a:pPr>
            <a:r>
              <a:rPr lang="en-US" sz="3049" i="true">
                <a:solidFill>
                  <a:srgbClr val="333F70"/>
                </a:solidFill>
                <a:latin typeface="Open Sans Italics"/>
                <a:ea typeface="Open Sans Italics"/>
                <a:cs typeface="Open Sans Italics"/>
                <a:sym typeface="Open Sans Italics"/>
              </a:rPr>
              <a:t>Registration Number: 2427030644</a:t>
            </a:r>
          </a:p>
        </p:txBody>
      </p:sp>
      <p:sp>
        <p:nvSpPr>
          <p:cNvPr name="TextBox 11" id="11"/>
          <p:cNvSpPr txBox="true"/>
          <p:nvPr/>
        </p:nvSpPr>
        <p:spPr>
          <a:xfrm rot="0">
            <a:off x="1028700" y="6930547"/>
            <a:ext cx="9445526" cy="582728"/>
          </a:xfrm>
          <a:prstGeom prst="rect">
            <a:avLst/>
          </a:prstGeom>
        </p:spPr>
        <p:txBody>
          <a:bodyPr anchor="t" rtlCol="false" tIns="0" lIns="0" bIns="0" rIns="0">
            <a:spAutoFit/>
          </a:bodyPr>
          <a:lstStyle/>
          <a:p>
            <a:pPr algn="l">
              <a:lnSpc>
                <a:spcPts val="4921"/>
              </a:lnSpc>
            </a:pPr>
            <a:r>
              <a:rPr lang="en-US" sz="3049" i="true">
                <a:solidFill>
                  <a:srgbClr val="333F70"/>
                </a:solidFill>
                <a:latin typeface="Open Sans Italics"/>
                <a:ea typeface="Open Sans Italics"/>
                <a:cs typeface="Open Sans Italics"/>
                <a:sym typeface="Open Sans Italics"/>
              </a:rPr>
              <a:t>Academic Year: 2026</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2F3EF"/>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E2F3EF"/>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E2F3EF"/>
            </a:solidFill>
          </p:spPr>
        </p:sp>
      </p:grpSp>
      <p:grpSp>
        <p:nvGrpSpPr>
          <p:cNvPr name="Group 6" id="6"/>
          <p:cNvGrpSpPr/>
          <p:nvPr/>
        </p:nvGrpSpPr>
        <p:grpSpPr>
          <a:xfrm rot="0">
            <a:off x="665410" y="1383506"/>
            <a:ext cx="775544" cy="1158479"/>
            <a:chOff x="0" y="0"/>
            <a:chExt cx="1034058" cy="1544638"/>
          </a:xfrm>
        </p:grpSpPr>
        <p:sp>
          <p:nvSpPr>
            <p:cNvPr name="Freeform 7" id="7"/>
            <p:cNvSpPr/>
            <p:nvPr/>
          </p:nvSpPr>
          <p:spPr>
            <a:xfrm flipH="false" flipV="false" rot="0">
              <a:off x="6350" y="6350"/>
              <a:ext cx="1021334" cy="1532001"/>
            </a:xfrm>
            <a:custGeom>
              <a:avLst/>
              <a:gdLst/>
              <a:ahLst/>
              <a:cxnLst/>
              <a:rect r="r" b="b" t="t" l="l"/>
              <a:pathLst>
                <a:path h="1532001" w="1021334">
                  <a:moveTo>
                    <a:pt x="0" y="512826"/>
                  </a:moveTo>
                  <a:cubicBezTo>
                    <a:pt x="0" y="229616"/>
                    <a:pt x="228600" y="0"/>
                    <a:pt x="510667" y="0"/>
                  </a:cubicBezTo>
                  <a:cubicBezTo>
                    <a:pt x="792734" y="0"/>
                    <a:pt x="1021334" y="229616"/>
                    <a:pt x="1021334" y="512826"/>
                  </a:cubicBezTo>
                  <a:lnTo>
                    <a:pt x="1021334" y="1019175"/>
                  </a:lnTo>
                  <a:cubicBezTo>
                    <a:pt x="1021334" y="1302385"/>
                    <a:pt x="792734" y="1532001"/>
                    <a:pt x="510667" y="1532001"/>
                  </a:cubicBezTo>
                  <a:cubicBezTo>
                    <a:pt x="228600" y="1532001"/>
                    <a:pt x="0" y="1302385"/>
                    <a:pt x="0" y="1019175"/>
                  </a:cubicBezTo>
                  <a:close/>
                </a:path>
              </a:pathLst>
            </a:custGeom>
            <a:solidFill>
              <a:srgbClr val="E2F3EF"/>
            </a:solidFill>
          </p:spPr>
        </p:sp>
        <p:sp>
          <p:nvSpPr>
            <p:cNvPr name="Freeform 8" id="8"/>
            <p:cNvSpPr/>
            <p:nvPr/>
          </p:nvSpPr>
          <p:spPr>
            <a:xfrm flipH="false" flipV="false" rot="0">
              <a:off x="0" y="0"/>
              <a:ext cx="1034034" cy="1544701"/>
            </a:xfrm>
            <a:custGeom>
              <a:avLst/>
              <a:gdLst/>
              <a:ahLst/>
              <a:cxnLst/>
              <a:rect r="r" b="b" t="t" l="l"/>
              <a:pathLst>
                <a:path h="1544701" w="1034034">
                  <a:moveTo>
                    <a:pt x="0" y="519176"/>
                  </a:moveTo>
                  <a:cubicBezTo>
                    <a:pt x="0" y="232410"/>
                    <a:pt x="231394" y="0"/>
                    <a:pt x="517017" y="0"/>
                  </a:cubicBezTo>
                  <a:cubicBezTo>
                    <a:pt x="518287" y="0"/>
                    <a:pt x="519430" y="381"/>
                    <a:pt x="520446" y="1016"/>
                  </a:cubicBezTo>
                  <a:lnTo>
                    <a:pt x="517017" y="6350"/>
                  </a:lnTo>
                  <a:lnTo>
                    <a:pt x="517017" y="0"/>
                  </a:lnTo>
                  <a:cubicBezTo>
                    <a:pt x="802640" y="0"/>
                    <a:pt x="1034034" y="232410"/>
                    <a:pt x="1034034" y="519176"/>
                  </a:cubicBezTo>
                  <a:lnTo>
                    <a:pt x="1034034" y="1025525"/>
                  </a:lnTo>
                  <a:lnTo>
                    <a:pt x="1027684" y="1025525"/>
                  </a:lnTo>
                  <a:lnTo>
                    <a:pt x="1034034" y="1025525"/>
                  </a:lnTo>
                  <a:cubicBezTo>
                    <a:pt x="1034034" y="1312164"/>
                    <a:pt x="802640" y="1544701"/>
                    <a:pt x="517017" y="1544701"/>
                  </a:cubicBezTo>
                  <a:lnTo>
                    <a:pt x="517017" y="1538351"/>
                  </a:lnTo>
                  <a:lnTo>
                    <a:pt x="517017" y="1544701"/>
                  </a:lnTo>
                  <a:cubicBezTo>
                    <a:pt x="231394" y="1544701"/>
                    <a:pt x="0" y="1312164"/>
                    <a:pt x="0" y="1025525"/>
                  </a:cubicBezTo>
                  <a:lnTo>
                    <a:pt x="0" y="519176"/>
                  </a:lnTo>
                  <a:lnTo>
                    <a:pt x="6350" y="519176"/>
                  </a:lnTo>
                  <a:lnTo>
                    <a:pt x="0" y="519176"/>
                  </a:lnTo>
                  <a:moveTo>
                    <a:pt x="12700" y="519176"/>
                  </a:moveTo>
                  <a:lnTo>
                    <a:pt x="12700" y="1025525"/>
                  </a:lnTo>
                  <a:lnTo>
                    <a:pt x="6350" y="1025525"/>
                  </a:lnTo>
                  <a:lnTo>
                    <a:pt x="12700" y="1025525"/>
                  </a:lnTo>
                  <a:cubicBezTo>
                    <a:pt x="12700" y="1305179"/>
                    <a:pt x="238506" y="1532001"/>
                    <a:pt x="517017" y="1532001"/>
                  </a:cubicBezTo>
                  <a:cubicBezTo>
                    <a:pt x="795528" y="1532001"/>
                    <a:pt x="1021334" y="1305306"/>
                    <a:pt x="1021334" y="1025525"/>
                  </a:cubicBezTo>
                  <a:lnTo>
                    <a:pt x="1021334" y="519176"/>
                  </a:lnTo>
                  <a:lnTo>
                    <a:pt x="1027684" y="519176"/>
                  </a:lnTo>
                  <a:lnTo>
                    <a:pt x="1021334" y="519176"/>
                  </a:lnTo>
                  <a:cubicBezTo>
                    <a:pt x="1021334" y="239395"/>
                    <a:pt x="795528" y="12700"/>
                    <a:pt x="517017" y="12700"/>
                  </a:cubicBezTo>
                  <a:cubicBezTo>
                    <a:pt x="515747" y="12700"/>
                    <a:pt x="514604" y="12319"/>
                    <a:pt x="513588" y="11684"/>
                  </a:cubicBezTo>
                  <a:lnTo>
                    <a:pt x="517017" y="6350"/>
                  </a:lnTo>
                  <a:lnTo>
                    <a:pt x="517017" y="12700"/>
                  </a:lnTo>
                  <a:cubicBezTo>
                    <a:pt x="238506" y="12700"/>
                    <a:pt x="12700" y="239395"/>
                    <a:pt x="12700" y="519176"/>
                  </a:cubicBezTo>
                  <a:close/>
                </a:path>
              </a:pathLst>
            </a:custGeom>
            <a:solidFill>
              <a:srgbClr val="BCDBD4"/>
            </a:solidFill>
          </p:spPr>
        </p:sp>
      </p:grpSp>
      <p:grpSp>
        <p:nvGrpSpPr>
          <p:cNvPr name="Group 9" id="9"/>
          <p:cNvGrpSpPr>
            <a:grpSpLocks noChangeAspect="true"/>
          </p:cNvGrpSpPr>
          <p:nvPr/>
        </p:nvGrpSpPr>
        <p:grpSpPr>
          <a:xfrm rot="0">
            <a:off x="909489" y="1783259"/>
            <a:ext cx="287239" cy="358974"/>
            <a:chOff x="0" y="0"/>
            <a:chExt cx="382985" cy="478632"/>
          </a:xfrm>
        </p:grpSpPr>
        <p:sp>
          <p:nvSpPr>
            <p:cNvPr name="Freeform 10" id="10" descr="preencoded.png"/>
            <p:cNvSpPr/>
            <p:nvPr/>
          </p:nvSpPr>
          <p:spPr>
            <a:xfrm flipH="false" flipV="false" rot="0">
              <a:off x="0" y="0"/>
              <a:ext cx="383032" cy="478663"/>
            </a:xfrm>
            <a:custGeom>
              <a:avLst/>
              <a:gdLst/>
              <a:ahLst/>
              <a:cxnLst/>
              <a:rect r="r" b="b" t="t" l="l"/>
              <a:pathLst>
                <a:path h="478663" w="383032">
                  <a:moveTo>
                    <a:pt x="0" y="0"/>
                  </a:moveTo>
                  <a:lnTo>
                    <a:pt x="383032" y="0"/>
                  </a:lnTo>
                  <a:lnTo>
                    <a:pt x="383032" y="478663"/>
                  </a:lnTo>
                  <a:lnTo>
                    <a:pt x="0" y="478663"/>
                  </a:lnTo>
                  <a:lnTo>
                    <a:pt x="0" y="0"/>
                  </a:lnTo>
                  <a:close/>
                </a:path>
              </a:pathLst>
            </a:custGeom>
            <a:blipFill>
              <a:blip r:embed="rId3"/>
              <a:stretch>
                <a:fillRect l="0" t="-677" r="12" b="-670"/>
              </a:stretch>
            </a:blipFill>
          </p:spPr>
        </p:sp>
      </p:grpSp>
      <p:grpSp>
        <p:nvGrpSpPr>
          <p:cNvPr name="Group 11" id="11"/>
          <p:cNvGrpSpPr/>
          <p:nvPr/>
        </p:nvGrpSpPr>
        <p:grpSpPr>
          <a:xfrm rot="0">
            <a:off x="665410" y="2723852"/>
            <a:ext cx="775544" cy="1158479"/>
            <a:chOff x="0" y="0"/>
            <a:chExt cx="1034058" cy="1544638"/>
          </a:xfrm>
        </p:grpSpPr>
        <p:sp>
          <p:nvSpPr>
            <p:cNvPr name="Freeform 12" id="12"/>
            <p:cNvSpPr/>
            <p:nvPr/>
          </p:nvSpPr>
          <p:spPr>
            <a:xfrm flipH="false" flipV="false" rot="0">
              <a:off x="6350" y="6350"/>
              <a:ext cx="1021334" cy="1532001"/>
            </a:xfrm>
            <a:custGeom>
              <a:avLst/>
              <a:gdLst/>
              <a:ahLst/>
              <a:cxnLst/>
              <a:rect r="r" b="b" t="t" l="l"/>
              <a:pathLst>
                <a:path h="1532001" w="1021334">
                  <a:moveTo>
                    <a:pt x="0" y="512826"/>
                  </a:moveTo>
                  <a:cubicBezTo>
                    <a:pt x="0" y="229616"/>
                    <a:pt x="228600" y="0"/>
                    <a:pt x="510667" y="0"/>
                  </a:cubicBezTo>
                  <a:cubicBezTo>
                    <a:pt x="792734" y="0"/>
                    <a:pt x="1021334" y="229616"/>
                    <a:pt x="1021334" y="512826"/>
                  </a:cubicBezTo>
                  <a:lnTo>
                    <a:pt x="1021334" y="1019175"/>
                  </a:lnTo>
                  <a:cubicBezTo>
                    <a:pt x="1021334" y="1302385"/>
                    <a:pt x="792734" y="1532001"/>
                    <a:pt x="510667" y="1532001"/>
                  </a:cubicBezTo>
                  <a:cubicBezTo>
                    <a:pt x="228600" y="1532001"/>
                    <a:pt x="0" y="1302385"/>
                    <a:pt x="0" y="1019175"/>
                  </a:cubicBezTo>
                  <a:close/>
                </a:path>
              </a:pathLst>
            </a:custGeom>
            <a:solidFill>
              <a:srgbClr val="E2F3EF"/>
            </a:solidFill>
          </p:spPr>
        </p:sp>
        <p:sp>
          <p:nvSpPr>
            <p:cNvPr name="Freeform 13" id="13"/>
            <p:cNvSpPr/>
            <p:nvPr/>
          </p:nvSpPr>
          <p:spPr>
            <a:xfrm flipH="false" flipV="false" rot="0">
              <a:off x="0" y="0"/>
              <a:ext cx="1034034" cy="1544701"/>
            </a:xfrm>
            <a:custGeom>
              <a:avLst/>
              <a:gdLst/>
              <a:ahLst/>
              <a:cxnLst/>
              <a:rect r="r" b="b" t="t" l="l"/>
              <a:pathLst>
                <a:path h="1544701" w="1034034">
                  <a:moveTo>
                    <a:pt x="0" y="519176"/>
                  </a:moveTo>
                  <a:cubicBezTo>
                    <a:pt x="0" y="232410"/>
                    <a:pt x="231394" y="0"/>
                    <a:pt x="517017" y="0"/>
                  </a:cubicBezTo>
                  <a:cubicBezTo>
                    <a:pt x="518287" y="0"/>
                    <a:pt x="519430" y="381"/>
                    <a:pt x="520446" y="1016"/>
                  </a:cubicBezTo>
                  <a:lnTo>
                    <a:pt x="517017" y="6350"/>
                  </a:lnTo>
                  <a:lnTo>
                    <a:pt x="517017" y="0"/>
                  </a:lnTo>
                  <a:cubicBezTo>
                    <a:pt x="802640" y="0"/>
                    <a:pt x="1034034" y="232410"/>
                    <a:pt x="1034034" y="519176"/>
                  </a:cubicBezTo>
                  <a:lnTo>
                    <a:pt x="1034034" y="1025525"/>
                  </a:lnTo>
                  <a:lnTo>
                    <a:pt x="1027684" y="1025525"/>
                  </a:lnTo>
                  <a:lnTo>
                    <a:pt x="1034034" y="1025525"/>
                  </a:lnTo>
                  <a:cubicBezTo>
                    <a:pt x="1034034" y="1312164"/>
                    <a:pt x="802640" y="1544701"/>
                    <a:pt x="517017" y="1544701"/>
                  </a:cubicBezTo>
                  <a:lnTo>
                    <a:pt x="517017" y="1538351"/>
                  </a:lnTo>
                  <a:lnTo>
                    <a:pt x="517017" y="1544701"/>
                  </a:lnTo>
                  <a:cubicBezTo>
                    <a:pt x="231394" y="1544701"/>
                    <a:pt x="0" y="1312164"/>
                    <a:pt x="0" y="1025525"/>
                  </a:cubicBezTo>
                  <a:lnTo>
                    <a:pt x="0" y="519176"/>
                  </a:lnTo>
                  <a:lnTo>
                    <a:pt x="6350" y="519176"/>
                  </a:lnTo>
                  <a:lnTo>
                    <a:pt x="0" y="519176"/>
                  </a:lnTo>
                  <a:moveTo>
                    <a:pt x="12700" y="519176"/>
                  </a:moveTo>
                  <a:lnTo>
                    <a:pt x="12700" y="1025525"/>
                  </a:lnTo>
                  <a:lnTo>
                    <a:pt x="6350" y="1025525"/>
                  </a:lnTo>
                  <a:lnTo>
                    <a:pt x="12700" y="1025525"/>
                  </a:lnTo>
                  <a:cubicBezTo>
                    <a:pt x="12700" y="1305179"/>
                    <a:pt x="238506" y="1532001"/>
                    <a:pt x="517017" y="1532001"/>
                  </a:cubicBezTo>
                  <a:cubicBezTo>
                    <a:pt x="795528" y="1532001"/>
                    <a:pt x="1021334" y="1305306"/>
                    <a:pt x="1021334" y="1025525"/>
                  </a:cubicBezTo>
                  <a:lnTo>
                    <a:pt x="1021334" y="519176"/>
                  </a:lnTo>
                  <a:lnTo>
                    <a:pt x="1027684" y="519176"/>
                  </a:lnTo>
                  <a:lnTo>
                    <a:pt x="1021334" y="519176"/>
                  </a:lnTo>
                  <a:cubicBezTo>
                    <a:pt x="1021334" y="239395"/>
                    <a:pt x="795528" y="12700"/>
                    <a:pt x="517017" y="12700"/>
                  </a:cubicBezTo>
                  <a:cubicBezTo>
                    <a:pt x="515747" y="12700"/>
                    <a:pt x="514604" y="12319"/>
                    <a:pt x="513588" y="11684"/>
                  </a:cubicBezTo>
                  <a:lnTo>
                    <a:pt x="517017" y="6350"/>
                  </a:lnTo>
                  <a:lnTo>
                    <a:pt x="517017" y="12700"/>
                  </a:lnTo>
                  <a:cubicBezTo>
                    <a:pt x="238506" y="12700"/>
                    <a:pt x="12700" y="239395"/>
                    <a:pt x="12700" y="519176"/>
                  </a:cubicBezTo>
                  <a:close/>
                </a:path>
              </a:pathLst>
            </a:custGeom>
            <a:solidFill>
              <a:srgbClr val="BCDBD4"/>
            </a:solidFill>
          </p:spPr>
        </p:sp>
      </p:grpSp>
      <p:grpSp>
        <p:nvGrpSpPr>
          <p:cNvPr name="Group 14" id="14"/>
          <p:cNvGrpSpPr>
            <a:grpSpLocks noChangeAspect="true"/>
          </p:cNvGrpSpPr>
          <p:nvPr/>
        </p:nvGrpSpPr>
        <p:grpSpPr>
          <a:xfrm rot="0">
            <a:off x="909489" y="3123605"/>
            <a:ext cx="287239" cy="358974"/>
            <a:chOff x="0" y="0"/>
            <a:chExt cx="382985" cy="478632"/>
          </a:xfrm>
        </p:grpSpPr>
        <p:sp>
          <p:nvSpPr>
            <p:cNvPr name="Freeform 15" id="15" descr="preencoded.png"/>
            <p:cNvSpPr/>
            <p:nvPr/>
          </p:nvSpPr>
          <p:spPr>
            <a:xfrm flipH="false" flipV="false" rot="0">
              <a:off x="0" y="0"/>
              <a:ext cx="383032" cy="478663"/>
            </a:xfrm>
            <a:custGeom>
              <a:avLst/>
              <a:gdLst/>
              <a:ahLst/>
              <a:cxnLst/>
              <a:rect r="r" b="b" t="t" l="l"/>
              <a:pathLst>
                <a:path h="478663" w="383032">
                  <a:moveTo>
                    <a:pt x="0" y="0"/>
                  </a:moveTo>
                  <a:lnTo>
                    <a:pt x="383032" y="0"/>
                  </a:lnTo>
                  <a:lnTo>
                    <a:pt x="383032" y="478663"/>
                  </a:lnTo>
                  <a:lnTo>
                    <a:pt x="0" y="478663"/>
                  </a:lnTo>
                  <a:lnTo>
                    <a:pt x="0" y="0"/>
                  </a:lnTo>
                  <a:close/>
                </a:path>
              </a:pathLst>
            </a:custGeom>
            <a:blipFill>
              <a:blip r:embed="rId4"/>
              <a:stretch>
                <a:fillRect l="0" t="-677" r="12" b="-670"/>
              </a:stretch>
            </a:blipFill>
          </p:spPr>
        </p:sp>
      </p:grpSp>
      <p:grpSp>
        <p:nvGrpSpPr>
          <p:cNvPr name="Group 16" id="16"/>
          <p:cNvGrpSpPr/>
          <p:nvPr/>
        </p:nvGrpSpPr>
        <p:grpSpPr>
          <a:xfrm rot="0">
            <a:off x="665410" y="4064199"/>
            <a:ext cx="775544" cy="1158479"/>
            <a:chOff x="0" y="0"/>
            <a:chExt cx="1034058" cy="1544638"/>
          </a:xfrm>
        </p:grpSpPr>
        <p:sp>
          <p:nvSpPr>
            <p:cNvPr name="Freeform 17" id="17"/>
            <p:cNvSpPr/>
            <p:nvPr/>
          </p:nvSpPr>
          <p:spPr>
            <a:xfrm flipH="false" flipV="false" rot="0">
              <a:off x="6350" y="6350"/>
              <a:ext cx="1021334" cy="1532001"/>
            </a:xfrm>
            <a:custGeom>
              <a:avLst/>
              <a:gdLst/>
              <a:ahLst/>
              <a:cxnLst/>
              <a:rect r="r" b="b" t="t" l="l"/>
              <a:pathLst>
                <a:path h="1532001" w="1021334">
                  <a:moveTo>
                    <a:pt x="0" y="512826"/>
                  </a:moveTo>
                  <a:cubicBezTo>
                    <a:pt x="0" y="229616"/>
                    <a:pt x="228600" y="0"/>
                    <a:pt x="510667" y="0"/>
                  </a:cubicBezTo>
                  <a:cubicBezTo>
                    <a:pt x="792734" y="0"/>
                    <a:pt x="1021334" y="229616"/>
                    <a:pt x="1021334" y="512826"/>
                  </a:cubicBezTo>
                  <a:lnTo>
                    <a:pt x="1021334" y="1019175"/>
                  </a:lnTo>
                  <a:cubicBezTo>
                    <a:pt x="1021334" y="1302385"/>
                    <a:pt x="792734" y="1532001"/>
                    <a:pt x="510667" y="1532001"/>
                  </a:cubicBezTo>
                  <a:cubicBezTo>
                    <a:pt x="228600" y="1532001"/>
                    <a:pt x="0" y="1302385"/>
                    <a:pt x="0" y="1019175"/>
                  </a:cubicBezTo>
                  <a:close/>
                </a:path>
              </a:pathLst>
            </a:custGeom>
            <a:solidFill>
              <a:srgbClr val="E2F3EF"/>
            </a:solidFill>
          </p:spPr>
        </p:sp>
        <p:sp>
          <p:nvSpPr>
            <p:cNvPr name="Freeform 18" id="18"/>
            <p:cNvSpPr/>
            <p:nvPr/>
          </p:nvSpPr>
          <p:spPr>
            <a:xfrm flipH="false" flipV="false" rot="0">
              <a:off x="0" y="0"/>
              <a:ext cx="1034034" cy="1544701"/>
            </a:xfrm>
            <a:custGeom>
              <a:avLst/>
              <a:gdLst/>
              <a:ahLst/>
              <a:cxnLst/>
              <a:rect r="r" b="b" t="t" l="l"/>
              <a:pathLst>
                <a:path h="1544701" w="1034034">
                  <a:moveTo>
                    <a:pt x="0" y="519176"/>
                  </a:moveTo>
                  <a:cubicBezTo>
                    <a:pt x="0" y="232410"/>
                    <a:pt x="231394" y="0"/>
                    <a:pt x="517017" y="0"/>
                  </a:cubicBezTo>
                  <a:cubicBezTo>
                    <a:pt x="518287" y="0"/>
                    <a:pt x="519430" y="381"/>
                    <a:pt x="520446" y="1016"/>
                  </a:cubicBezTo>
                  <a:lnTo>
                    <a:pt x="517017" y="6350"/>
                  </a:lnTo>
                  <a:lnTo>
                    <a:pt x="517017" y="0"/>
                  </a:lnTo>
                  <a:cubicBezTo>
                    <a:pt x="802640" y="0"/>
                    <a:pt x="1034034" y="232410"/>
                    <a:pt x="1034034" y="519176"/>
                  </a:cubicBezTo>
                  <a:lnTo>
                    <a:pt x="1034034" y="1025525"/>
                  </a:lnTo>
                  <a:lnTo>
                    <a:pt x="1027684" y="1025525"/>
                  </a:lnTo>
                  <a:lnTo>
                    <a:pt x="1034034" y="1025525"/>
                  </a:lnTo>
                  <a:cubicBezTo>
                    <a:pt x="1034034" y="1312164"/>
                    <a:pt x="802640" y="1544701"/>
                    <a:pt x="517017" y="1544701"/>
                  </a:cubicBezTo>
                  <a:lnTo>
                    <a:pt x="517017" y="1538351"/>
                  </a:lnTo>
                  <a:lnTo>
                    <a:pt x="517017" y="1544701"/>
                  </a:lnTo>
                  <a:cubicBezTo>
                    <a:pt x="231394" y="1544701"/>
                    <a:pt x="0" y="1312164"/>
                    <a:pt x="0" y="1025525"/>
                  </a:cubicBezTo>
                  <a:lnTo>
                    <a:pt x="0" y="519176"/>
                  </a:lnTo>
                  <a:lnTo>
                    <a:pt x="6350" y="519176"/>
                  </a:lnTo>
                  <a:lnTo>
                    <a:pt x="0" y="519176"/>
                  </a:lnTo>
                  <a:moveTo>
                    <a:pt x="12700" y="519176"/>
                  </a:moveTo>
                  <a:lnTo>
                    <a:pt x="12700" y="1025525"/>
                  </a:lnTo>
                  <a:lnTo>
                    <a:pt x="6350" y="1025525"/>
                  </a:lnTo>
                  <a:lnTo>
                    <a:pt x="12700" y="1025525"/>
                  </a:lnTo>
                  <a:cubicBezTo>
                    <a:pt x="12700" y="1305179"/>
                    <a:pt x="238506" y="1532001"/>
                    <a:pt x="517017" y="1532001"/>
                  </a:cubicBezTo>
                  <a:cubicBezTo>
                    <a:pt x="795528" y="1532001"/>
                    <a:pt x="1021334" y="1305306"/>
                    <a:pt x="1021334" y="1025525"/>
                  </a:cubicBezTo>
                  <a:lnTo>
                    <a:pt x="1021334" y="519176"/>
                  </a:lnTo>
                  <a:lnTo>
                    <a:pt x="1027684" y="519176"/>
                  </a:lnTo>
                  <a:lnTo>
                    <a:pt x="1021334" y="519176"/>
                  </a:lnTo>
                  <a:cubicBezTo>
                    <a:pt x="1021334" y="239395"/>
                    <a:pt x="795528" y="12700"/>
                    <a:pt x="517017" y="12700"/>
                  </a:cubicBezTo>
                  <a:cubicBezTo>
                    <a:pt x="515747" y="12700"/>
                    <a:pt x="514604" y="12319"/>
                    <a:pt x="513588" y="11684"/>
                  </a:cubicBezTo>
                  <a:lnTo>
                    <a:pt x="517017" y="6350"/>
                  </a:lnTo>
                  <a:lnTo>
                    <a:pt x="517017" y="12700"/>
                  </a:lnTo>
                  <a:cubicBezTo>
                    <a:pt x="238506" y="12700"/>
                    <a:pt x="12700" y="239395"/>
                    <a:pt x="12700" y="519176"/>
                  </a:cubicBezTo>
                  <a:close/>
                </a:path>
              </a:pathLst>
            </a:custGeom>
            <a:solidFill>
              <a:srgbClr val="BCDBD4"/>
            </a:solidFill>
          </p:spPr>
        </p:sp>
      </p:grpSp>
      <p:grpSp>
        <p:nvGrpSpPr>
          <p:cNvPr name="Group 19" id="19"/>
          <p:cNvGrpSpPr>
            <a:grpSpLocks noChangeAspect="true"/>
          </p:cNvGrpSpPr>
          <p:nvPr/>
        </p:nvGrpSpPr>
        <p:grpSpPr>
          <a:xfrm rot="0">
            <a:off x="909489" y="4463951"/>
            <a:ext cx="287239" cy="358974"/>
            <a:chOff x="0" y="0"/>
            <a:chExt cx="382985" cy="478632"/>
          </a:xfrm>
        </p:grpSpPr>
        <p:sp>
          <p:nvSpPr>
            <p:cNvPr name="Freeform 20" id="20" descr="preencoded.png"/>
            <p:cNvSpPr/>
            <p:nvPr/>
          </p:nvSpPr>
          <p:spPr>
            <a:xfrm flipH="false" flipV="false" rot="0">
              <a:off x="0" y="0"/>
              <a:ext cx="383032" cy="478663"/>
            </a:xfrm>
            <a:custGeom>
              <a:avLst/>
              <a:gdLst/>
              <a:ahLst/>
              <a:cxnLst/>
              <a:rect r="r" b="b" t="t" l="l"/>
              <a:pathLst>
                <a:path h="478663" w="383032">
                  <a:moveTo>
                    <a:pt x="0" y="0"/>
                  </a:moveTo>
                  <a:lnTo>
                    <a:pt x="383032" y="0"/>
                  </a:lnTo>
                  <a:lnTo>
                    <a:pt x="383032" y="478663"/>
                  </a:lnTo>
                  <a:lnTo>
                    <a:pt x="0" y="478663"/>
                  </a:lnTo>
                  <a:lnTo>
                    <a:pt x="0" y="0"/>
                  </a:lnTo>
                  <a:close/>
                </a:path>
              </a:pathLst>
            </a:custGeom>
            <a:blipFill>
              <a:blip r:embed="rId5"/>
              <a:stretch>
                <a:fillRect l="0" t="-677" r="12" b="-670"/>
              </a:stretch>
            </a:blipFill>
          </p:spPr>
        </p:sp>
      </p:grpSp>
      <p:grpSp>
        <p:nvGrpSpPr>
          <p:cNvPr name="Group 21" id="21"/>
          <p:cNvGrpSpPr/>
          <p:nvPr/>
        </p:nvGrpSpPr>
        <p:grpSpPr>
          <a:xfrm rot="0">
            <a:off x="665410" y="5404545"/>
            <a:ext cx="775544" cy="1158479"/>
            <a:chOff x="0" y="0"/>
            <a:chExt cx="1034058" cy="1544638"/>
          </a:xfrm>
        </p:grpSpPr>
        <p:sp>
          <p:nvSpPr>
            <p:cNvPr name="Freeform 22" id="22"/>
            <p:cNvSpPr/>
            <p:nvPr/>
          </p:nvSpPr>
          <p:spPr>
            <a:xfrm flipH="false" flipV="false" rot="0">
              <a:off x="6350" y="6350"/>
              <a:ext cx="1021334" cy="1532001"/>
            </a:xfrm>
            <a:custGeom>
              <a:avLst/>
              <a:gdLst/>
              <a:ahLst/>
              <a:cxnLst/>
              <a:rect r="r" b="b" t="t" l="l"/>
              <a:pathLst>
                <a:path h="1532001" w="1021334">
                  <a:moveTo>
                    <a:pt x="0" y="512826"/>
                  </a:moveTo>
                  <a:cubicBezTo>
                    <a:pt x="0" y="229616"/>
                    <a:pt x="228600" y="0"/>
                    <a:pt x="510667" y="0"/>
                  </a:cubicBezTo>
                  <a:cubicBezTo>
                    <a:pt x="792734" y="0"/>
                    <a:pt x="1021334" y="229616"/>
                    <a:pt x="1021334" y="512826"/>
                  </a:cubicBezTo>
                  <a:lnTo>
                    <a:pt x="1021334" y="1019175"/>
                  </a:lnTo>
                  <a:cubicBezTo>
                    <a:pt x="1021334" y="1302385"/>
                    <a:pt x="792734" y="1532001"/>
                    <a:pt x="510667" y="1532001"/>
                  </a:cubicBezTo>
                  <a:cubicBezTo>
                    <a:pt x="228600" y="1532001"/>
                    <a:pt x="0" y="1302385"/>
                    <a:pt x="0" y="1019175"/>
                  </a:cubicBezTo>
                  <a:close/>
                </a:path>
              </a:pathLst>
            </a:custGeom>
            <a:solidFill>
              <a:srgbClr val="E2F3EF"/>
            </a:solidFill>
          </p:spPr>
        </p:sp>
        <p:sp>
          <p:nvSpPr>
            <p:cNvPr name="Freeform 23" id="23"/>
            <p:cNvSpPr/>
            <p:nvPr/>
          </p:nvSpPr>
          <p:spPr>
            <a:xfrm flipH="false" flipV="false" rot="0">
              <a:off x="0" y="0"/>
              <a:ext cx="1034034" cy="1544701"/>
            </a:xfrm>
            <a:custGeom>
              <a:avLst/>
              <a:gdLst/>
              <a:ahLst/>
              <a:cxnLst/>
              <a:rect r="r" b="b" t="t" l="l"/>
              <a:pathLst>
                <a:path h="1544701" w="1034034">
                  <a:moveTo>
                    <a:pt x="0" y="519176"/>
                  </a:moveTo>
                  <a:cubicBezTo>
                    <a:pt x="0" y="232410"/>
                    <a:pt x="231394" y="0"/>
                    <a:pt x="517017" y="0"/>
                  </a:cubicBezTo>
                  <a:cubicBezTo>
                    <a:pt x="518287" y="0"/>
                    <a:pt x="519430" y="381"/>
                    <a:pt x="520446" y="1016"/>
                  </a:cubicBezTo>
                  <a:lnTo>
                    <a:pt x="517017" y="6350"/>
                  </a:lnTo>
                  <a:lnTo>
                    <a:pt x="517017" y="0"/>
                  </a:lnTo>
                  <a:cubicBezTo>
                    <a:pt x="802640" y="0"/>
                    <a:pt x="1034034" y="232410"/>
                    <a:pt x="1034034" y="519176"/>
                  </a:cubicBezTo>
                  <a:lnTo>
                    <a:pt x="1034034" y="1025525"/>
                  </a:lnTo>
                  <a:lnTo>
                    <a:pt x="1027684" y="1025525"/>
                  </a:lnTo>
                  <a:lnTo>
                    <a:pt x="1034034" y="1025525"/>
                  </a:lnTo>
                  <a:cubicBezTo>
                    <a:pt x="1034034" y="1312164"/>
                    <a:pt x="802640" y="1544701"/>
                    <a:pt x="517017" y="1544701"/>
                  </a:cubicBezTo>
                  <a:lnTo>
                    <a:pt x="517017" y="1538351"/>
                  </a:lnTo>
                  <a:lnTo>
                    <a:pt x="517017" y="1544701"/>
                  </a:lnTo>
                  <a:cubicBezTo>
                    <a:pt x="231394" y="1544701"/>
                    <a:pt x="0" y="1312164"/>
                    <a:pt x="0" y="1025525"/>
                  </a:cubicBezTo>
                  <a:lnTo>
                    <a:pt x="0" y="519176"/>
                  </a:lnTo>
                  <a:lnTo>
                    <a:pt x="6350" y="519176"/>
                  </a:lnTo>
                  <a:lnTo>
                    <a:pt x="0" y="519176"/>
                  </a:lnTo>
                  <a:moveTo>
                    <a:pt x="12700" y="519176"/>
                  </a:moveTo>
                  <a:lnTo>
                    <a:pt x="12700" y="1025525"/>
                  </a:lnTo>
                  <a:lnTo>
                    <a:pt x="6350" y="1025525"/>
                  </a:lnTo>
                  <a:lnTo>
                    <a:pt x="12700" y="1025525"/>
                  </a:lnTo>
                  <a:cubicBezTo>
                    <a:pt x="12700" y="1305179"/>
                    <a:pt x="238506" y="1532001"/>
                    <a:pt x="517017" y="1532001"/>
                  </a:cubicBezTo>
                  <a:cubicBezTo>
                    <a:pt x="795528" y="1532001"/>
                    <a:pt x="1021334" y="1305306"/>
                    <a:pt x="1021334" y="1025525"/>
                  </a:cubicBezTo>
                  <a:lnTo>
                    <a:pt x="1021334" y="519176"/>
                  </a:lnTo>
                  <a:lnTo>
                    <a:pt x="1027684" y="519176"/>
                  </a:lnTo>
                  <a:lnTo>
                    <a:pt x="1021334" y="519176"/>
                  </a:lnTo>
                  <a:cubicBezTo>
                    <a:pt x="1021334" y="239395"/>
                    <a:pt x="795528" y="12700"/>
                    <a:pt x="517017" y="12700"/>
                  </a:cubicBezTo>
                  <a:cubicBezTo>
                    <a:pt x="515747" y="12700"/>
                    <a:pt x="514604" y="12319"/>
                    <a:pt x="513588" y="11684"/>
                  </a:cubicBezTo>
                  <a:lnTo>
                    <a:pt x="517017" y="6350"/>
                  </a:lnTo>
                  <a:lnTo>
                    <a:pt x="517017" y="12700"/>
                  </a:lnTo>
                  <a:cubicBezTo>
                    <a:pt x="238506" y="12700"/>
                    <a:pt x="12700" y="239395"/>
                    <a:pt x="12700" y="519176"/>
                  </a:cubicBezTo>
                  <a:close/>
                </a:path>
              </a:pathLst>
            </a:custGeom>
            <a:solidFill>
              <a:srgbClr val="BCDBD4"/>
            </a:solidFill>
          </p:spPr>
        </p:sp>
      </p:grpSp>
      <p:grpSp>
        <p:nvGrpSpPr>
          <p:cNvPr name="Group 24" id="24"/>
          <p:cNvGrpSpPr>
            <a:grpSpLocks noChangeAspect="true"/>
          </p:cNvGrpSpPr>
          <p:nvPr/>
        </p:nvGrpSpPr>
        <p:grpSpPr>
          <a:xfrm rot="0">
            <a:off x="909489" y="5804298"/>
            <a:ext cx="287239" cy="358974"/>
            <a:chOff x="0" y="0"/>
            <a:chExt cx="382985" cy="478632"/>
          </a:xfrm>
        </p:grpSpPr>
        <p:sp>
          <p:nvSpPr>
            <p:cNvPr name="Freeform 25" id="25" descr="preencoded.png"/>
            <p:cNvSpPr/>
            <p:nvPr/>
          </p:nvSpPr>
          <p:spPr>
            <a:xfrm flipH="false" flipV="false" rot="0">
              <a:off x="0" y="0"/>
              <a:ext cx="383032" cy="478663"/>
            </a:xfrm>
            <a:custGeom>
              <a:avLst/>
              <a:gdLst/>
              <a:ahLst/>
              <a:cxnLst/>
              <a:rect r="r" b="b" t="t" l="l"/>
              <a:pathLst>
                <a:path h="478663" w="383032">
                  <a:moveTo>
                    <a:pt x="0" y="0"/>
                  </a:moveTo>
                  <a:lnTo>
                    <a:pt x="383032" y="0"/>
                  </a:lnTo>
                  <a:lnTo>
                    <a:pt x="383032" y="478663"/>
                  </a:lnTo>
                  <a:lnTo>
                    <a:pt x="0" y="478663"/>
                  </a:lnTo>
                  <a:lnTo>
                    <a:pt x="0" y="0"/>
                  </a:lnTo>
                  <a:close/>
                </a:path>
              </a:pathLst>
            </a:custGeom>
            <a:blipFill>
              <a:blip r:embed="rId6"/>
              <a:stretch>
                <a:fillRect l="0" t="-677" r="12" b="-670"/>
              </a:stretch>
            </a:blipFill>
          </p:spPr>
        </p:sp>
      </p:grpSp>
      <p:grpSp>
        <p:nvGrpSpPr>
          <p:cNvPr name="Group 26" id="26"/>
          <p:cNvGrpSpPr/>
          <p:nvPr/>
        </p:nvGrpSpPr>
        <p:grpSpPr>
          <a:xfrm rot="0">
            <a:off x="665410" y="6744891"/>
            <a:ext cx="775544" cy="1158479"/>
            <a:chOff x="0" y="0"/>
            <a:chExt cx="1034058" cy="1544638"/>
          </a:xfrm>
        </p:grpSpPr>
        <p:sp>
          <p:nvSpPr>
            <p:cNvPr name="Freeform 27" id="27"/>
            <p:cNvSpPr/>
            <p:nvPr/>
          </p:nvSpPr>
          <p:spPr>
            <a:xfrm flipH="false" flipV="false" rot="0">
              <a:off x="6350" y="6350"/>
              <a:ext cx="1021334" cy="1532001"/>
            </a:xfrm>
            <a:custGeom>
              <a:avLst/>
              <a:gdLst/>
              <a:ahLst/>
              <a:cxnLst/>
              <a:rect r="r" b="b" t="t" l="l"/>
              <a:pathLst>
                <a:path h="1532001" w="1021334">
                  <a:moveTo>
                    <a:pt x="0" y="512826"/>
                  </a:moveTo>
                  <a:cubicBezTo>
                    <a:pt x="0" y="229616"/>
                    <a:pt x="228600" y="0"/>
                    <a:pt x="510667" y="0"/>
                  </a:cubicBezTo>
                  <a:cubicBezTo>
                    <a:pt x="792734" y="0"/>
                    <a:pt x="1021334" y="229616"/>
                    <a:pt x="1021334" y="512826"/>
                  </a:cubicBezTo>
                  <a:lnTo>
                    <a:pt x="1021334" y="1019175"/>
                  </a:lnTo>
                  <a:cubicBezTo>
                    <a:pt x="1021334" y="1302385"/>
                    <a:pt x="792734" y="1532001"/>
                    <a:pt x="510667" y="1532001"/>
                  </a:cubicBezTo>
                  <a:cubicBezTo>
                    <a:pt x="228600" y="1532001"/>
                    <a:pt x="0" y="1302385"/>
                    <a:pt x="0" y="1019175"/>
                  </a:cubicBezTo>
                  <a:close/>
                </a:path>
              </a:pathLst>
            </a:custGeom>
            <a:solidFill>
              <a:srgbClr val="E2F3EF"/>
            </a:solidFill>
          </p:spPr>
        </p:sp>
        <p:sp>
          <p:nvSpPr>
            <p:cNvPr name="Freeform 28" id="28"/>
            <p:cNvSpPr/>
            <p:nvPr/>
          </p:nvSpPr>
          <p:spPr>
            <a:xfrm flipH="false" flipV="false" rot="0">
              <a:off x="0" y="0"/>
              <a:ext cx="1034034" cy="1544701"/>
            </a:xfrm>
            <a:custGeom>
              <a:avLst/>
              <a:gdLst/>
              <a:ahLst/>
              <a:cxnLst/>
              <a:rect r="r" b="b" t="t" l="l"/>
              <a:pathLst>
                <a:path h="1544701" w="1034034">
                  <a:moveTo>
                    <a:pt x="0" y="519176"/>
                  </a:moveTo>
                  <a:cubicBezTo>
                    <a:pt x="0" y="232410"/>
                    <a:pt x="231394" y="0"/>
                    <a:pt x="517017" y="0"/>
                  </a:cubicBezTo>
                  <a:cubicBezTo>
                    <a:pt x="518287" y="0"/>
                    <a:pt x="519430" y="381"/>
                    <a:pt x="520446" y="1016"/>
                  </a:cubicBezTo>
                  <a:lnTo>
                    <a:pt x="517017" y="6350"/>
                  </a:lnTo>
                  <a:lnTo>
                    <a:pt x="517017" y="0"/>
                  </a:lnTo>
                  <a:cubicBezTo>
                    <a:pt x="802640" y="0"/>
                    <a:pt x="1034034" y="232410"/>
                    <a:pt x="1034034" y="519176"/>
                  </a:cubicBezTo>
                  <a:lnTo>
                    <a:pt x="1034034" y="1025525"/>
                  </a:lnTo>
                  <a:lnTo>
                    <a:pt x="1027684" y="1025525"/>
                  </a:lnTo>
                  <a:lnTo>
                    <a:pt x="1034034" y="1025525"/>
                  </a:lnTo>
                  <a:cubicBezTo>
                    <a:pt x="1034034" y="1312164"/>
                    <a:pt x="802640" y="1544701"/>
                    <a:pt x="517017" y="1544701"/>
                  </a:cubicBezTo>
                  <a:lnTo>
                    <a:pt x="517017" y="1538351"/>
                  </a:lnTo>
                  <a:lnTo>
                    <a:pt x="517017" y="1544701"/>
                  </a:lnTo>
                  <a:cubicBezTo>
                    <a:pt x="231394" y="1544701"/>
                    <a:pt x="0" y="1312164"/>
                    <a:pt x="0" y="1025525"/>
                  </a:cubicBezTo>
                  <a:lnTo>
                    <a:pt x="0" y="519176"/>
                  </a:lnTo>
                  <a:lnTo>
                    <a:pt x="6350" y="519176"/>
                  </a:lnTo>
                  <a:lnTo>
                    <a:pt x="0" y="519176"/>
                  </a:lnTo>
                  <a:moveTo>
                    <a:pt x="12700" y="519176"/>
                  </a:moveTo>
                  <a:lnTo>
                    <a:pt x="12700" y="1025525"/>
                  </a:lnTo>
                  <a:lnTo>
                    <a:pt x="6350" y="1025525"/>
                  </a:lnTo>
                  <a:lnTo>
                    <a:pt x="12700" y="1025525"/>
                  </a:lnTo>
                  <a:cubicBezTo>
                    <a:pt x="12700" y="1305179"/>
                    <a:pt x="238506" y="1532001"/>
                    <a:pt x="517017" y="1532001"/>
                  </a:cubicBezTo>
                  <a:cubicBezTo>
                    <a:pt x="795528" y="1532001"/>
                    <a:pt x="1021334" y="1305306"/>
                    <a:pt x="1021334" y="1025525"/>
                  </a:cubicBezTo>
                  <a:lnTo>
                    <a:pt x="1021334" y="519176"/>
                  </a:lnTo>
                  <a:lnTo>
                    <a:pt x="1027684" y="519176"/>
                  </a:lnTo>
                  <a:lnTo>
                    <a:pt x="1021334" y="519176"/>
                  </a:lnTo>
                  <a:cubicBezTo>
                    <a:pt x="1021334" y="239395"/>
                    <a:pt x="795528" y="12700"/>
                    <a:pt x="517017" y="12700"/>
                  </a:cubicBezTo>
                  <a:cubicBezTo>
                    <a:pt x="515747" y="12700"/>
                    <a:pt x="514604" y="12319"/>
                    <a:pt x="513588" y="11684"/>
                  </a:cubicBezTo>
                  <a:lnTo>
                    <a:pt x="517017" y="6350"/>
                  </a:lnTo>
                  <a:lnTo>
                    <a:pt x="517017" y="12700"/>
                  </a:lnTo>
                  <a:cubicBezTo>
                    <a:pt x="238506" y="12700"/>
                    <a:pt x="12700" y="239395"/>
                    <a:pt x="12700" y="519176"/>
                  </a:cubicBezTo>
                  <a:close/>
                </a:path>
              </a:pathLst>
            </a:custGeom>
            <a:solidFill>
              <a:srgbClr val="BCDBD4"/>
            </a:solidFill>
          </p:spPr>
        </p:sp>
      </p:grpSp>
      <p:grpSp>
        <p:nvGrpSpPr>
          <p:cNvPr name="Group 29" id="29"/>
          <p:cNvGrpSpPr>
            <a:grpSpLocks noChangeAspect="true"/>
          </p:cNvGrpSpPr>
          <p:nvPr/>
        </p:nvGrpSpPr>
        <p:grpSpPr>
          <a:xfrm rot="0">
            <a:off x="909489" y="7144642"/>
            <a:ext cx="287239" cy="358974"/>
            <a:chOff x="0" y="0"/>
            <a:chExt cx="382985" cy="478632"/>
          </a:xfrm>
        </p:grpSpPr>
        <p:sp>
          <p:nvSpPr>
            <p:cNvPr name="Freeform 30" id="30" descr="preencoded.png"/>
            <p:cNvSpPr/>
            <p:nvPr/>
          </p:nvSpPr>
          <p:spPr>
            <a:xfrm flipH="false" flipV="false" rot="0">
              <a:off x="0" y="0"/>
              <a:ext cx="383032" cy="478663"/>
            </a:xfrm>
            <a:custGeom>
              <a:avLst/>
              <a:gdLst/>
              <a:ahLst/>
              <a:cxnLst/>
              <a:rect r="r" b="b" t="t" l="l"/>
              <a:pathLst>
                <a:path h="478663" w="383032">
                  <a:moveTo>
                    <a:pt x="0" y="0"/>
                  </a:moveTo>
                  <a:lnTo>
                    <a:pt x="383032" y="0"/>
                  </a:lnTo>
                  <a:lnTo>
                    <a:pt x="383032" y="478663"/>
                  </a:lnTo>
                  <a:lnTo>
                    <a:pt x="0" y="478663"/>
                  </a:lnTo>
                  <a:lnTo>
                    <a:pt x="0" y="0"/>
                  </a:lnTo>
                  <a:close/>
                </a:path>
              </a:pathLst>
            </a:custGeom>
            <a:blipFill>
              <a:blip r:embed="rId7"/>
              <a:stretch>
                <a:fillRect l="0" t="-677" r="12" b="-670"/>
              </a:stretch>
            </a:blipFill>
          </p:spPr>
        </p:sp>
      </p:grpSp>
      <p:grpSp>
        <p:nvGrpSpPr>
          <p:cNvPr name="Group 31" id="31"/>
          <p:cNvGrpSpPr/>
          <p:nvPr/>
        </p:nvGrpSpPr>
        <p:grpSpPr>
          <a:xfrm rot="0">
            <a:off x="665410" y="8085236"/>
            <a:ext cx="775544" cy="1158479"/>
            <a:chOff x="0" y="0"/>
            <a:chExt cx="1034058" cy="1544638"/>
          </a:xfrm>
        </p:grpSpPr>
        <p:sp>
          <p:nvSpPr>
            <p:cNvPr name="Freeform 32" id="32"/>
            <p:cNvSpPr/>
            <p:nvPr/>
          </p:nvSpPr>
          <p:spPr>
            <a:xfrm flipH="false" flipV="false" rot="0">
              <a:off x="6350" y="6350"/>
              <a:ext cx="1021334" cy="1532001"/>
            </a:xfrm>
            <a:custGeom>
              <a:avLst/>
              <a:gdLst/>
              <a:ahLst/>
              <a:cxnLst/>
              <a:rect r="r" b="b" t="t" l="l"/>
              <a:pathLst>
                <a:path h="1532001" w="1021334">
                  <a:moveTo>
                    <a:pt x="0" y="512826"/>
                  </a:moveTo>
                  <a:cubicBezTo>
                    <a:pt x="0" y="229616"/>
                    <a:pt x="228600" y="0"/>
                    <a:pt x="510667" y="0"/>
                  </a:cubicBezTo>
                  <a:cubicBezTo>
                    <a:pt x="792734" y="0"/>
                    <a:pt x="1021334" y="229616"/>
                    <a:pt x="1021334" y="512826"/>
                  </a:cubicBezTo>
                  <a:lnTo>
                    <a:pt x="1021334" y="1019175"/>
                  </a:lnTo>
                  <a:cubicBezTo>
                    <a:pt x="1021334" y="1302385"/>
                    <a:pt x="792734" y="1532001"/>
                    <a:pt x="510667" y="1532001"/>
                  </a:cubicBezTo>
                  <a:cubicBezTo>
                    <a:pt x="228600" y="1532001"/>
                    <a:pt x="0" y="1302385"/>
                    <a:pt x="0" y="1019175"/>
                  </a:cubicBezTo>
                  <a:close/>
                </a:path>
              </a:pathLst>
            </a:custGeom>
            <a:solidFill>
              <a:srgbClr val="E2F3EF"/>
            </a:solidFill>
          </p:spPr>
        </p:sp>
        <p:sp>
          <p:nvSpPr>
            <p:cNvPr name="Freeform 33" id="33"/>
            <p:cNvSpPr/>
            <p:nvPr/>
          </p:nvSpPr>
          <p:spPr>
            <a:xfrm flipH="false" flipV="false" rot="0">
              <a:off x="0" y="0"/>
              <a:ext cx="1034034" cy="1544701"/>
            </a:xfrm>
            <a:custGeom>
              <a:avLst/>
              <a:gdLst/>
              <a:ahLst/>
              <a:cxnLst/>
              <a:rect r="r" b="b" t="t" l="l"/>
              <a:pathLst>
                <a:path h="1544701" w="1034034">
                  <a:moveTo>
                    <a:pt x="0" y="519176"/>
                  </a:moveTo>
                  <a:cubicBezTo>
                    <a:pt x="0" y="232410"/>
                    <a:pt x="231394" y="0"/>
                    <a:pt x="517017" y="0"/>
                  </a:cubicBezTo>
                  <a:cubicBezTo>
                    <a:pt x="518287" y="0"/>
                    <a:pt x="519430" y="381"/>
                    <a:pt x="520446" y="1016"/>
                  </a:cubicBezTo>
                  <a:lnTo>
                    <a:pt x="517017" y="6350"/>
                  </a:lnTo>
                  <a:lnTo>
                    <a:pt x="517017" y="0"/>
                  </a:lnTo>
                  <a:cubicBezTo>
                    <a:pt x="802640" y="0"/>
                    <a:pt x="1034034" y="232410"/>
                    <a:pt x="1034034" y="519176"/>
                  </a:cubicBezTo>
                  <a:lnTo>
                    <a:pt x="1034034" y="1025525"/>
                  </a:lnTo>
                  <a:lnTo>
                    <a:pt x="1027684" y="1025525"/>
                  </a:lnTo>
                  <a:lnTo>
                    <a:pt x="1034034" y="1025525"/>
                  </a:lnTo>
                  <a:cubicBezTo>
                    <a:pt x="1034034" y="1312164"/>
                    <a:pt x="802640" y="1544701"/>
                    <a:pt x="517017" y="1544701"/>
                  </a:cubicBezTo>
                  <a:lnTo>
                    <a:pt x="517017" y="1538351"/>
                  </a:lnTo>
                  <a:lnTo>
                    <a:pt x="517017" y="1544701"/>
                  </a:lnTo>
                  <a:cubicBezTo>
                    <a:pt x="231394" y="1544701"/>
                    <a:pt x="0" y="1312164"/>
                    <a:pt x="0" y="1025525"/>
                  </a:cubicBezTo>
                  <a:lnTo>
                    <a:pt x="0" y="519176"/>
                  </a:lnTo>
                  <a:lnTo>
                    <a:pt x="6350" y="519176"/>
                  </a:lnTo>
                  <a:lnTo>
                    <a:pt x="0" y="519176"/>
                  </a:lnTo>
                  <a:moveTo>
                    <a:pt x="12700" y="519176"/>
                  </a:moveTo>
                  <a:lnTo>
                    <a:pt x="12700" y="1025525"/>
                  </a:lnTo>
                  <a:lnTo>
                    <a:pt x="6350" y="1025525"/>
                  </a:lnTo>
                  <a:lnTo>
                    <a:pt x="12700" y="1025525"/>
                  </a:lnTo>
                  <a:cubicBezTo>
                    <a:pt x="12700" y="1305179"/>
                    <a:pt x="238506" y="1532001"/>
                    <a:pt x="517017" y="1532001"/>
                  </a:cubicBezTo>
                  <a:cubicBezTo>
                    <a:pt x="795528" y="1532001"/>
                    <a:pt x="1021334" y="1305306"/>
                    <a:pt x="1021334" y="1025525"/>
                  </a:cubicBezTo>
                  <a:lnTo>
                    <a:pt x="1021334" y="519176"/>
                  </a:lnTo>
                  <a:lnTo>
                    <a:pt x="1027684" y="519176"/>
                  </a:lnTo>
                  <a:lnTo>
                    <a:pt x="1021334" y="519176"/>
                  </a:lnTo>
                  <a:cubicBezTo>
                    <a:pt x="1021334" y="239395"/>
                    <a:pt x="795528" y="12700"/>
                    <a:pt x="517017" y="12700"/>
                  </a:cubicBezTo>
                  <a:cubicBezTo>
                    <a:pt x="515747" y="12700"/>
                    <a:pt x="514604" y="12319"/>
                    <a:pt x="513588" y="11684"/>
                  </a:cubicBezTo>
                  <a:lnTo>
                    <a:pt x="517017" y="6350"/>
                  </a:lnTo>
                  <a:lnTo>
                    <a:pt x="517017" y="12700"/>
                  </a:lnTo>
                  <a:cubicBezTo>
                    <a:pt x="238506" y="12700"/>
                    <a:pt x="12700" y="239395"/>
                    <a:pt x="12700" y="519176"/>
                  </a:cubicBezTo>
                  <a:close/>
                </a:path>
              </a:pathLst>
            </a:custGeom>
            <a:solidFill>
              <a:srgbClr val="BCDBD4"/>
            </a:solidFill>
          </p:spPr>
        </p:sp>
      </p:grpSp>
      <p:grpSp>
        <p:nvGrpSpPr>
          <p:cNvPr name="Group 34" id="34"/>
          <p:cNvGrpSpPr>
            <a:grpSpLocks noChangeAspect="true"/>
          </p:cNvGrpSpPr>
          <p:nvPr/>
        </p:nvGrpSpPr>
        <p:grpSpPr>
          <a:xfrm rot="0">
            <a:off x="909489" y="8484989"/>
            <a:ext cx="287239" cy="358974"/>
            <a:chOff x="0" y="0"/>
            <a:chExt cx="382985" cy="478632"/>
          </a:xfrm>
        </p:grpSpPr>
        <p:sp>
          <p:nvSpPr>
            <p:cNvPr name="Freeform 35" id="35" descr="preencoded.png"/>
            <p:cNvSpPr/>
            <p:nvPr/>
          </p:nvSpPr>
          <p:spPr>
            <a:xfrm flipH="false" flipV="false" rot="0">
              <a:off x="0" y="0"/>
              <a:ext cx="383032" cy="478663"/>
            </a:xfrm>
            <a:custGeom>
              <a:avLst/>
              <a:gdLst/>
              <a:ahLst/>
              <a:cxnLst/>
              <a:rect r="r" b="b" t="t" l="l"/>
              <a:pathLst>
                <a:path h="478663" w="383032">
                  <a:moveTo>
                    <a:pt x="0" y="0"/>
                  </a:moveTo>
                  <a:lnTo>
                    <a:pt x="383032" y="0"/>
                  </a:lnTo>
                  <a:lnTo>
                    <a:pt x="383032" y="478663"/>
                  </a:lnTo>
                  <a:lnTo>
                    <a:pt x="0" y="478663"/>
                  </a:lnTo>
                  <a:lnTo>
                    <a:pt x="0" y="0"/>
                  </a:lnTo>
                  <a:close/>
                </a:path>
              </a:pathLst>
            </a:custGeom>
            <a:blipFill>
              <a:blip r:embed="rId8"/>
              <a:stretch>
                <a:fillRect l="0" t="-677" r="12" b="-670"/>
              </a:stretch>
            </a:blipFill>
          </p:spPr>
        </p:sp>
      </p:grpSp>
      <p:sp>
        <p:nvSpPr>
          <p:cNvPr name="Freeform 36" id="36"/>
          <p:cNvSpPr/>
          <p:nvPr/>
        </p:nvSpPr>
        <p:spPr>
          <a:xfrm flipH="false" flipV="false" rot="0">
            <a:off x="9845671" y="0"/>
            <a:ext cx="8442329" cy="10287000"/>
          </a:xfrm>
          <a:custGeom>
            <a:avLst/>
            <a:gdLst/>
            <a:ahLst/>
            <a:cxnLst/>
            <a:rect r="r" b="b" t="t" l="l"/>
            <a:pathLst>
              <a:path h="10287000" w="8442329">
                <a:moveTo>
                  <a:pt x="0" y="0"/>
                </a:moveTo>
                <a:lnTo>
                  <a:pt x="8442329" y="0"/>
                </a:lnTo>
                <a:lnTo>
                  <a:pt x="8442329" y="10287000"/>
                </a:lnTo>
                <a:lnTo>
                  <a:pt x="0" y="10287000"/>
                </a:lnTo>
                <a:lnTo>
                  <a:pt x="0" y="0"/>
                </a:lnTo>
                <a:close/>
              </a:path>
            </a:pathLst>
          </a:custGeom>
          <a:blipFill>
            <a:blip r:embed="rId9"/>
            <a:stretch>
              <a:fillRect l="-9607" t="0" r="-15751" b="0"/>
            </a:stretch>
          </a:blipFill>
        </p:spPr>
      </p:sp>
      <p:sp>
        <p:nvSpPr>
          <p:cNvPr name="TextBox 37" id="37"/>
          <p:cNvSpPr txBox="true"/>
          <p:nvPr/>
        </p:nvSpPr>
        <p:spPr>
          <a:xfrm rot="0">
            <a:off x="259352" y="460375"/>
            <a:ext cx="10695086" cy="568325"/>
          </a:xfrm>
          <a:prstGeom prst="rect">
            <a:avLst/>
          </a:prstGeom>
        </p:spPr>
        <p:txBody>
          <a:bodyPr anchor="t" rtlCol="false" tIns="0" lIns="0" bIns="0" rIns="0">
            <a:spAutoFit/>
          </a:bodyPr>
          <a:lstStyle/>
          <a:p>
            <a:pPr algn="l">
              <a:lnSpc>
                <a:spcPts val="4374"/>
              </a:lnSpc>
            </a:pPr>
            <a:r>
              <a:rPr lang="en-US" sz="3499" b="true">
                <a:solidFill>
                  <a:srgbClr val="333F70"/>
                </a:solidFill>
                <a:latin typeface="Arimo Bold"/>
                <a:ea typeface="Arimo Bold"/>
                <a:cs typeface="Arimo Bold"/>
                <a:sym typeface="Arimo Bold"/>
              </a:rPr>
              <a:t>Presentation Outline: Navigating Our Project</a:t>
            </a:r>
          </a:p>
        </p:txBody>
      </p:sp>
      <p:sp>
        <p:nvSpPr>
          <p:cNvPr name="TextBox 38" id="38"/>
          <p:cNvSpPr txBox="true"/>
          <p:nvPr/>
        </p:nvSpPr>
        <p:spPr>
          <a:xfrm rot="0">
            <a:off x="1627585" y="1560611"/>
            <a:ext cx="2393751" cy="380471"/>
          </a:xfrm>
          <a:prstGeom prst="rect">
            <a:avLst/>
          </a:prstGeom>
        </p:spPr>
        <p:txBody>
          <a:bodyPr anchor="t" rtlCol="false" tIns="0" lIns="0" bIns="0" rIns="0">
            <a:spAutoFit/>
          </a:bodyPr>
          <a:lstStyle/>
          <a:p>
            <a:pPr algn="l">
              <a:lnSpc>
                <a:spcPts val="2929"/>
              </a:lnSpc>
            </a:pPr>
            <a:r>
              <a:rPr lang="en-US" sz="2374" b="true">
                <a:solidFill>
                  <a:srgbClr val="333F70"/>
                </a:solidFill>
                <a:latin typeface="Arimo Bold"/>
                <a:ea typeface="Arimo Bold"/>
                <a:cs typeface="Arimo Bold"/>
                <a:sym typeface="Arimo Bold"/>
              </a:rPr>
              <a:t>Introduction</a:t>
            </a:r>
          </a:p>
        </p:txBody>
      </p:sp>
      <p:sp>
        <p:nvSpPr>
          <p:cNvPr name="TextBox 39" id="39"/>
          <p:cNvSpPr txBox="true"/>
          <p:nvPr/>
        </p:nvSpPr>
        <p:spPr>
          <a:xfrm rot="0">
            <a:off x="1627585" y="2900957"/>
            <a:ext cx="2660005" cy="380471"/>
          </a:xfrm>
          <a:prstGeom prst="rect">
            <a:avLst/>
          </a:prstGeom>
        </p:spPr>
        <p:txBody>
          <a:bodyPr anchor="t" rtlCol="false" tIns="0" lIns="0" bIns="0" rIns="0">
            <a:spAutoFit/>
          </a:bodyPr>
          <a:lstStyle/>
          <a:p>
            <a:pPr algn="l">
              <a:lnSpc>
                <a:spcPts val="2929"/>
              </a:lnSpc>
            </a:pPr>
            <a:r>
              <a:rPr lang="en-US" sz="2374" b="true">
                <a:solidFill>
                  <a:srgbClr val="333F70"/>
                </a:solidFill>
                <a:latin typeface="Arimo Bold"/>
                <a:ea typeface="Arimo Bold"/>
                <a:cs typeface="Arimo Bold"/>
                <a:sym typeface="Arimo Bold"/>
              </a:rPr>
              <a:t>Literature Review</a:t>
            </a:r>
          </a:p>
        </p:txBody>
      </p:sp>
      <p:sp>
        <p:nvSpPr>
          <p:cNvPr name="TextBox 40" id="40"/>
          <p:cNvSpPr txBox="true"/>
          <p:nvPr/>
        </p:nvSpPr>
        <p:spPr>
          <a:xfrm rot="0">
            <a:off x="1627585" y="4241304"/>
            <a:ext cx="2955429" cy="380471"/>
          </a:xfrm>
          <a:prstGeom prst="rect">
            <a:avLst/>
          </a:prstGeom>
        </p:spPr>
        <p:txBody>
          <a:bodyPr anchor="t" rtlCol="false" tIns="0" lIns="0" bIns="0" rIns="0">
            <a:spAutoFit/>
          </a:bodyPr>
          <a:lstStyle/>
          <a:p>
            <a:pPr algn="l">
              <a:lnSpc>
                <a:spcPts val="2929"/>
              </a:lnSpc>
            </a:pPr>
            <a:r>
              <a:rPr lang="en-US" sz="2374" b="true">
                <a:solidFill>
                  <a:srgbClr val="333F70"/>
                </a:solidFill>
                <a:latin typeface="Arimo Bold"/>
                <a:ea typeface="Arimo Bold"/>
                <a:cs typeface="Arimo Bold"/>
                <a:sym typeface="Arimo Bold"/>
              </a:rPr>
              <a:t>Problem Statement</a:t>
            </a:r>
          </a:p>
        </p:txBody>
      </p:sp>
      <p:sp>
        <p:nvSpPr>
          <p:cNvPr name="TextBox 41" id="41"/>
          <p:cNvSpPr txBox="true"/>
          <p:nvPr/>
        </p:nvSpPr>
        <p:spPr>
          <a:xfrm rot="0">
            <a:off x="1627585" y="5581650"/>
            <a:ext cx="2759422" cy="380471"/>
          </a:xfrm>
          <a:prstGeom prst="rect">
            <a:avLst/>
          </a:prstGeom>
        </p:spPr>
        <p:txBody>
          <a:bodyPr anchor="t" rtlCol="false" tIns="0" lIns="0" bIns="0" rIns="0">
            <a:spAutoFit/>
          </a:bodyPr>
          <a:lstStyle/>
          <a:p>
            <a:pPr algn="l">
              <a:lnSpc>
                <a:spcPts val="2929"/>
              </a:lnSpc>
            </a:pPr>
            <a:r>
              <a:rPr lang="en-US" sz="2374" b="true">
                <a:solidFill>
                  <a:srgbClr val="333F70"/>
                </a:solidFill>
                <a:latin typeface="Arimo Bold"/>
                <a:ea typeface="Arimo Bold"/>
                <a:cs typeface="Arimo Bold"/>
                <a:sym typeface="Arimo Bold"/>
              </a:rPr>
              <a:t>Proposed Solution</a:t>
            </a:r>
          </a:p>
        </p:txBody>
      </p:sp>
      <p:sp>
        <p:nvSpPr>
          <p:cNvPr name="TextBox 42" id="42"/>
          <p:cNvSpPr txBox="true"/>
          <p:nvPr/>
        </p:nvSpPr>
        <p:spPr>
          <a:xfrm rot="0">
            <a:off x="1627585" y="6921996"/>
            <a:ext cx="2393751" cy="380471"/>
          </a:xfrm>
          <a:prstGeom prst="rect">
            <a:avLst/>
          </a:prstGeom>
        </p:spPr>
        <p:txBody>
          <a:bodyPr anchor="t" rtlCol="false" tIns="0" lIns="0" bIns="0" rIns="0">
            <a:spAutoFit/>
          </a:bodyPr>
          <a:lstStyle/>
          <a:p>
            <a:pPr algn="l">
              <a:lnSpc>
                <a:spcPts val="2929"/>
              </a:lnSpc>
            </a:pPr>
            <a:r>
              <a:rPr lang="en-US" sz="2374" b="true">
                <a:solidFill>
                  <a:srgbClr val="333F70"/>
                </a:solidFill>
                <a:latin typeface="Arimo Bold"/>
                <a:ea typeface="Arimo Bold"/>
                <a:cs typeface="Arimo Bold"/>
                <a:sym typeface="Arimo Bold"/>
              </a:rPr>
              <a:t>Objectives</a:t>
            </a:r>
          </a:p>
        </p:txBody>
      </p:sp>
      <p:sp>
        <p:nvSpPr>
          <p:cNvPr name="TextBox 43" id="43"/>
          <p:cNvSpPr txBox="true"/>
          <p:nvPr/>
        </p:nvSpPr>
        <p:spPr>
          <a:xfrm rot="0">
            <a:off x="1627585" y="8262342"/>
            <a:ext cx="2550467" cy="380471"/>
          </a:xfrm>
          <a:prstGeom prst="rect">
            <a:avLst/>
          </a:prstGeom>
        </p:spPr>
        <p:txBody>
          <a:bodyPr anchor="t" rtlCol="false" tIns="0" lIns="0" bIns="0" rIns="0">
            <a:spAutoFit/>
          </a:bodyPr>
          <a:lstStyle/>
          <a:p>
            <a:pPr algn="l">
              <a:lnSpc>
                <a:spcPts val="2929"/>
              </a:lnSpc>
            </a:pPr>
            <a:r>
              <a:rPr lang="en-US" sz="2374" b="true">
                <a:solidFill>
                  <a:srgbClr val="333F70"/>
                </a:solidFill>
                <a:latin typeface="Arimo Bold"/>
                <a:ea typeface="Arimo Bold"/>
                <a:cs typeface="Arimo Bold"/>
                <a:sym typeface="Arimo Bold"/>
              </a:rPr>
              <a:t>Technical Details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2F3EF"/>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E2F3EF"/>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E2F3EF"/>
            </a:solidFill>
          </p:spPr>
        </p:sp>
      </p:grpSp>
      <p:sp>
        <p:nvSpPr>
          <p:cNvPr name="TextBox 6" id="6"/>
          <p:cNvSpPr txBox="true"/>
          <p:nvPr/>
        </p:nvSpPr>
        <p:spPr>
          <a:xfrm rot="0">
            <a:off x="883741" y="837754"/>
            <a:ext cx="15556855" cy="678805"/>
          </a:xfrm>
          <a:prstGeom prst="rect">
            <a:avLst/>
          </a:prstGeom>
        </p:spPr>
        <p:txBody>
          <a:bodyPr anchor="t" rtlCol="false" tIns="0" lIns="0" bIns="0" rIns="0">
            <a:spAutoFit/>
          </a:bodyPr>
          <a:lstStyle/>
          <a:p>
            <a:pPr algn="l">
              <a:lnSpc>
                <a:spcPts val="4937"/>
              </a:lnSpc>
            </a:pPr>
            <a:r>
              <a:rPr lang="en-US" sz="3937" b="true">
                <a:solidFill>
                  <a:srgbClr val="333F70"/>
                </a:solidFill>
                <a:latin typeface="Arimo Bold"/>
                <a:ea typeface="Arimo Bold"/>
                <a:cs typeface="Arimo Bold"/>
                <a:sym typeface="Arimo Bold"/>
              </a:rPr>
              <a:t>Introduction: The Need for Conversational Health</a:t>
            </a:r>
          </a:p>
        </p:txBody>
      </p:sp>
      <p:sp>
        <p:nvSpPr>
          <p:cNvPr name="TextBox 7" id="7"/>
          <p:cNvSpPr txBox="true"/>
          <p:nvPr/>
        </p:nvSpPr>
        <p:spPr>
          <a:xfrm rot="0">
            <a:off x="883741" y="2036861"/>
            <a:ext cx="9665940" cy="1701999"/>
          </a:xfrm>
          <a:prstGeom prst="rect">
            <a:avLst/>
          </a:prstGeom>
        </p:spPr>
        <p:txBody>
          <a:bodyPr anchor="t" rtlCol="false" tIns="0" lIns="0" bIns="0" rIns="0">
            <a:spAutoFit/>
          </a:bodyPr>
          <a:lstStyle/>
          <a:p>
            <a:pPr algn="l">
              <a:lnSpc>
                <a:spcPts val="3125"/>
              </a:lnSpc>
            </a:pPr>
            <a:r>
              <a:rPr lang="en-US" sz="1937">
                <a:solidFill>
                  <a:srgbClr val="333F70"/>
                </a:solidFill>
                <a:latin typeface="Open Sans"/>
                <a:ea typeface="Open Sans"/>
                <a:cs typeface="Open Sans"/>
                <a:sym typeface="Open Sans"/>
              </a:rPr>
              <a:t>The modern patient frequently turns to online sources for health information, leading to potential confusion, misinformation, and unnecessary anxiety. Our project addresses this critical gap by providing a reliable, accessible, and immediate source of preliminary health guidance.</a:t>
            </a:r>
          </a:p>
        </p:txBody>
      </p:sp>
      <p:grpSp>
        <p:nvGrpSpPr>
          <p:cNvPr name="Group 8" id="8"/>
          <p:cNvGrpSpPr/>
          <p:nvPr/>
        </p:nvGrpSpPr>
        <p:grpSpPr>
          <a:xfrm rot="0">
            <a:off x="869454" y="4008536"/>
            <a:ext cx="4735265" cy="2449711"/>
            <a:chOff x="0" y="0"/>
            <a:chExt cx="6313687" cy="3266282"/>
          </a:xfrm>
        </p:grpSpPr>
        <p:sp>
          <p:nvSpPr>
            <p:cNvPr name="Freeform 9" id="9"/>
            <p:cNvSpPr/>
            <p:nvPr/>
          </p:nvSpPr>
          <p:spPr>
            <a:xfrm flipH="false" flipV="false" rot="0">
              <a:off x="19050" y="19050"/>
              <a:ext cx="6275578" cy="3228213"/>
            </a:xfrm>
            <a:custGeom>
              <a:avLst/>
              <a:gdLst/>
              <a:ahLst/>
              <a:cxnLst/>
              <a:rect r="r" b="b" t="t" l="l"/>
              <a:pathLst>
                <a:path h="3228213" w="6275578">
                  <a:moveTo>
                    <a:pt x="0" y="182880"/>
                  </a:moveTo>
                  <a:cubicBezTo>
                    <a:pt x="0" y="81915"/>
                    <a:pt x="82296" y="0"/>
                    <a:pt x="183896" y="0"/>
                  </a:cubicBezTo>
                  <a:lnTo>
                    <a:pt x="6091682" y="0"/>
                  </a:lnTo>
                  <a:cubicBezTo>
                    <a:pt x="6193282" y="0"/>
                    <a:pt x="6275578" y="81915"/>
                    <a:pt x="6275578" y="182880"/>
                  </a:cubicBezTo>
                  <a:lnTo>
                    <a:pt x="6275578" y="3045333"/>
                  </a:lnTo>
                  <a:cubicBezTo>
                    <a:pt x="6275578" y="3146298"/>
                    <a:pt x="6193282" y="3228213"/>
                    <a:pt x="6091682" y="3228213"/>
                  </a:cubicBezTo>
                  <a:lnTo>
                    <a:pt x="183896" y="3228213"/>
                  </a:lnTo>
                  <a:cubicBezTo>
                    <a:pt x="82296" y="3228213"/>
                    <a:pt x="0" y="3146298"/>
                    <a:pt x="0" y="3045333"/>
                  </a:cubicBezTo>
                  <a:close/>
                </a:path>
              </a:pathLst>
            </a:custGeom>
            <a:solidFill>
              <a:srgbClr val="E2F3EF"/>
            </a:solidFill>
          </p:spPr>
        </p:sp>
        <p:sp>
          <p:nvSpPr>
            <p:cNvPr name="Freeform 10" id="10"/>
            <p:cNvSpPr/>
            <p:nvPr/>
          </p:nvSpPr>
          <p:spPr>
            <a:xfrm flipH="false" flipV="false" rot="0">
              <a:off x="0" y="0"/>
              <a:ext cx="6313678" cy="3266313"/>
            </a:xfrm>
            <a:custGeom>
              <a:avLst/>
              <a:gdLst/>
              <a:ahLst/>
              <a:cxnLst/>
              <a:rect r="r" b="b" t="t" l="l"/>
              <a:pathLst>
                <a:path h="3266313" w="6313678">
                  <a:moveTo>
                    <a:pt x="0" y="201930"/>
                  </a:moveTo>
                  <a:cubicBezTo>
                    <a:pt x="0" y="90297"/>
                    <a:pt x="90932" y="0"/>
                    <a:pt x="202946" y="0"/>
                  </a:cubicBezTo>
                  <a:lnTo>
                    <a:pt x="6110732" y="0"/>
                  </a:lnTo>
                  <a:lnTo>
                    <a:pt x="6110732" y="19050"/>
                  </a:lnTo>
                  <a:lnTo>
                    <a:pt x="6110732" y="0"/>
                  </a:lnTo>
                  <a:cubicBezTo>
                    <a:pt x="6222746" y="0"/>
                    <a:pt x="6313678" y="90297"/>
                    <a:pt x="6313678" y="201930"/>
                  </a:cubicBezTo>
                  <a:lnTo>
                    <a:pt x="6294628" y="201930"/>
                  </a:lnTo>
                  <a:lnTo>
                    <a:pt x="6313678" y="201930"/>
                  </a:lnTo>
                  <a:lnTo>
                    <a:pt x="6313678" y="3064383"/>
                  </a:lnTo>
                  <a:lnTo>
                    <a:pt x="6294628" y="3064383"/>
                  </a:lnTo>
                  <a:lnTo>
                    <a:pt x="6313678" y="3064383"/>
                  </a:lnTo>
                  <a:cubicBezTo>
                    <a:pt x="6313678" y="3176016"/>
                    <a:pt x="6222746" y="3266313"/>
                    <a:pt x="6110732" y="3266313"/>
                  </a:cubicBezTo>
                  <a:lnTo>
                    <a:pt x="6110732" y="3247263"/>
                  </a:lnTo>
                  <a:lnTo>
                    <a:pt x="6110732" y="3266313"/>
                  </a:lnTo>
                  <a:lnTo>
                    <a:pt x="202946" y="3266313"/>
                  </a:lnTo>
                  <a:lnTo>
                    <a:pt x="202946" y="3247263"/>
                  </a:lnTo>
                  <a:lnTo>
                    <a:pt x="202946" y="3266313"/>
                  </a:lnTo>
                  <a:cubicBezTo>
                    <a:pt x="90932" y="3266313"/>
                    <a:pt x="0" y="3176016"/>
                    <a:pt x="0" y="3064383"/>
                  </a:cubicBezTo>
                  <a:lnTo>
                    <a:pt x="0" y="201930"/>
                  </a:lnTo>
                  <a:lnTo>
                    <a:pt x="19050" y="201930"/>
                  </a:lnTo>
                  <a:lnTo>
                    <a:pt x="0" y="201930"/>
                  </a:lnTo>
                  <a:moveTo>
                    <a:pt x="38100" y="201930"/>
                  </a:moveTo>
                  <a:lnTo>
                    <a:pt x="38100" y="3064383"/>
                  </a:lnTo>
                  <a:lnTo>
                    <a:pt x="19050" y="3064383"/>
                  </a:lnTo>
                  <a:lnTo>
                    <a:pt x="38100" y="3064383"/>
                  </a:lnTo>
                  <a:cubicBezTo>
                    <a:pt x="38100" y="3154807"/>
                    <a:pt x="111760" y="3228213"/>
                    <a:pt x="202946" y="3228213"/>
                  </a:cubicBezTo>
                  <a:lnTo>
                    <a:pt x="6110732" y="3228213"/>
                  </a:lnTo>
                  <a:cubicBezTo>
                    <a:pt x="6201918" y="3228213"/>
                    <a:pt x="6275578" y="3154807"/>
                    <a:pt x="6275578" y="3064383"/>
                  </a:cubicBezTo>
                  <a:lnTo>
                    <a:pt x="6275578" y="201930"/>
                  </a:lnTo>
                  <a:cubicBezTo>
                    <a:pt x="6275578" y="111506"/>
                    <a:pt x="6201918" y="38100"/>
                    <a:pt x="6110732" y="38100"/>
                  </a:cubicBezTo>
                  <a:lnTo>
                    <a:pt x="202946" y="38100"/>
                  </a:lnTo>
                  <a:lnTo>
                    <a:pt x="202946" y="19050"/>
                  </a:lnTo>
                  <a:lnTo>
                    <a:pt x="202946" y="38100"/>
                  </a:lnTo>
                  <a:cubicBezTo>
                    <a:pt x="111760" y="38100"/>
                    <a:pt x="38100" y="111506"/>
                    <a:pt x="38100" y="201930"/>
                  </a:cubicBezTo>
                  <a:close/>
                </a:path>
              </a:pathLst>
            </a:custGeom>
            <a:solidFill>
              <a:srgbClr val="BCDBD4"/>
            </a:solidFill>
          </p:spPr>
        </p:sp>
      </p:grpSp>
      <p:grpSp>
        <p:nvGrpSpPr>
          <p:cNvPr name="Group 11" id="11"/>
          <p:cNvGrpSpPr/>
          <p:nvPr/>
        </p:nvGrpSpPr>
        <p:grpSpPr>
          <a:xfrm rot="0">
            <a:off x="855166" y="4022824"/>
            <a:ext cx="114300" cy="2421136"/>
            <a:chOff x="0" y="0"/>
            <a:chExt cx="152400" cy="3228182"/>
          </a:xfrm>
        </p:grpSpPr>
        <p:sp>
          <p:nvSpPr>
            <p:cNvPr name="Freeform 12" id="12"/>
            <p:cNvSpPr/>
            <p:nvPr/>
          </p:nvSpPr>
          <p:spPr>
            <a:xfrm flipH="false" flipV="false" rot="0">
              <a:off x="0" y="0"/>
              <a:ext cx="152400" cy="3228213"/>
            </a:xfrm>
            <a:custGeom>
              <a:avLst/>
              <a:gdLst/>
              <a:ahLst/>
              <a:cxnLst/>
              <a:rect r="r" b="b" t="t" l="l"/>
              <a:pathLst>
                <a:path h="3228213" w="152400">
                  <a:moveTo>
                    <a:pt x="0" y="76200"/>
                  </a:moveTo>
                  <a:cubicBezTo>
                    <a:pt x="0" y="34163"/>
                    <a:pt x="34163" y="0"/>
                    <a:pt x="76200" y="0"/>
                  </a:cubicBezTo>
                  <a:cubicBezTo>
                    <a:pt x="118237" y="0"/>
                    <a:pt x="152400" y="34163"/>
                    <a:pt x="152400" y="76200"/>
                  </a:cubicBezTo>
                  <a:lnTo>
                    <a:pt x="152400" y="3152013"/>
                  </a:lnTo>
                  <a:cubicBezTo>
                    <a:pt x="152400" y="3194050"/>
                    <a:pt x="118237" y="3228213"/>
                    <a:pt x="76200" y="3228213"/>
                  </a:cubicBezTo>
                  <a:cubicBezTo>
                    <a:pt x="34163" y="3228213"/>
                    <a:pt x="0" y="3194050"/>
                    <a:pt x="0" y="3152013"/>
                  </a:cubicBezTo>
                  <a:close/>
                </a:path>
              </a:pathLst>
            </a:custGeom>
            <a:solidFill>
              <a:srgbClr val="26A688"/>
            </a:solidFill>
          </p:spPr>
        </p:sp>
      </p:grpSp>
      <p:sp>
        <p:nvSpPr>
          <p:cNvPr name="TextBox 13" id="13"/>
          <p:cNvSpPr txBox="true"/>
          <p:nvPr/>
        </p:nvSpPr>
        <p:spPr>
          <a:xfrm rot="0">
            <a:off x="1250454" y="4284761"/>
            <a:ext cx="3156348" cy="413594"/>
          </a:xfrm>
          <a:prstGeom prst="rect">
            <a:avLst/>
          </a:prstGeom>
        </p:spPr>
        <p:txBody>
          <a:bodyPr anchor="t" rtlCol="false" tIns="0" lIns="0" bIns="0" rIns="0">
            <a:spAutoFit/>
          </a:bodyPr>
          <a:lstStyle/>
          <a:p>
            <a:pPr algn="l">
              <a:lnSpc>
                <a:spcPts val="3062"/>
              </a:lnSpc>
            </a:pPr>
            <a:r>
              <a:rPr lang="en-US" sz="2437" b="true">
                <a:solidFill>
                  <a:srgbClr val="333F70"/>
                </a:solidFill>
                <a:latin typeface="Arimo Bold"/>
                <a:ea typeface="Arimo Bold"/>
                <a:cs typeface="Arimo Bold"/>
                <a:sym typeface="Arimo Bold"/>
              </a:rPr>
              <a:t>Accessibility</a:t>
            </a:r>
          </a:p>
        </p:txBody>
      </p:sp>
      <p:sp>
        <p:nvSpPr>
          <p:cNvPr name="TextBox 14" id="14"/>
          <p:cNvSpPr txBox="true"/>
          <p:nvPr/>
        </p:nvSpPr>
        <p:spPr>
          <a:xfrm rot="0">
            <a:off x="1250454" y="4865042"/>
            <a:ext cx="4058990" cy="1297930"/>
          </a:xfrm>
          <a:prstGeom prst="rect">
            <a:avLst/>
          </a:prstGeom>
        </p:spPr>
        <p:txBody>
          <a:bodyPr anchor="t" rtlCol="false" tIns="0" lIns="0" bIns="0" rIns="0">
            <a:spAutoFit/>
          </a:bodyPr>
          <a:lstStyle/>
          <a:p>
            <a:pPr algn="l">
              <a:lnSpc>
                <a:spcPts val="3125"/>
              </a:lnSpc>
            </a:pPr>
            <a:r>
              <a:rPr lang="en-US" sz="1937">
                <a:solidFill>
                  <a:srgbClr val="333F70"/>
                </a:solidFill>
                <a:latin typeface="Open Sans"/>
                <a:ea typeface="Open Sans"/>
                <a:cs typeface="Open Sans"/>
                <a:sym typeface="Open Sans"/>
              </a:rPr>
              <a:t>24/7 information availability, overcoming geographical and temporal barriers.</a:t>
            </a:r>
          </a:p>
        </p:txBody>
      </p:sp>
      <p:grpSp>
        <p:nvGrpSpPr>
          <p:cNvPr name="Group 15" id="15"/>
          <p:cNvGrpSpPr/>
          <p:nvPr/>
        </p:nvGrpSpPr>
        <p:grpSpPr>
          <a:xfrm rot="0">
            <a:off x="5828556" y="4008536"/>
            <a:ext cx="4735414" cy="2449711"/>
            <a:chOff x="0" y="0"/>
            <a:chExt cx="6313885" cy="3266282"/>
          </a:xfrm>
        </p:grpSpPr>
        <p:sp>
          <p:nvSpPr>
            <p:cNvPr name="Freeform 16" id="16"/>
            <p:cNvSpPr/>
            <p:nvPr/>
          </p:nvSpPr>
          <p:spPr>
            <a:xfrm flipH="false" flipV="false" rot="0">
              <a:off x="19050" y="19050"/>
              <a:ext cx="6275705" cy="3228213"/>
            </a:xfrm>
            <a:custGeom>
              <a:avLst/>
              <a:gdLst/>
              <a:ahLst/>
              <a:cxnLst/>
              <a:rect r="r" b="b" t="t" l="l"/>
              <a:pathLst>
                <a:path h="3228213" w="6275705">
                  <a:moveTo>
                    <a:pt x="0" y="182880"/>
                  </a:moveTo>
                  <a:cubicBezTo>
                    <a:pt x="0" y="81915"/>
                    <a:pt x="82296" y="0"/>
                    <a:pt x="183896" y="0"/>
                  </a:cubicBezTo>
                  <a:lnTo>
                    <a:pt x="6091809" y="0"/>
                  </a:lnTo>
                  <a:cubicBezTo>
                    <a:pt x="6193409" y="0"/>
                    <a:pt x="6275705" y="81915"/>
                    <a:pt x="6275705" y="182880"/>
                  </a:cubicBezTo>
                  <a:lnTo>
                    <a:pt x="6275705" y="3045333"/>
                  </a:lnTo>
                  <a:cubicBezTo>
                    <a:pt x="6275705" y="3146298"/>
                    <a:pt x="6193409" y="3228213"/>
                    <a:pt x="6091809" y="3228213"/>
                  </a:cubicBezTo>
                  <a:lnTo>
                    <a:pt x="183896" y="3228213"/>
                  </a:lnTo>
                  <a:cubicBezTo>
                    <a:pt x="82296" y="3228213"/>
                    <a:pt x="0" y="3146298"/>
                    <a:pt x="0" y="3045333"/>
                  </a:cubicBezTo>
                  <a:close/>
                </a:path>
              </a:pathLst>
            </a:custGeom>
            <a:solidFill>
              <a:srgbClr val="E2F3EF"/>
            </a:solidFill>
          </p:spPr>
        </p:sp>
        <p:sp>
          <p:nvSpPr>
            <p:cNvPr name="Freeform 17" id="17"/>
            <p:cNvSpPr/>
            <p:nvPr/>
          </p:nvSpPr>
          <p:spPr>
            <a:xfrm flipH="false" flipV="false" rot="0">
              <a:off x="0" y="0"/>
              <a:ext cx="6313805" cy="3266313"/>
            </a:xfrm>
            <a:custGeom>
              <a:avLst/>
              <a:gdLst/>
              <a:ahLst/>
              <a:cxnLst/>
              <a:rect r="r" b="b" t="t" l="l"/>
              <a:pathLst>
                <a:path h="3266313" w="6313805">
                  <a:moveTo>
                    <a:pt x="0" y="201930"/>
                  </a:moveTo>
                  <a:cubicBezTo>
                    <a:pt x="0" y="90297"/>
                    <a:pt x="90932" y="0"/>
                    <a:pt x="202946" y="0"/>
                  </a:cubicBezTo>
                  <a:lnTo>
                    <a:pt x="6110859" y="0"/>
                  </a:lnTo>
                  <a:lnTo>
                    <a:pt x="6110859" y="19050"/>
                  </a:lnTo>
                  <a:lnTo>
                    <a:pt x="6110859" y="0"/>
                  </a:lnTo>
                  <a:cubicBezTo>
                    <a:pt x="6222873" y="0"/>
                    <a:pt x="6313805" y="90297"/>
                    <a:pt x="6313805" y="201930"/>
                  </a:cubicBezTo>
                  <a:lnTo>
                    <a:pt x="6294755" y="201930"/>
                  </a:lnTo>
                  <a:lnTo>
                    <a:pt x="6313805" y="201930"/>
                  </a:lnTo>
                  <a:lnTo>
                    <a:pt x="6313805" y="3064383"/>
                  </a:lnTo>
                  <a:lnTo>
                    <a:pt x="6294755" y="3064383"/>
                  </a:lnTo>
                  <a:lnTo>
                    <a:pt x="6313805" y="3064383"/>
                  </a:lnTo>
                  <a:cubicBezTo>
                    <a:pt x="6313805" y="3176016"/>
                    <a:pt x="6222873" y="3266313"/>
                    <a:pt x="6110859" y="3266313"/>
                  </a:cubicBezTo>
                  <a:lnTo>
                    <a:pt x="6110859" y="3247263"/>
                  </a:lnTo>
                  <a:lnTo>
                    <a:pt x="6110859" y="3266313"/>
                  </a:lnTo>
                  <a:lnTo>
                    <a:pt x="202946" y="3266313"/>
                  </a:lnTo>
                  <a:lnTo>
                    <a:pt x="202946" y="3247263"/>
                  </a:lnTo>
                  <a:lnTo>
                    <a:pt x="202946" y="3266313"/>
                  </a:lnTo>
                  <a:cubicBezTo>
                    <a:pt x="90932" y="3266313"/>
                    <a:pt x="0" y="3176016"/>
                    <a:pt x="0" y="3064383"/>
                  </a:cubicBezTo>
                  <a:lnTo>
                    <a:pt x="0" y="201930"/>
                  </a:lnTo>
                  <a:lnTo>
                    <a:pt x="19050" y="201930"/>
                  </a:lnTo>
                  <a:lnTo>
                    <a:pt x="0" y="201930"/>
                  </a:lnTo>
                  <a:moveTo>
                    <a:pt x="38100" y="201930"/>
                  </a:moveTo>
                  <a:lnTo>
                    <a:pt x="38100" y="3064383"/>
                  </a:lnTo>
                  <a:lnTo>
                    <a:pt x="19050" y="3064383"/>
                  </a:lnTo>
                  <a:lnTo>
                    <a:pt x="38100" y="3064383"/>
                  </a:lnTo>
                  <a:cubicBezTo>
                    <a:pt x="38100" y="3154807"/>
                    <a:pt x="111760" y="3228213"/>
                    <a:pt x="202946" y="3228213"/>
                  </a:cubicBezTo>
                  <a:lnTo>
                    <a:pt x="6110859" y="3228213"/>
                  </a:lnTo>
                  <a:cubicBezTo>
                    <a:pt x="6202045" y="3228213"/>
                    <a:pt x="6275705" y="3154807"/>
                    <a:pt x="6275705" y="3064383"/>
                  </a:cubicBezTo>
                  <a:lnTo>
                    <a:pt x="6275705" y="201930"/>
                  </a:lnTo>
                  <a:cubicBezTo>
                    <a:pt x="6275705" y="111506"/>
                    <a:pt x="6202045" y="38100"/>
                    <a:pt x="6110859" y="38100"/>
                  </a:cubicBezTo>
                  <a:lnTo>
                    <a:pt x="202946" y="38100"/>
                  </a:lnTo>
                  <a:lnTo>
                    <a:pt x="202946" y="19050"/>
                  </a:lnTo>
                  <a:lnTo>
                    <a:pt x="202946" y="38100"/>
                  </a:lnTo>
                  <a:cubicBezTo>
                    <a:pt x="111760" y="38100"/>
                    <a:pt x="38100" y="111506"/>
                    <a:pt x="38100" y="201930"/>
                  </a:cubicBezTo>
                  <a:close/>
                </a:path>
              </a:pathLst>
            </a:custGeom>
            <a:solidFill>
              <a:srgbClr val="BCDBD4"/>
            </a:solidFill>
          </p:spPr>
        </p:sp>
      </p:grpSp>
      <p:grpSp>
        <p:nvGrpSpPr>
          <p:cNvPr name="Group 18" id="18"/>
          <p:cNvGrpSpPr/>
          <p:nvPr/>
        </p:nvGrpSpPr>
        <p:grpSpPr>
          <a:xfrm rot="0">
            <a:off x="5814269" y="4022824"/>
            <a:ext cx="114300" cy="2421136"/>
            <a:chOff x="0" y="0"/>
            <a:chExt cx="152400" cy="3228182"/>
          </a:xfrm>
        </p:grpSpPr>
        <p:sp>
          <p:nvSpPr>
            <p:cNvPr name="Freeform 19" id="19"/>
            <p:cNvSpPr/>
            <p:nvPr/>
          </p:nvSpPr>
          <p:spPr>
            <a:xfrm flipH="false" flipV="false" rot="0">
              <a:off x="0" y="0"/>
              <a:ext cx="152400" cy="3228213"/>
            </a:xfrm>
            <a:custGeom>
              <a:avLst/>
              <a:gdLst/>
              <a:ahLst/>
              <a:cxnLst/>
              <a:rect r="r" b="b" t="t" l="l"/>
              <a:pathLst>
                <a:path h="3228213" w="152400">
                  <a:moveTo>
                    <a:pt x="0" y="76200"/>
                  </a:moveTo>
                  <a:cubicBezTo>
                    <a:pt x="0" y="34163"/>
                    <a:pt x="34163" y="0"/>
                    <a:pt x="76200" y="0"/>
                  </a:cubicBezTo>
                  <a:cubicBezTo>
                    <a:pt x="118237" y="0"/>
                    <a:pt x="152400" y="34163"/>
                    <a:pt x="152400" y="76200"/>
                  </a:cubicBezTo>
                  <a:lnTo>
                    <a:pt x="152400" y="3152013"/>
                  </a:lnTo>
                  <a:cubicBezTo>
                    <a:pt x="152400" y="3194050"/>
                    <a:pt x="118237" y="3228213"/>
                    <a:pt x="76200" y="3228213"/>
                  </a:cubicBezTo>
                  <a:cubicBezTo>
                    <a:pt x="34163" y="3228213"/>
                    <a:pt x="0" y="3194050"/>
                    <a:pt x="0" y="3152013"/>
                  </a:cubicBezTo>
                  <a:close/>
                </a:path>
              </a:pathLst>
            </a:custGeom>
            <a:solidFill>
              <a:srgbClr val="26A688"/>
            </a:solidFill>
          </p:spPr>
        </p:sp>
      </p:grpSp>
      <p:sp>
        <p:nvSpPr>
          <p:cNvPr name="TextBox 20" id="20"/>
          <p:cNvSpPr txBox="true"/>
          <p:nvPr/>
        </p:nvSpPr>
        <p:spPr>
          <a:xfrm rot="0">
            <a:off x="6209556" y="4284761"/>
            <a:ext cx="3156348" cy="413594"/>
          </a:xfrm>
          <a:prstGeom prst="rect">
            <a:avLst/>
          </a:prstGeom>
        </p:spPr>
        <p:txBody>
          <a:bodyPr anchor="t" rtlCol="false" tIns="0" lIns="0" bIns="0" rIns="0">
            <a:spAutoFit/>
          </a:bodyPr>
          <a:lstStyle/>
          <a:p>
            <a:pPr algn="l">
              <a:lnSpc>
                <a:spcPts val="3062"/>
              </a:lnSpc>
            </a:pPr>
            <a:r>
              <a:rPr lang="en-US" sz="2437" b="true">
                <a:solidFill>
                  <a:srgbClr val="333F70"/>
                </a:solidFill>
                <a:latin typeface="Arimo Bold"/>
                <a:ea typeface="Arimo Bold"/>
                <a:cs typeface="Arimo Bold"/>
                <a:sym typeface="Arimo Bold"/>
              </a:rPr>
              <a:t>Consistency</a:t>
            </a:r>
          </a:p>
        </p:txBody>
      </p:sp>
      <p:sp>
        <p:nvSpPr>
          <p:cNvPr name="TextBox 21" id="21"/>
          <p:cNvSpPr txBox="true"/>
          <p:nvPr/>
        </p:nvSpPr>
        <p:spPr>
          <a:xfrm rot="0">
            <a:off x="6209556" y="4865042"/>
            <a:ext cx="4059139" cy="893861"/>
          </a:xfrm>
          <a:prstGeom prst="rect">
            <a:avLst/>
          </a:prstGeom>
        </p:spPr>
        <p:txBody>
          <a:bodyPr anchor="t" rtlCol="false" tIns="0" lIns="0" bIns="0" rIns="0">
            <a:spAutoFit/>
          </a:bodyPr>
          <a:lstStyle/>
          <a:p>
            <a:pPr algn="l">
              <a:lnSpc>
                <a:spcPts val="3125"/>
              </a:lnSpc>
            </a:pPr>
            <a:r>
              <a:rPr lang="en-US" sz="1937">
                <a:solidFill>
                  <a:srgbClr val="333F70"/>
                </a:solidFill>
                <a:latin typeface="Open Sans"/>
                <a:ea typeface="Open Sans"/>
                <a:cs typeface="Open Sans"/>
                <a:sym typeface="Open Sans"/>
              </a:rPr>
              <a:t>Delivering uniform, evidence-based responses every time.</a:t>
            </a:r>
          </a:p>
        </p:txBody>
      </p:sp>
      <p:grpSp>
        <p:nvGrpSpPr>
          <p:cNvPr name="Group 22" id="22"/>
          <p:cNvGrpSpPr/>
          <p:nvPr/>
        </p:nvGrpSpPr>
        <p:grpSpPr>
          <a:xfrm rot="0">
            <a:off x="869454" y="6682085"/>
            <a:ext cx="4735265" cy="2449711"/>
            <a:chOff x="0" y="0"/>
            <a:chExt cx="6313687" cy="3266282"/>
          </a:xfrm>
        </p:grpSpPr>
        <p:sp>
          <p:nvSpPr>
            <p:cNvPr name="Freeform 23" id="23"/>
            <p:cNvSpPr/>
            <p:nvPr/>
          </p:nvSpPr>
          <p:spPr>
            <a:xfrm flipH="false" flipV="false" rot="0">
              <a:off x="19050" y="19050"/>
              <a:ext cx="6275578" cy="3228213"/>
            </a:xfrm>
            <a:custGeom>
              <a:avLst/>
              <a:gdLst/>
              <a:ahLst/>
              <a:cxnLst/>
              <a:rect r="r" b="b" t="t" l="l"/>
              <a:pathLst>
                <a:path h="3228213" w="6275578">
                  <a:moveTo>
                    <a:pt x="0" y="182880"/>
                  </a:moveTo>
                  <a:cubicBezTo>
                    <a:pt x="0" y="81915"/>
                    <a:pt x="82296" y="0"/>
                    <a:pt x="183896" y="0"/>
                  </a:cubicBezTo>
                  <a:lnTo>
                    <a:pt x="6091682" y="0"/>
                  </a:lnTo>
                  <a:cubicBezTo>
                    <a:pt x="6193282" y="0"/>
                    <a:pt x="6275578" y="81915"/>
                    <a:pt x="6275578" y="182880"/>
                  </a:cubicBezTo>
                  <a:lnTo>
                    <a:pt x="6275578" y="3045333"/>
                  </a:lnTo>
                  <a:cubicBezTo>
                    <a:pt x="6275578" y="3146298"/>
                    <a:pt x="6193282" y="3228213"/>
                    <a:pt x="6091682" y="3228213"/>
                  </a:cubicBezTo>
                  <a:lnTo>
                    <a:pt x="183896" y="3228213"/>
                  </a:lnTo>
                  <a:cubicBezTo>
                    <a:pt x="82296" y="3228213"/>
                    <a:pt x="0" y="3146298"/>
                    <a:pt x="0" y="3045333"/>
                  </a:cubicBezTo>
                  <a:close/>
                </a:path>
              </a:pathLst>
            </a:custGeom>
            <a:solidFill>
              <a:srgbClr val="E2F3EF"/>
            </a:solidFill>
          </p:spPr>
        </p:sp>
        <p:sp>
          <p:nvSpPr>
            <p:cNvPr name="Freeform 24" id="24"/>
            <p:cNvSpPr/>
            <p:nvPr/>
          </p:nvSpPr>
          <p:spPr>
            <a:xfrm flipH="false" flipV="false" rot="0">
              <a:off x="0" y="0"/>
              <a:ext cx="6313678" cy="3266313"/>
            </a:xfrm>
            <a:custGeom>
              <a:avLst/>
              <a:gdLst/>
              <a:ahLst/>
              <a:cxnLst/>
              <a:rect r="r" b="b" t="t" l="l"/>
              <a:pathLst>
                <a:path h="3266313" w="6313678">
                  <a:moveTo>
                    <a:pt x="0" y="201930"/>
                  </a:moveTo>
                  <a:cubicBezTo>
                    <a:pt x="0" y="90297"/>
                    <a:pt x="90932" y="0"/>
                    <a:pt x="202946" y="0"/>
                  </a:cubicBezTo>
                  <a:lnTo>
                    <a:pt x="6110732" y="0"/>
                  </a:lnTo>
                  <a:lnTo>
                    <a:pt x="6110732" y="19050"/>
                  </a:lnTo>
                  <a:lnTo>
                    <a:pt x="6110732" y="0"/>
                  </a:lnTo>
                  <a:cubicBezTo>
                    <a:pt x="6222746" y="0"/>
                    <a:pt x="6313678" y="90297"/>
                    <a:pt x="6313678" y="201930"/>
                  </a:cubicBezTo>
                  <a:lnTo>
                    <a:pt x="6294628" y="201930"/>
                  </a:lnTo>
                  <a:lnTo>
                    <a:pt x="6313678" y="201930"/>
                  </a:lnTo>
                  <a:lnTo>
                    <a:pt x="6313678" y="3064383"/>
                  </a:lnTo>
                  <a:lnTo>
                    <a:pt x="6294628" y="3064383"/>
                  </a:lnTo>
                  <a:lnTo>
                    <a:pt x="6313678" y="3064383"/>
                  </a:lnTo>
                  <a:cubicBezTo>
                    <a:pt x="6313678" y="3176016"/>
                    <a:pt x="6222746" y="3266313"/>
                    <a:pt x="6110732" y="3266313"/>
                  </a:cubicBezTo>
                  <a:lnTo>
                    <a:pt x="6110732" y="3247263"/>
                  </a:lnTo>
                  <a:lnTo>
                    <a:pt x="6110732" y="3266313"/>
                  </a:lnTo>
                  <a:lnTo>
                    <a:pt x="202946" y="3266313"/>
                  </a:lnTo>
                  <a:lnTo>
                    <a:pt x="202946" y="3247263"/>
                  </a:lnTo>
                  <a:lnTo>
                    <a:pt x="202946" y="3266313"/>
                  </a:lnTo>
                  <a:cubicBezTo>
                    <a:pt x="90932" y="3266313"/>
                    <a:pt x="0" y="3176016"/>
                    <a:pt x="0" y="3064383"/>
                  </a:cubicBezTo>
                  <a:lnTo>
                    <a:pt x="0" y="201930"/>
                  </a:lnTo>
                  <a:lnTo>
                    <a:pt x="19050" y="201930"/>
                  </a:lnTo>
                  <a:lnTo>
                    <a:pt x="0" y="201930"/>
                  </a:lnTo>
                  <a:moveTo>
                    <a:pt x="38100" y="201930"/>
                  </a:moveTo>
                  <a:lnTo>
                    <a:pt x="38100" y="3064383"/>
                  </a:lnTo>
                  <a:lnTo>
                    <a:pt x="19050" y="3064383"/>
                  </a:lnTo>
                  <a:lnTo>
                    <a:pt x="38100" y="3064383"/>
                  </a:lnTo>
                  <a:cubicBezTo>
                    <a:pt x="38100" y="3154807"/>
                    <a:pt x="111760" y="3228213"/>
                    <a:pt x="202946" y="3228213"/>
                  </a:cubicBezTo>
                  <a:lnTo>
                    <a:pt x="6110732" y="3228213"/>
                  </a:lnTo>
                  <a:cubicBezTo>
                    <a:pt x="6201918" y="3228213"/>
                    <a:pt x="6275578" y="3154807"/>
                    <a:pt x="6275578" y="3064383"/>
                  </a:cubicBezTo>
                  <a:lnTo>
                    <a:pt x="6275578" y="201930"/>
                  </a:lnTo>
                  <a:cubicBezTo>
                    <a:pt x="6275578" y="111506"/>
                    <a:pt x="6201918" y="38100"/>
                    <a:pt x="6110732" y="38100"/>
                  </a:cubicBezTo>
                  <a:lnTo>
                    <a:pt x="202946" y="38100"/>
                  </a:lnTo>
                  <a:lnTo>
                    <a:pt x="202946" y="19050"/>
                  </a:lnTo>
                  <a:lnTo>
                    <a:pt x="202946" y="38100"/>
                  </a:lnTo>
                  <a:cubicBezTo>
                    <a:pt x="111760" y="38100"/>
                    <a:pt x="38100" y="111506"/>
                    <a:pt x="38100" y="201930"/>
                  </a:cubicBezTo>
                  <a:close/>
                </a:path>
              </a:pathLst>
            </a:custGeom>
            <a:solidFill>
              <a:srgbClr val="BCDBD4"/>
            </a:solidFill>
          </p:spPr>
        </p:sp>
      </p:grpSp>
      <p:grpSp>
        <p:nvGrpSpPr>
          <p:cNvPr name="Group 25" id="25"/>
          <p:cNvGrpSpPr/>
          <p:nvPr/>
        </p:nvGrpSpPr>
        <p:grpSpPr>
          <a:xfrm rot="0">
            <a:off x="855166" y="6696372"/>
            <a:ext cx="114300" cy="2421136"/>
            <a:chOff x="0" y="0"/>
            <a:chExt cx="152400" cy="3228182"/>
          </a:xfrm>
        </p:grpSpPr>
        <p:sp>
          <p:nvSpPr>
            <p:cNvPr name="Freeform 26" id="26"/>
            <p:cNvSpPr/>
            <p:nvPr/>
          </p:nvSpPr>
          <p:spPr>
            <a:xfrm flipH="false" flipV="false" rot="0">
              <a:off x="0" y="0"/>
              <a:ext cx="152400" cy="3228213"/>
            </a:xfrm>
            <a:custGeom>
              <a:avLst/>
              <a:gdLst/>
              <a:ahLst/>
              <a:cxnLst/>
              <a:rect r="r" b="b" t="t" l="l"/>
              <a:pathLst>
                <a:path h="3228213" w="152400">
                  <a:moveTo>
                    <a:pt x="0" y="76200"/>
                  </a:moveTo>
                  <a:cubicBezTo>
                    <a:pt x="0" y="34163"/>
                    <a:pt x="34163" y="0"/>
                    <a:pt x="76200" y="0"/>
                  </a:cubicBezTo>
                  <a:cubicBezTo>
                    <a:pt x="118237" y="0"/>
                    <a:pt x="152400" y="34163"/>
                    <a:pt x="152400" y="76200"/>
                  </a:cubicBezTo>
                  <a:lnTo>
                    <a:pt x="152400" y="3152013"/>
                  </a:lnTo>
                  <a:cubicBezTo>
                    <a:pt x="152400" y="3194050"/>
                    <a:pt x="118237" y="3228213"/>
                    <a:pt x="76200" y="3228213"/>
                  </a:cubicBezTo>
                  <a:cubicBezTo>
                    <a:pt x="34163" y="3228213"/>
                    <a:pt x="0" y="3194050"/>
                    <a:pt x="0" y="3152013"/>
                  </a:cubicBezTo>
                  <a:close/>
                </a:path>
              </a:pathLst>
            </a:custGeom>
            <a:solidFill>
              <a:srgbClr val="26A688"/>
            </a:solidFill>
          </p:spPr>
        </p:sp>
      </p:grpSp>
      <p:sp>
        <p:nvSpPr>
          <p:cNvPr name="TextBox 27" id="27"/>
          <p:cNvSpPr txBox="true"/>
          <p:nvPr/>
        </p:nvSpPr>
        <p:spPr>
          <a:xfrm rot="0">
            <a:off x="1250454" y="6958310"/>
            <a:ext cx="3156348" cy="413594"/>
          </a:xfrm>
          <a:prstGeom prst="rect">
            <a:avLst/>
          </a:prstGeom>
        </p:spPr>
        <p:txBody>
          <a:bodyPr anchor="t" rtlCol="false" tIns="0" lIns="0" bIns="0" rIns="0">
            <a:spAutoFit/>
          </a:bodyPr>
          <a:lstStyle/>
          <a:p>
            <a:pPr algn="l">
              <a:lnSpc>
                <a:spcPts val="3062"/>
              </a:lnSpc>
            </a:pPr>
            <a:r>
              <a:rPr lang="en-US" sz="2437" b="true">
                <a:solidFill>
                  <a:srgbClr val="333F70"/>
                </a:solidFill>
                <a:latin typeface="Arimo Bold"/>
                <a:ea typeface="Arimo Bold"/>
                <a:cs typeface="Arimo Bold"/>
                <a:sym typeface="Arimo Bold"/>
              </a:rPr>
              <a:t>Pre-Triage</a:t>
            </a:r>
          </a:p>
        </p:txBody>
      </p:sp>
      <p:sp>
        <p:nvSpPr>
          <p:cNvPr name="TextBox 28" id="28"/>
          <p:cNvSpPr txBox="true"/>
          <p:nvPr/>
        </p:nvSpPr>
        <p:spPr>
          <a:xfrm rot="0">
            <a:off x="1250454" y="7538591"/>
            <a:ext cx="4058990" cy="1297930"/>
          </a:xfrm>
          <a:prstGeom prst="rect">
            <a:avLst/>
          </a:prstGeom>
        </p:spPr>
        <p:txBody>
          <a:bodyPr anchor="t" rtlCol="false" tIns="0" lIns="0" bIns="0" rIns="0">
            <a:spAutoFit/>
          </a:bodyPr>
          <a:lstStyle/>
          <a:p>
            <a:pPr algn="l">
              <a:lnSpc>
                <a:spcPts val="3125"/>
              </a:lnSpc>
            </a:pPr>
            <a:r>
              <a:rPr lang="en-US" sz="1937">
                <a:solidFill>
                  <a:srgbClr val="333F70"/>
                </a:solidFill>
                <a:latin typeface="Open Sans"/>
                <a:ea typeface="Open Sans"/>
                <a:cs typeface="Open Sans"/>
                <a:sym typeface="Open Sans"/>
              </a:rPr>
              <a:t>Helping users understand symptom severity before seeking professional care.</a:t>
            </a:r>
          </a:p>
        </p:txBody>
      </p:sp>
      <p:grpSp>
        <p:nvGrpSpPr>
          <p:cNvPr name="Group 29" id="29"/>
          <p:cNvGrpSpPr>
            <a:grpSpLocks noChangeAspect="true"/>
          </p:cNvGrpSpPr>
          <p:nvPr/>
        </p:nvGrpSpPr>
        <p:grpSpPr>
          <a:xfrm rot="0">
            <a:off x="11175058" y="2179290"/>
            <a:ext cx="6238577" cy="6238577"/>
            <a:chOff x="0" y="0"/>
            <a:chExt cx="8318103" cy="8318103"/>
          </a:xfrm>
        </p:grpSpPr>
        <p:sp>
          <p:nvSpPr>
            <p:cNvPr name="Freeform 30" id="30" descr="preencoded.png"/>
            <p:cNvSpPr/>
            <p:nvPr/>
          </p:nvSpPr>
          <p:spPr>
            <a:xfrm flipH="false" flipV="false" rot="0">
              <a:off x="0" y="0"/>
              <a:ext cx="8318119" cy="8318119"/>
            </a:xfrm>
            <a:custGeom>
              <a:avLst/>
              <a:gdLst/>
              <a:ahLst/>
              <a:cxnLst/>
              <a:rect r="r" b="b" t="t" l="l"/>
              <a:pathLst>
                <a:path h="8318119" w="8318119">
                  <a:moveTo>
                    <a:pt x="0" y="0"/>
                  </a:moveTo>
                  <a:lnTo>
                    <a:pt x="8318119" y="0"/>
                  </a:lnTo>
                  <a:lnTo>
                    <a:pt x="8318119" y="8318119"/>
                  </a:lnTo>
                  <a:lnTo>
                    <a:pt x="0" y="8318119"/>
                  </a:lnTo>
                  <a:lnTo>
                    <a:pt x="0" y="0"/>
                  </a:lnTo>
                  <a:close/>
                </a:path>
              </a:pathLst>
            </a:custGeom>
            <a:blipFill>
              <a:blip r:embed="rId3"/>
              <a:stretch>
                <a:fillRect l="0" t="0" r="0" b="0"/>
              </a:stretch>
            </a:blipFill>
          </p:spPr>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2F3EF"/>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E2F3EF"/>
            </a:solidFill>
          </p:spPr>
        </p:sp>
      </p:grpSp>
      <p:grpSp>
        <p:nvGrpSpPr>
          <p:cNvPr name="Group 4" id="4"/>
          <p:cNvGrpSpPr/>
          <p:nvPr/>
        </p:nvGrpSpPr>
        <p:grpSpPr>
          <a:xfrm rot="0">
            <a:off x="-116458" y="-100099"/>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E2F3EF"/>
            </a:solidFill>
          </p:spPr>
        </p:sp>
      </p:grpSp>
      <p:grpSp>
        <p:nvGrpSpPr>
          <p:cNvPr name="Group 6" id="6"/>
          <p:cNvGrpSpPr>
            <a:grpSpLocks noChangeAspect="true"/>
          </p:cNvGrpSpPr>
          <p:nvPr/>
        </p:nvGrpSpPr>
        <p:grpSpPr>
          <a:xfrm rot="0">
            <a:off x="0" y="0"/>
            <a:ext cx="18288000" cy="2842320"/>
            <a:chOff x="0" y="0"/>
            <a:chExt cx="24384000" cy="3789760"/>
          </a:xfrm>
        </p:grpSpPr>
        <p:sp>
          <p:nvSpPr>
            <p:cNvPr name="Freeform 7" id="7" descr="preencoded.png"/>
            <p:cNvSpPr/>
            <p:nvPr/>
          </p:nvSpPr>
          <p:spPr>
            <a:xfrm flipH="false" flipV="false" rot="0">
              <a:off x="0" y="0"/>
              <a:ext cx="24384000" cy="3789807"/>
            </a:xfrm>
            <a:custGeom>
              <a:avLst/>
              <a:gdLst/>
              <a:ahLst/>
              <a:cxnLst/>
              <a:rect r="r" b="b" t="t" l="l"/>
              <a:pathLst>
                <a:path h="3789807" w="24384000">
                  <a:moveTo>
                    <a:pt x="0" y="0"/>
                  </a:moveTo>
                  <a:lnTo>
                    <a:pt x="24384000" y="0"/>
                  </a:lnTo>
                  <a:lnTo>
                    <a:pt x="24384000" y="3789807"/>
                  </a:lnTo>
                  <a:lnTo>
                    <a:pt x="0" y="3789807"/>
                  </a:lnTo>
                  <a:lnTo>
                    <a:pt x="0" y="0"/>
                  </a:lnTo>
                  <a:close/>
                </a:path>
              </a:pathLst>
            </a:custGeom>
            <a:blipFill>
              <a:blip r:embed="rId3"/>
              <a:stretch>
                <a:fillRect l="-68" t="0" r="-68" b="1"/>
              </a:stretch>
            </a:blipFill>
          </p:spPr>
        </p:sp>
      </p:grpSp>
      <p:sp>
        <p:nvSpPr>
          <p:cNvPr name="TextBox 8" id="8"/>
          <p:cNvSpPr txBox="true"/>
          <p:nvPr/>
        </p:nvSpPr>
        <p:spPr>
          <a:xfrm rot="0">
            <a:off x="795784" y="3195181"/>
            <a:ext cx="16027599" cy="588383"/>
          </a:xfrm>
          <a:prstGeom prst="rect">
            <a:avLst/>
          </a:prstGeom>
        </p:spPr>
        <p:txBody>
          <a:bodyPr anchor="t" rtlCol="false" tIns="0" lIns="0" bIns="0" rIns="0">
            <a:spAutoFit/>
          </a:bodyPr>
          <a:lstStyle/>
          <a:p>
            <a:pPr algn="l">
              <a:lnSpc>
                <a:spcPts val="4562"/>
              </a:lnSpc>
            </a:pPr>
            <a:r>
              <a:rPr lang="en-US" sz="3662" b="true">
                <a:solidFill>
                  <a:srgbClr val="333F70"/>
                </a:solidFill>
                <a:latin typeface="Arimo Bold"/>
                <a:ea typeface="Arimo Bold"/>
                <a:cs typeface="Arimo Bold"/>
                <a:sym typeface="Arimo Bold"/>
              </a:rPr>
              <a:t>Problem Statement: The Burden of Untimely and wrong Information</a:t>
            </a:r>
          </a:p>
        </p:txBody>
      </p:sp>
      <p:grpSp>
        <p:nvGrpSpPr>
          <p:cNvPr name="Group 9" id="9"/>
          <p:cNvGrpSpPr>
            <a:grpSpLocks noChangeAspect="true"/>
          </p:cNvGrpSpPr>
          <p:nvPr/>
        </p:nvGrpSpPr>
        <p:grpSpPr>
          <a:xfrm rot="0">
            <a:off x="795784" y="6646961"/>
            <a:ext cx="1136897" cy="1364307"/>
            <a:chOff x="0" y="0"/>
            <a:chExt cx="1515863" cy="1819077"/>
          </a:xfrm>
        </p:grpSpPr>
        <p:sp>
          <p:nvSpPr>
            <p:cNvPr name="Freeform 10" id="10" descr="preencoded.png"/>
            <p:cNvSpPr/>
            <p:nvPr/>
          </p:nvSpPr>
          <p:spPr>
            <a:xfrm flipH="false" flipV="false" rot="0">
              <a:off x="0" y="0"/>
              <a:ext cx="1515872" cy="1819021"/>
            </a:xfrm>
            <a:custGeom>
              <a:avLst/>
              <a:gdLst/>
              <a:ahLst/>
              <a:cxnLst/>
              <a:rect r="r" b="b" t="t" l="l"/>
              <a:pathLst>
                <a:path h="1819021" w="1515872">
                  <a:moveTo>
                    <a:pt x="0" y="0"/>
                  </a:moveTo>
                  <a:lnTo>
                    <a:pt x="1515872" y="0"/>
                  </a:lnTo>
                  <a:lnTo>
                    <a:pt x="1515872" y="1819021"/>
                  </a:lnTo>
                  <a:lnTo>
                    <a:pt x="0" y="1819021"/>
                  </a:lnTo>
                  <a:lnTo>
                    <a:pt x="0" y="0"/>
                  </a:lnTo>
                  <a:close/>
                </a:path>
              </a:pathLst>
            </a:custGeom>
            <a:blipFill>
              <a:blip r:embed="rId4"/>
              <a:stretch>
                <a:fillRect l="0" t="-68" r="0" b="-71"/>
              </a:stretch>
            </a:blipFill>
          </p:spPr>
        </p:sp>
      </p:grpSp>
      <p:sp>
        <p:nvSpPr>
          <p:cNvPr name="TextBox 11" id="11"/>
          <p:cNvSpPr txBox="true"/>
          <p:nvPr/>
        </p:nvSpPr>
        <p:spPr>
          <a:xfrm rot="0">
            <a:off x="2159942" y="6845648"/>
            <a:ext cx="4211985" cy="392249"/>
          </a:xfrm>
          <a:prstGeom prst="rect">
            <a:avLst/>
          </a:prstGeom>
        </p:spPr>
        <p:txBody>
          <a:bodyPr anchor="t" rtlCol="false" tIns="0" lIns="0" bIns="0" rIns="0">
            <a:spAutoFit/>
          </a:bodyPr>
          <a:lstStyle/>
          <a:p>
            <a:pPr algn="l">
              <a:lnSpc>
                <a:spcPts val="3001"/>
              </a:lnSpc>
            </a:pPr>
            <a:r>
              <a:rPr lang="en-US" sz="2387" b="true">
                <a:solidFill>
                  <a:srgbClr val="333F70"/>
                </a:solidFill>
                <a:latin typeface="Arimo Bold"/>
                <a:ea typeface="Arimo Bold"/>
                <a:cs typeface="Arimo Bold"/>
                <a:sym typeface="Arimo Bold"/>
              </a:rPr>
              <a:t>Overburdened Systems</a:t>
            </a:r>
          </a:p>
        </p:txBody>
      </p:sp>
      <p:sp>
        <p:nvSpPr>
          <p:cNvPr name="TextBox 12" id="12"/>
          <p:cNvSpPr txBox="true"/>
          <p:nvPr/>
        </p:nvSpPr>
        <p:spPr>
          <a:xfrm rot="0">
            <a:off x="2159943" y="7289601"/>
            <a:ext cx="15332274" cy="379775"/>
          </a:xfrm>
          <a:prstGeom prst="rect">
            <a:avLst/>
          </a:prstGeom>
        </p:spPr>
        <p:txBody>
          <a:bodyPr anchor="t" rtlCol="false" tIns="0" lIns="0" bIns="0" rIns="0">
            <a:spAutoFit/>
          </a:bodyPr>
          <a:lstStyle/>
          <a:p>
            <a:pPr algn="l">
              <a:lnSpc>
                <a:spcPts val="3294"/>
              </a:lnSpc>
            </a:pPr>
            <a:r>
              <a:rPr lang="en-US" sz="2049">
                <a:solidFill>
                  <a:srgbClr val="333F70"/>
                </a:solidFill>
                <a:latin typeface="Open Sans"/>
                <a:ea typeface="Open Sans"/>
                <a:cs typeface="Open Sans"/>
                <a:sym typeface="Open Sans"/>
              </a:rPr>
              <a:t>Non-urgent health enquiries consume valuable resources in clinics and emergency rooms.</a:t>
            </a:r>
          </a:p>
        </p:txBody>
      </p:sp>
      <p:grpSp>
        <p:nvGrpSpPr>
          <p:cNvPr name="Group 13" id="13"/>
          <p:cNvGrpSpPr>
            <a:grpSpLocks noChangeAspect="true"/>
          </p:cNvGrpSpPr>
          <p:nvPr/>
        </p:nvGrpSpPr>
        <p:grpSpPr>
          <a:xfrm rot="0">
            <a:off x="795784" y="8011269"/>
            <a:ext cx="1136897" cy="1364307"/>
            <a:chOff x="0" y="0"/>
            <a:chExt cx="1515863" cy="1819077"/>
          </a:xfrm>
        </p:grpSpPr>
        <p:sp>
          <p:nvSpPr>
            <p:cNvPr name="Freeform 14" id="14" descr="preencoded.png"/>
            <p:cNvSpPr/>
            <p:nvPr/>
          </p:nvSpPr>
          <p:spPr>
            <a:xfrm flipH="false" flipV="false" rot="0">
              <a:off x="0" y="0"/>
              <a:ext cx="1515872" cy="1819021"/>
            </a:xfrm>
            <a:custGeom>
              <a:avLst/>
              <a:gdLst/>
              <a:ahLst/>
              <a:cxnLst/>
              <a:rect r="r" b="b" t="t" l="l"/>
              <a:pathLst>
                <a:path h="1819021" w="1515872">
                  <a:moveTo>
                    <a:pt x="0" y="0"/>
                  </a:moveTo>
                  <a:lnTo>
                    <a:pt x="1515872" y="0"/>
                  </a:lnTo>
                  <a:lnTo>
                    <a:pt x="1515872" y="1819021"/>
                  </a:lnTo>
                  <a:lnTo>
                    <a:pt x="0" y="1819021"/>
                  </a:lnTo>
                  <a:lnTo>
                    <a:pt x="0" y="0"/>
                  </a:lnTo>
                  <a:close/>
                </a:path>
              </a:pathLst>
            </a:custGeom>
            <a:blipFill>
              <a:blip r:embed="rId5"/>
              <a:stretch>
                <a:fillRect l="0" t="-68" r="0" b="-71"/>
              </a:stretch>
            </a:blipFill>
          </p:spPr>
        </p:sp>
      </p:grpSp>
      <p:sp>
        <p:nvSpPr>
          <p:cNvPr name="TextBox 15" id="15"/>
          <p:cNvSpPr txBox="true"/>
          <p:nvPr/>
        </p:nvSpPr>
        <p:spPr>
          <a:xfrm rot="0">
            <a:off x="2159942" y="8209955"/>
            <a:ext cx="4191893" cy="392249"/>
          </a:xfrm>
          <a:prstGeom prst="rect">
            <a:avLst/>
          </a:prstGeom>
        </p:spPr>
        <p:txBody>
          <a:bodyPr anchor="t" rtlCol="false" tIns="0" lIns="0" bIns="0" rIns="0">
            <a:spAutoFit/>
          </a:bodyPr>
          <a:lstStyle/>
          <a:p>
            <a:pPr algn="l">
              <a:lnSpc>
                <a:spcPts val="3001"/>
              </a:lnSpc>
            </a:pPr>
            <a:r>
              <a:rPr lang="en-US" sz="2387" b="true">
                <a:solidFill>
                  <a:srgbClr val="333F70"/>
                </a:solidFill>
                <a:latin typeface="Arimo Bold"/>
                <a:ea typeface="Arimo Bold"/>
                <a:cs typeface="Arimo Bold"/>
                <a:sym typeface="Arimo Bold"/>
              </a:rPr>
              <a:t>Delayed Care Decisions</a:t>
            </a:r>
          </a:p>
        </p:txBody>
      </p:sp>
      <p:sp>
        <p:nvSpPr>
          <p:cNvPr name="TextBox 16" id="16"/>
          <p:cNvSpPr txBox="true"/>
          <p:nvPr/>
        </p:nvSpPr>
        <p:spPr>
          <a:xfrm rot="0">
            <a:off x="2159943" y="8653909"/>
            <a:ext cx="15332274" cy="379775"/>
          </a:xfrm>
          <a:prstGeom prst="rect">
            <a:avLst/>
          </a:prstGeom>
        </p:spPr>
        <p:txBody>
          <a:bodyPr anchor="t" rtlCol="false" tIns="0" lIns="0" bIns="0" rIns="0">
            <a:spAutoFit/>
          </a:bodyPr>
          <a:lstStyle/>
          <a:p>
            <a:pPr algn="l">
              <a:lnSpc>
                <a:spcPts val="3294"/>
              </a:lnSpc>
            </a:pPr>
            <a:r>
              <a:rPr lang="en-US" sz="2049">
                <a:solidFill>
                  <a:srgbClr val="333F70"/>
                </a:solidFill>
                <a:latin typeface="Open Sans"/>
                <a:ea typeface="Open Sans"/>
                <a:cs typeface="Open Sans"/>
                <a:sym typeface="Open Sans"/>
              </a:rPr>
              <a:t>Lack of immediate guidance can lead to procrastination in seeking necessary medical attention for serious issues.</a:t>
            </a:r>
          </a:p>
        </p:txBody>
      </p:sp>
      <p:sp>
        <p:nvSpPr>
          <p:cNvPr name="TextBox 17" id="17"/>
          <p:cNvSpPr txBox="true"/>
          <p:nvPr/>
        </p:nvSpPr>
        <p:spPr>
          <a:xfrm rot="0">
            <a:off x="795784" y="3915101"/>
            <a:ext cx="16463516" cy="2170876"/>
          </a:xfrm>
          <a:prstGeom prst="rect">
            <a:avLst/>
          </a:prstGeom>
        </p:spPr>
        <p:txBody>
          <a:bodyPr anchor="t" rtlCol="false" tIns="0" lIns="0" bIns="0" rIns="0">
            <a:spAutoFit/>
          </a:bodyPr>
          <a:lstStyle/>
          <a:p>
            <a:pPr algn="l">
              <a:lnSpc>
                <a:spcPts val="3537"/>
              </a:lnSpc>
            </a:pPr>
            <a:r>
              <a:rPr lang="en-US" sz="2201">
                <a:solidFill>
                  <a:srgbClr val="333F70"/>
                </a:solidFill>
                <a:latin typeface="Open Sans"/>
                <a:ea typeface="Open Sans"/>
                <a:cs typeface="Open Sans"/>
                <a:sym typeface="Open Sans"/>
              </a:rPr>
              <a:t>There is a lack of accessible and affordable AI-driven healthcare assistance that provides reliable symptom analysis, OTC suggestions, and triage recommendations. Many people rely on unverified online sources, leading to misinformation and delayed care. Elderly individuals and rural populations face additional challenges due to mobility issues, long hospital queues, high costs, and limited access to medical services. An intelligent AI-based healthcare advisor is required to provide safe preliminary guidance and timely critical alerts.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2F3EF"/>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E2F3EF"/>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E2F3EF"/>
            </a:solidFill>
          </p:spPr>
        </p:sp>
      </p:grpSp>
      <p:sp>
        <p:nvSpPr>
          <p:cNvPr name="TextBox 6" id="6"/>
          <p:cNvSpPr txBox="true"/>
          <p:nvPr/>
        </p:nvSpPr>
        <p:spPr>
          <a:xfrm rot="0">
            <a:off x="942529" y="909637"/>
            <a:ext cx="14696629" cy="720775"/>
          </a:xfrm>
          <a:prstGeom prst="rect">
            <a:avLst/>
          </a:prstGeom>
        </p:spPr>
        <p:txBody>
          <a:bodyPr anchor="t" rtlCol="false" tIns="0" lIns="0" bIns="0" rIns="0">
            <a:spAutoFit/>
          </a:bodyPr>
          <a:lstStyle/>
          <a:p>
            <a:pPr algn="l">
              <a:lnSpc>
                <a:spcPts val="5250"/>
              </a:lnSpc>
            </a:pPr>
            <a:r>
              <a:rPr lang="en-US" sz="4187" b="true">
                <a:solidFill>
                  <a:srgbClr val="333F70"/>
                </a:solidFill>
                <a:latin typeface="Arimo Bold"/>
                <a:ea typeface="Arimo Bold"/>
                <a:cs typeface="Arimo Bold"/>
                <a:sym typeface="Arimo Bold"/>
              </a:rPr>
              <a:t>Proposed Solution: The Healthcare Chatbot</a:t>
            </a:r>
          </a:p>
        </p:txBody>
      </p:sp>
      <p:sp>
        <p:nvSpPr>
          <p:cNvPr name="TextBox 7" id="7"/>
          <p:cNvSpPr txBox="true"/>
          <p:nvPr/>
        </p:nvSpPr>
        <p:spPr>
          <a:xfrm rot="0">
            <a:off x="942529" y="2092821"/>
            <a:ext cx="16402942" cy="507206"/>
          </a:xfrm>
          <a:prstGeom prst="rect">
            <a:avLst/>
          </a:prstGeom>
        </p:spPr>
        <p:txBody>
          <a:bodyPr anchor="t" rtlCol="false" tIns="0" lIns="0" bIns="0" rIns="0">
            <a:spAutoFit/>
          </a:bodyPr>
          <a:lstStyle/>
          <a:p>
            <a:pPr algn="l">
              <a:lnSpc>
                <a:spcPts val="3374"/>
              </a:lnSpc>
            </a:pPr>
            <a:r>
              <a:rPr lang="en-US" sz="2062">
                <a:solidFill>
                  <a:srgbClr val="333F70"/>
                </a:solidFill>
                <a:latin typeface="Open Sans"/>
                <a:ea typeface="Open Sans"/>
                <a:cs typeface="Open Sans"/>
                <a:sym typeface="Open Sans"/>
              </a:rPr>
              <a:t>We propose a dynamic, multi-functional chatbot capable of handling various health inquiries with a focus on safety and clarity.</a:t>
            </a:r>
          </a:p>
        </p:txBody>
      </p:sp>
      <p:grpSp>
        <p:nvGrpSpPr>
          <p:cNvPr name="Group 8" id="8"/>
          <p:cNvGrpSpPr/>
          <p:nvPr/>
        </p:nvGrpSpPr>
        <p:grpSpPr>
          <a:xfrm rot="0">
            <a:off x="937766" y="2898130"/>
            <a:ext cx="8076308" cy="3088333"/>
            <a:chOff x="0" y="0"/>
            <a:chExt cx="10768410" cy="4117777"/>
          </a:xfrm>
        </p:grpSpPr>
        <p:sp>
          <p:nvSpPr>
            <p:cNvPr name="Freeform 9" id="9"/>
            <p:cNvSpPr/>
            <p:nvPr/>
          </p:nvSpPr>
          <p:spPr>
            <a:xfrm flipH="false" flipV="false" rot="0">
              <a:off x="6350" y="6350"/>
              <a:ext cx="10755757" cy="4105148"/>
            </a:xfrm>
            <a:custGeom>
              <a:avLst/>
              <a:gdLst/>
              <a:ahLst/>
              <a:cxnLst/>
              <a:rect r="r" b="b" t="t" l="l"/>
              <a:pathLst>
                <a:path h="4105148" w="10755757">
                  <a:moveTo>
                    <a:pt x="0" y="150876"/>
                  </a:moveTo>
                  <a:cubicBezTo>
                    <a:pt x="0" y="67564"/>
                    <a:pt x="67691" y="0"/>
                    <a:pt x="151130" y="0"/>
                  </a:cubicBezTo>
                  <a:lnTo>
                    <a:pt x="10604627" y="0"/>
                  </a:lnTo>
                  <a:cubicBezTo>
                    <a:pt x="10688066" y="0"/>
                    <a:pt x="10755757" y="67564"/>
                    <a:pt x="10755757" y="150876"/>
                  </a:cubicBezTo>
                  <a:lnTo>
                    <a:pt x="10755757" y="3954272"/>
                  </a:lnTo>
                  <a:cubicBezTo>
                    <a:pt x="10755757" y="4037584"/>
                    <a:pt x="10688066" y="4105148"/>
                    <a:pt x="10604627" y="4105148"/>
                  </a:cubicBezTo>
                  <a:lnTo>
                    <a:pt x="151130" y="4105148"/>
                  </a:lnTo>
                  <a:cubicBezTo>
                    <a:pt x="67691" y="4105148"/>
                    <a:pt x="0" y="4037584"/>
                    <a:pt x="0" y="3954272"/>
                  </a:cubicBezTo>
                  <a:close/>
                </a:path>
              </a:pathLst>
            </a:custGeom>
            <a:solidFill>
              <a:srgbClr val="E2F3EF"/>
            </a:solidFill>
          </p:spPr>
        </p:sp>
        <p:sp>
          <p:nvSpPr>
            <p:cNvPr name="Freeform 10" id="10"/>
            <p:cNvSpPr/>
            <p:nvPr/>
          </p:nvSpPr>
          <p:spPr>
            <a:xfrm flipH="false" flipV="false" rot="0">
              <a:off x="0" y="0"/>
              <a:ext cx="10768457" cy="4117848"/>
            </a:xfrm>
            <a:custGeom>
              <a:avLst/>
              <a:gdLst/>
              <a:ahLst/>
              <a:cxnLst/>
              <a:rect r="r" b="b" t="t" l="l"/>
              <a:pathLst>
                <a:path h="4117848" w="10768457">
                  <a:moveTo>
                    <a:pt x="0" y="157226"/>
                  </a:moveTo>
                  <a:cubicBezTo>
                    <a:pt x="0" y="70358"/>
                    <a:pt x="70485" y="0"/>
                    <a:pt x="157480" y="0"/>
                  </a:cubicBezTo>
                  <a:lnTo>
                    <a:pt x="10610977" y="0"/>
                  </a:lnTo>
                  <a:lnTo>
                    <a:pt x="10610977" y="6350"/>
                  </a:lnTo>
                  <a:lnTo>
                    <a:pt x="10610977" y="0"/>
                  </a:lnTo>
                  <a:cubicBezTo>
                    <a:pt x="10697972" y="0"/>
                    <a:pt x="10768457" y="70358"/>
                    <a:pt x="10768457" y="157226"/>
                  </a:cubicBezTo>
                  <a:lnTo>
                    <a:pt x="10762107" y="157226"/>
                  </a:lnTo>
                  <a:lnTo>
                    <a:pt x="10768457" y="157226"/>
                  </a:lnTo>
                  <a:lnTo>
                    <a:pt x="10768457" y="3960622"/>
                  </a:lnTo>
                  <a:lnTo>
                    <a:pt x="10762107" y="3960622"/>
                  </a:lnTo>
                  <a:lnTo>
                    <a:pt x="10768457" y="3960622"/>
                  </a:lnTo>
                  <a:cubicBezTo>
                    <a:pt x="10768457" y="4047490"/>
                    <a:pt x="10697972" y="4117848"/>
                    <a:pt x="10610977" y="4117848"/>
                  </a:cubicBezTo>
                  <a:lnTo>
                    <a:pt x="10610977" y="4111498"/>
                  </a:lnTo>
                  <a:lnTo>
                    <a:pt x="10610977" y="4117848"/>
                  </a:lnTo>
                  <a:lnTo>
                    <a:pt x="157480" y="4117848"/>
                  </a:lnTo>
                  <a:lnTo>
                    <a:pt x="157480" y="4111498"/>
                  </a:lnTo>
                  <a:lnTo>
                    <a:pt x="157480" y="4117848"/>
                  </a:lnTo>
                  <a:cubicBezTo>
                    <a:pt x="70485" y="4117848"/>
                    <a:pt x="0" y="4047490"/>
                    <a:pt x="0" y="3960622"/>
                  </a:cubicBezTo>
                  <a:lnTo>
                    <a:pt x="0" y="157226"/>
                  </a:lnTo>
                  <a:lnTo>
                    <a:pt x="6350" y="157226"/>
                  </a:lnTo>
                  <a:lnTo>
                    <a:pt x="0" y="157226"/>
                  </a:lnTo>
                  <a:moveTo>
                    <a:pt x="12700" y="157226"/>
                  </a:moveTo>
                  <a:lnTo>
                    <a:pt x="12700" y="3960622"/>
                  </a:lnTo>
                  <a:lnTo>
                    <a:pt x="6350" y="3960622"/>
                  </a:lnTo>
                  <a:lnTo>
                    <a:pt x="12700" y="3960622"/>
                  </a:lnTo>
                  <a:cubicBezTo>
                    <a:pt x="12700" y="4040378"/>
                    <a:pt x="77470" y="4105148"/>
                    <a:pt x="157480" y="4105148"/>
                  </a:cubicBezTo>
                  <a:lnTo>
                    <a:pt x="10610977" y="4105148"/>
                  </a:lnTo>
                  <a:cubicBezTo>
                    <a:pt x="10690987" y="4105148"/>
                    <a:pt x="10755757" y="4040505"/>
                    <a:pt x="10755757" y="3960622"/>
                  </a:cubicBezTo>
                  <a:lnTo>
                    <a:pt x="10755757" y="157226"/>
                  </a:lnTo>
                  <a:cubicBezTo>
                    <a:pt x="10755757" y="77470"/>
                    <a:pt x="10690987" y="12700"/>
                    <a:pt x="10610977" y="12700"/>
                  </a:cubicBezTo>
                  <a:lnTo>
                    <a:pt x="157480" y="12700"/>
                  </a:lnTo>
                  <a:lnTo>
                    <a:pt x="157480" y="6350"/>
                  </a:lnTo>
                  <a:lnTo>
                    <a:pt x="157480" y="12700"/>
                  </a:lnTo>
                  <a:cubicBezTo>
                    <a:pt x="77470" y="12700"/>
                    <a:pt x="12700" y="77343"/>
                    <a:pt x="12700" y="157226"/>
                  </a:cubicBezTo>
                  <a:close/>
                </a:path>
              </a:pathLst>
            </a:custGeom>
            <a:solidFill>
              <a:srgbClr val="BCDBD4"/>
            </a:solidFill>
          </p:spPr>
        </p:sp>
      </p:grpSp>
      <p:grpSp>
        <p:nvGrpSpPr>
          <p:cNvPr name="Group 11" id="11"/>
          <p:cNvGrpSpPr/>
          <p:nvPr/>
        </p:nvGrpSpPr>
        <p:grpSpPr>
          <a:xfrm rot="0">
            <a:off x="1221284" y="3181648"/>
            <a:ext cx="807839" cy="807839"/>
            <a:chOff x="0" y="0"/>
            <a:chExt cx="1077118" cy="1077118"/>
          </a:xfrm>
        </p:grpSpPr>
        <p:sp>
          <p:nvSpPr>
            <p:cNvPr name="Freeform 12" id="12"/>
            <p:cNvSpPr/>
            <p:nvPr/>
          </p:nvSpPr>
          <p:spPr>
            <a:xfrm flipH="false" flipV="false" rot="0">
              <a:off x="0" y="0"/>
              <a:ext cx="1077087" cy="1077087"/>
            </a:xfrm>
            <a:custGeom>
              <a:avLst/>
              <a:gdLst/>
              <a:ahLst/>
              <a:cxnLst/>
              <a:rect r="r" b="b" t="t" l="l"/>
              <a:pathLst>
                <a:path h="1077087" w="1077087">
                  <a:moveTo>
                    <a:pt x="0" y="538607"/>
                  </a:moveTo>
                  <a:cubicBezTo>
                    <a:pt x="0" y="241173"/>
                    <a:pt x="241173" y="0"/>
                    <a:pt x="538607" y="0"/>
                  </a:cubicBezTo>
                  <a:cubicBezTo>
                    <a:pt x="836041" y="0"/>
                    <a:pt x="1077087" y="241173"/>
                    <a:pt x="1077087" y="538607"/>
                  </a:cubicBezTo>
                  <a:cubicBezTo>
                    <a:pt x="1077087" y="836041"/>
                    <a:pt x="836041" y="1077087"/>
                    <a:pt x="538607" y="1077087"/>
                  </a:cubicBezTo>
                  <a:cubicBezTo>
                    <a:pt x="241173" y="1077087"/>
                    <a:pt x="0" y="836041"/>
                    <a:pt x="0" y="538607"/>
                  </a:cubicBezTo>
                  <a:close/>
                </a:path>
              </a:pathLst>
            </a:custGeom>
            <a:solidFill>
              <a:srgbClr val="26A688"/>
            </a:solidFill>
          </p:spPr>
        </p:sp>
      </p:grpSp>
      <p:grpSp>
        <p:nvGrpSpPr>
          <p:cNvPr name="Group 13" id="13"/>
          <p:cNvGrpSpPr>
            <a:grpSpLocks noChangeAspect="true"/>
          </p:cNvGrpSpPr>
          <p:nvPr/>
        </p:nvGrpSpPr>
        <p:grpSpPr>
          <a:xfrm rot="0">
            <a:off x="1443484" y="3358306"/>
            <a:ext cx="363439" cy="454372"/>
            <a:chOff x="0" y="0"/>
            <a:chExt cx="484585" cy="605830"/>
          </a:xfrm>
        </p:grpSpPr>
        <p:sp>
          <p:nvSpPr>
            <p:cNvPr name="Freeform 14" id="14" descr="preencoded.png"/>
            <p:cNvSpPr/>
            <p:nvPr/>
          </p:nvSpPr>
          <p:spPr>
            <a:xfrm flipH="false" flipV="false" rot="0">
              <a:off x="0" y="0"/>
              <a:ext cx="484632" cy="605790"/>
            </a:xfrm>
            <a:custGeom>
              <a:avLst/>
              <a:gdLst/>
              <a:ahLst/>
              <a:cxnLst/>
              <a:rect r="r" b="b" t="t" l="l"/>
              <a:pathLst>
                <a:path h="605790" w="484632">
                  <a:moveTo>
                    <a:pt x="0" y="0"/>
                  </a:moveTo>
                  <a:lnTo>
                    <a:pt x="484632" y="0"/>
                  </a:lnTo>
                  <a:lnTo>
                    <a:pt x="484632" y="605790"/>
                  </a:lnTo>
                  <a:lnTo>
                    <a:pt x="0" y="605790"/>
                  </a:lnTo>
                  <a:lnTo>
                    <a:pt x="0" y="0"/>
                  </a:lnTo>
                  <a:close/>
                </a:path>
              </a:pathLst>
            </a:custGeom>
            <a:blipFill>
              <a:blip r:embed="rId3"/>
              <a:stretch>
                <a:fillRect l="0" t="-518" r="9" b="-524"/>
              </a:stretch>
            </a:blipFill>
          </p:spPr>
        </p:sp>
      </p:grpSp>
      <p:sp>
        <p:nvSpPr>
          <p:cNvPr name="TextBox 15" id="15"/>
          <p:cNvSpPr txBox="true"/>
          <p:nvPr/>
        </p:nvSpPr>
        <p:spPr>
          <a:xfrm rot="0">
            <a:off x="1221284" y="4220616"/>
            <a:ext cx="4322118" cy="458838"/>
          </a:xfrm>
          <a:prstGeom prst="rect">
            <a:avLst/>
          </a:prstGeom>
        </p:spPr>
        <p:txBody>
          <a:bodyPr anchor="t" rtlCol="false" tIns="0" lIns="0" bIns="0" rIns="0">
            <a:spAutoFit/>
          </a:bodyPr>
          <a:lstStyle/>
          <a:p>
            <a:pPr algn="l">
              <a:lnSpc>
                <a:spcPts val="3312"/>
              </a:lnSpc>
            </a:pPr>
            <a:r>
              <a:rPr lang="en-US" sz="2625" b="true">
                <a:solidFill>
                  <a:srgbClr val="333F70"/>
                </a:solidFill>
                <a:latin typeface="Arimo Bold"/>
                <a:ea typeface="Arimo Bold"/>
                <a:cs typeface="Arimo Bold"/>
                <a:sym typeface="Arimo Bold"/>
              </a:rPr>
              <a:t>Disease Information</a:t>
            </a:r>
          </a:p>
        </p:txBody>
      </p:sp>
      <p:sp>
        <p:nvSpPr>
          <p:cNvPr name="TextBox 16" id="16"/>
          <p:cNvSpPr txBox="true"/>
          <p:nvPr/>
        </p:nvSpPr>
        <p:spPr>
          <a:xfrm rot="0">
            <a:off x="1221284" y="4764732"/>
            <a:ext cx="7509272" cy="938212"/>
          </a:xfrm>
          <a:prstGeom prst="rect">
            <a:avLst/>
          </a:prstGeom>
        </p:spPr>
        <p:txBody>
          <a:bodyPr anchor="t" rtlCol="false" tIns="0" lIns="0" bIns="0" rIns="0">
            <a:spAutoFit/>
          </a:bodyPr>
          <a:lstStyle/>
          <a:p>
            <a:pPr algn="l">
              <a:lnSpc>
                <a:spcPts val="3374"/>
              </a:lnSpc>
            </a:pPr>
            <a:r>
              <a:rPr lang="en-US" sz="2062">
                <a:solidFill>
                  <a:srgbClr val="333F70"/>
                </a:solidFill>
                <a:latin typeface="Open Sans"/>
                <a:ea typeface="Open Sans"/>
                <a:cs typeface="Open Sans"/>
                <a:sym typeface="Open Sans"/>
              </a:rPr>
              <a:t>Clear, simple explanations of common diseases, symptoms, and causes.</a:t>
            </a:r>
          </a:p>
        </p:txBody>
      </p:sp>
      <p:grpSp>
        <p:nvGrpSpPr>
          <p:cNvPr name="Group 17" id="17"/>
          <p:cNvGrpSpPr/>
          <p:nvPr/>
        </p:nvGrpSpPr>
        <p:grpSpPr>
          <a:xfrm rot="0">
            <a:off x="9273779" y="2898130"/>
            <a:ext cx="8076456" cy="3088333"/>
            <a:chOff x="0" y="0"/>
            <a:chExt cx="10768608" cy="4117777"/>
          </a:xfrm>
        </p:grpSpPr>
        <p:sp>
          <p:nvSpPr>
            <p:cNvPr name="Freeform 18" id="18"/>
            <p:cNvSpPr/>
            <p:nvPr/>
          </p:nvSpPr>
          <p:spPr>
            <a:xfrm flipH="false" flipV="false" rot="0">
              <a:off x="6350" y="6350"/>
              <a:ext cx="10755885" cy="4105148"/>
            </a:xfrm>
            <a:custGeom>
              <a:avLst/>
              <a:gdLst/>
              <a:ahLst/>
              <a:cxnLst/>
              <a:rect r="r" b="b" t="t" l="l"/>
              <a:pathLst>
                <a:path h="4105148" w="10755885">
                  <a:moveTo>
                    <a:pt x="0" y="150876"/>
                  </a:moveTo>
                  <a:cubicBezTo>
                    <a:pt x="0" y="67564"/>
                    <a:pt x="67691" y="0"/>
                    <a:pt x="151130" y="0"/>
                  </a:cubicBezTo>
                  <a:lnTo>
                    <a:pt x="10604754" y="0"/>
                  </a:lnTo>
                  <a:cubicBezTo>
                    <a:pt x="10688193" y="0"/>
                    <a:pt x="10755885" y="67564"/>
                    <a:pt x="10755885" y="150876"/>
                  </a:cubicBezTo>
                  <a:lnTo>
                    <a:pt x="10755885" y="3954272"/>
                  </a:lnTo>
                  <a:cubicBezTo>
                    <a:pt x="10755885" y="4037584"/>
                    <a:pt x="10688193" y="4105148"/>
                    <a:pt x="10604754" y="4105148"/>
                  </a:cubicBezTo>
                  <a:lnTo>
                    <a:pt x="151130" y="4105148"/>
                  </a:lnTo>
                  <a:cubicBezTo>
                    <a:pt x="67691" y="4105148"/>
                    <a:pt x="0" y="4037584"/>
                    <a:pt x="0" y="3954272"/>
                  </a:cubicBezTo>
                  <a:close/>
                </a:path>
              </a:pathLst>
            </a:custGeom>
            <a:solidFill>
              <a:srgbClr val="E2F3EF"/>
            </a:solidFill>
          </p:spPr>
        </p:sp>
        <p:sp>
          <p:nvSpPr>
            <p:cNvPr name="Freeform 19" id="19"/>
            <p:cNvSpPr/>
            <p:nvPr/>
          </p:nvSpPr>
          <p:spPr>
            <a:xfrm flipH="false" flipV="false" rot="0">
              <a:off x="0" y="0"/>
              <a:ext cx="10768585" cy="4117848"/>
            </a:xfrm>
            <a:custGeom>
              <a:avLst/>
              <a:gdLst/>
              <a:ahLst/>
              <a:cxnLst/>
              <a:rect r="r" b="b" t="t" l="l"/>
              <a:pathLst>
                <a:path h="4117848" w="10768585">
                  <a:moveTo>
                    <a:pt x="0" y="157226"/>
                  </a:moveTo>
                  <a:cubicBezTo>
                    <a:pt x="0" y="70358"/>
                    <a:pt x="70485" y="0"/>
                    <a:pt x="157480" y="0"/>
                  </a:cubicBezTo>
                  <a:lnTo>
                    <a:pt x="10611104" y="0"/>
                  </a:lnTo>
                  <a:lnTo>
                    <a:pt x="10611104" y="6350"/>
                  </a:lnTo>
                  <a:lnTo>
                    <a:pt x="10611104" y="0"/>
                  </a:lnTo>
                  <a:cubicBezTo>
                    <a:pt x="10698099" y="0"/>
                    <a:pt x="10768585" y="70358"/>
                    <a:pt x="10768585" y="157226"/>
                  </a:cubicBezTo>
                  <a:lnTo>
                    <a:pt x="10762235" y="157226"/>
                  </a:lnTo>
                  <a:lnTo>
                    <a:pt x="10768585" y="157226"/>
                  </a:lnTo>
                  <a:lnTo>
                    <a:pt x="10768585" y="3960622"/>
                  </a:lnTo>
                  <a:lnTo>
                    <a:pt x="10762235" y="3960622"/>
                  </a:lnTo>
                  <a:lnTo>
                    <a:pt x="10768585" y="3960622"/>
                  </a:lnTo>
                  <a:cubicBezTo>
                    <a:pt x="10768585" y="4047490"/>
                    <a:pt x="10698099" y="4117848"/>
                    <a:pt x="10611104" y="4117848"/>
                  </a:cubicBezTo>
                  <a:lnTo>
                    <a:pt x="10611104" y="4111498"/>
                  </a:lnTo>
                  <a:lnTo>
                    <a:pt x="10611104" y="4117848"/>
                  </a:lnTo>
                  <a:lnTo>
                    <a:pt x="157480" y="4117848"/>
                  </a:lnTo>
                  <a:lnTo>
                    <a:pt x="157480" y="4111498"/>
                  </a:lnTo>
                  <a:lnTo>
                    <a:pt x="157480" y="4117848"/>
                  </a:lnTo>
                  <a:cubicBezTo>
                    <a:pt x="70485" y="4117848"/>
                    <a:pt x="0" y="4047490"/>
                    <a:pt x="0" y="3960622"/>
                  </a:cubicBezTo>
                  <a:lnTo>
                    <a:pt x="0" y="157226"/>
                  </a:lnTo>
                  <a:lnTo>
                    <a:pt x="6350" y="157226"/>
                  </a:lnTo>
                  <a:lnTo>
                    <a:pt x="0" y="157226"/>
                  </a:lnTo>
                  <a:moveTo>
                    <a:pt x="12700" y="157226"/>
                  </a:moveTo>
                  <a:lnTo>
                    <a:pt x="12700" y="3960622"/>
                  </a:lnTo>
                  <a:lnTo>
                    <a:pt x="6350" y="3960622"/>
                  </a:lnTo>
                  <a:lnTo>
                    <a:pt x="12700" y="3960622"/>
                  </a:lnTo>
                  <a:cubicBezTo>
                    <a:pt x="12700" y="4040378"/>
                    <a:pt x="77470" y="4105148"/>
                    <a:pt x="157480" y="4105148"/>
                  </a:cubicBezTo>
                  <a:lnTo>
                    <a:pt x="10611104" y="4105148"/>
                  </a:lnTo>
                  <a:cubicBezTo>
                    <a:pt x="10691114" y="4105148"/>
                    <a:pt x="10755885" y="4040505"/>
                    <a:pt x="10755885" y="3960622"/>
                  </a:cubicBezTo>
                  <a:lnTo>
                    <a:pt x="10755885" y="157226"/>
                  </a:lnTo>
                  <a:cubicBezTo>
                    <a:pt x="10755885" y="77470"/>
                    <a:pt x="10691114" y="12700"/>
                    <a:pt x="10611104" y="12700"/>
                  </a:cubicBezTo>
                  <a:lnTo>
                    <a:pt x="157480" y="12700"/>
                  </a:lnTo>
                  <a:lnTo>
                    <a:pt x="157480" y="6350"/>
                  </a:lnTo>
                  <a:lnTo>
                    <a:pt x="157480" y="12700"/>
                  </a:lnTo>
                  <a:cubicBezTo>
                    <a:pt x="77470" y="12700"/>
                    <a:pt x="12700" y="77343"/>
                    <a:pt x="12700" y="157226"/>
                  </a:cubicBezTo>
                  <a:close/>
                </a:path>
              </a:pathLst>
            </a:custGeom>
            <a:solidFill>
              <a:srgbClr val="BCDBD4"/>
            </a:solidFill>
          </p:spPr>
        </p:sp>
      </p:grpSp>
      <p:grpSp>
        <p:nvGrpSpPr>
          <p:cNvPr name="Group 20" id="20"/>
          <p:cNvGrpSpPr/>
          <p:nvPr/>
        </p:nvGrpSpPr>
        <p:grpSpPr>
          <a:xfrm rot="0">
            <a:off x="9557296" y="3181648"/>
            <a:ext cx="807839" cy="807839"/>
            <a:chOff x="0" y="0"/>
            <a:chExt cx="1077118" cy="1077118"/>
          </a:xfrm>
        </p:grpSpPr>
        <p:sp>
          <p:nvSpPr>
            <p:cNvPr name="Freeform 21" id="21"/>
            <p:cNvSpPr/>
            <p:nvPr/>
          </p:nvSpPr>
          <p:spPr>
            <a:xfrm flipH="false" flipV="false" rot="0">
              <a:off x="0" y="0"/>
              <a:ext cx="1077087" cy="1077087"/>
            </a:xfrm>
            <a:custGeom>
              <a:avLst/>
              <a:gdLst/>
              <a:ahLst/>
              <a:cxnLst/>
              <a:rect r="r" b="b" t="t" l="l"/>
              <a:pathLst>
                <a:path h="1077087" w="1077087">
                  <a:moveTo>
                    <a:pt x="0" y="538607"/>
                  </a:moveTo>
                  <a:cubicBezTo>
                    <a:pt x="0" y="241173"/>
                    <a:pt x="241173" y="0"/>
                    <a:pt x="538607" y="0"/>
                  </a:cubicBezTo>
                  <a:cubicBezTo>
                    <a:pt x="836041" y="0"/>
                    <a:pt x="1077087" y="241173"/>
                    <a:pt x="1077087" y="538607"/>
                  </a:cubicBezTo>
                  <a:cubicBezTo>
                    <a:pt x="1077087" y="836041"/>
                    <a:pt x="836041" y="1077087"/>
                    <a:pt x="538607" y="1077087"/>
                  </a:cubicBezTo>
                  <a:cubicBezTo>
                    <a:pt x="241173" y="1077087"/>
                    <a:pt x="0" y="836041"/>
                    <a:pt x="0" y="538607"/>
                  </a:cubicBezTo>
                  <a:close/>
                </a:path>
              </a:pathLst>
            </a:custGeom>
            <a:solidFill>
              <a:srgbClr val="26A688"/>
            </a:solidFill>
          </p:spPr>
        </p:sp>
      </p:grpSp>
      <p:grpSp>
        <p:nvGrpSpPr>
          <p:cNvPr name="Group 22" id="22"/>
          <p:cNvGrpSpPr>
            <a:grpSpLocks noChangeAspect="true"/>
          </p:cNvGrpSpPr>
          <p:nvPr/>
        </p:nvGrpSpPr>
        <p:grpSpPr>
          <a:xfrm rot="0">
            <a:off x="9779496" y="3358306"/>
            <a:ext cx="363439" cy="454372"/>
            <a:chOff x="0" y="0"/>
            <a:chExt cx="484585" cy="605830"/>
          </a:xfrm>
        </p:grpSpPr>
        <p:sp>
          <p:nvSpPr>
            <p:cNvPr name="Freeform 23" id="23" descr="preencoded.png"/>
            <p:cNvSpPr/>
            <p:nvPr/>
          </p:nvSpPr>
          <p:spPr>
            <a:xfrm flipH="false" flipV="false" rot="0">
              <a:off x="0" y="0"/>
              <a:ext cx="484632" cy="605790"/>
            </a:xfrm>
            <a:custGeom>
              <a:avLst/>
              <a:gdLst/>
              <a:ahLst/>
              <a:cxnLst/>
              <a:rect r="r" b="b" t="t" l="l"/>
              <a:pathLst>
                <a:path h="605790" w="484632">
                  <a:moveTo>
                    <a:pt x="0" y="0"/>
                  </a:moveTo>
                  <a:lnTo>
                    <a:pt x="484632" y="0"/>
                  </a:lnTo>
                  <a:lnTo>
                    <a:pt x="484632" y="605790"/>
                  </a:lnTo>
                  <a:lnTo>
                    <a:pt x="0" y="605790"/>
                  </a:lnTo>
                  <a:lnTo>
                    <a:pt x="0" y="0"/>
                  </a:lnTo>
                  <a:close/>
                </a:path>
              </a:pathLst>
            </a:custGeom>
            <a:blipFill>
              <a:blip r:embed="rId4"/>
              <a:stretch>
                <a:fillRect l="0" t="-518" r="9" b="-524"/>
              </a:stretch>
            </a:blipFill>
          </p:spPr>
        </p:sp>
      </p:grpSp>
      <p:sp>
        <p:nvSpPr>
          <p:cNvPr name="TextBox 24" id="24"/>
          <p:cNvSpPr txBox="true"/>
          <p:nvPr/>
        </p:nvSpPr>
        <p:spPr>
          <a:xfrm rot="0">
            <a:off x="9557296" y="4220616"/>
            <a:ext cx="5180856" cy="458838"/>
          </a:xfrm>
          <a:prstGeom prst="rect">
            <a:avLst/>
          </a:prstGeom>
        </p:spPr>
        <p:txBody>
          <a:bodyPr anchor="t" rtlCol="false" tIns="0" lIns="0" bIns="0" rIns="0">
            <a:spAutoFit/>
          </a:bodyPr>
          <a:lstStyle/>
          <a:p>
            <a:pPr algn="l">
              <a:lnSpc>
                <a:spcPts val="3312"/>
              </a:lnSpc>
            </a:pPr>
            <a:r>
              <a:rPr lang="en-US" sz="2625" b="true">
                <a:solidFill>
                  <a:srgbClr val="333F70"/>
                </a:solidFill>
                <a:latin typeface="Arimo Bold"/>
                <a:ea typeface="Arimo Bold"/>
                <a:cs typeface="Arimo Bold"/>
                <a:sym typeface="Arimo Bold"/>
              </a:rPr>
              <a:t>Medication Suggestions</a:t>
            </a:r>
          </a:p>
        </p:txBody>
      </p:sp>
      <p:sp>
        <p:nvSpPr>
          <p:cNvPr name="TextBox 25" id="25"/>
          <p:cNvSpPr txBox="true"/>
          <p:nvPr/>
        </p:nvSpPr>
        <p:spPr>
          <a:xfrm rot="0">
            <a:off x="9557296" y="4764732"/>
            <a:ext cx="7509421" cy="938212"/>
          </a:xfrm>
          <a:prstGeom prst="rect">
            <a:avLst/>
          </a:prstGeom>
        </p:spPr>
        <p:txBody>
          <a:bodyPr anchor="t" rtlCol="false" tIns="0" lIns="0" bIns="0" rIns="0">
            <a:spAutoFit/>
          </a:bodyPr>
          <a:lstStyle/>
          <a:p>
            <a:pPr algn="l">
              <a:lnSpc>
                <a:spcPts val="3374"/>
              </a:lnSpc>
            </a:pPr>
            <a:r>
              <a:rPr lang="en-US" sz="2062">
                <a:solidFill>
                  <a:srgbClr val="333F70"/>
                </a:solidFill>
                <a:latin typeface="Open Sans"/>
                <a:ea typeface="Open Sans"/>
                <a:cs typeface="Open Sans"/>
                <a:sym typeface="Open Sans"/>
              </a:rPr>
              <a:t>Guidance on common over-the-counter (OTC) drugs and general usage (not prescriptions).</a:t>
            </a:r>
          </a:p>
        </p:txBody>
      </p:sp>
      <p:grpSp>
        <p:nvGrpSpPr>
          <p:cNvPr name="Group 26" id="26"/>
          <p:cNvGrpSpPr/>
          <p:nvPr/>
        </p:nvGrpSpPr>
        <p:grpSpPr>
          <a:xfrm rot="0">
            <a:off x="937766" y="6246167"/>
            <a:ext cx="8076308" cy="3088332"/>
            <a:chOff x="0" y="0"/>
            <a:chExt cx="10768410" cy="4117777"/>
          </a:xfrm>
        </p:grpSpPr>
        <p:sp>
          <p:nvSpPr>
            <p:cNvPr name="Freeform 27" id="27"/>
            <p:cNvSpPr/>
            <p:nvPr/>
          </p:nvSpPr>
          <p:spPr>
            <a:xfrm flipH="false" flipV="false" rot="0">
              <a:off x="6350" y="6350"/>
              <a:ext cx="10755757" cy="4105148"/>
            </a:xfrm>
            <a:custGeom>
              <a:avLst/>
              <a:gdLst/>
              <a:ahLst/>
              <a:cxnLst/>
              <a:rect r="r" b="b" t="t" l="l"/>
              <a:pathLst>
                <a:path h="4105148" w="10755757">
                  <a:moveTo>
                    <a:pt x="0" y="150876"/>
                  </a:moveTo>
                  <a:cubicBezTo>
                    <a:pt x="0" y="67564"/>
                    <a:pt x="67691" y="0"/>
                    <a:pt x="151130" y="0"/>
                  </a:cubicBezTo>
                  <a:lnTo>
                    <a:pt x="10604627" y="0"/>
                  </a:lnTo>
                  <a:cubicBezTo>
                    <a:pt x="10688066" y="0"/>
                    <a:pt x="10755757" y="67564"/>
                    <a:pt x="10755757" y="150876"/>
                  </a:cubicBezTo>
                  <a:lnTo>
                    <a:pt x="10755757" y="3954272"/>
                  </a:lnTo>
                  <a:cubicBezTo>
                    <a:pt x="10755757" y="4037584"/>
                    <a:pt x="10688066" y="4105148"/>
                    <a:pt x="10604627" y="4105148"/>
                  </a:cubicBezTo>
                  <a:lnTo>
                    <a:pt x="151130" y="4105148"/>
                  </a:lnTo>
                  <a:cubicBezTo>
                    <a:pt x="67691" y="4105148"/>
                    <a:pt x="0" y="4037584"/>
                    <a:pt x="0" y="3954272"/>
                  </a:cubicBezTo>
                  <a:close/>
                </a:path>
              </a:pathLst>
            </a:custGeom>
            <a:solidFill>
              <a:srgbClr val="E2F3EF"/>
            </a:solidFill>
          </p:spPr>
        </p:sp>
        <p:sp>
          <p:nvSpPr>
            <p:cNvPr name="Freeform 28" id="28"/>
            <p:cNvSpPr/>
            <p:nvPr/>
          </p:nvSpPr>
          <p:spPr>
            <a:xfrm flipH="false" flipV="false" rot="0">
              <a:off x="0" y="0"/>
              <a:ext cx="10768457" cy="4117848"/>
            </a:xfrm>
            <a:custGeom>
              <a:avLst/>
              <a:gdLst/>
              <a:ahLst/>
              <a:cxnLst/>
              <a:rect r="r" b="b" t="t" l="l"/>
              <a:pathLst>
                <a:path h="4117848" w="10768457">
                  <a:moveTo>
                    <a:pt x="0" y="157226"/>
                  </a:moveTo>
                  <a:cubicBezTo>
                    <a:pt x="0" y="70358"/>
                    <a:pt x="70485" y="0"/>
                    <a:pt x="157480" y="0"/>
                  </a:cubicBezTo>
                  <a:lnTo>
                    <a:pt x="10610977" y="0"/>
                  </a:lnTo>
                  <a:lnTo>
                    <a:pt x="10610977" y="6350"/>
                  </a:lnTo>
                  <a:lnTo>
                    <a:pt x="10610977" y="0"/>
                  </a:lnTo>
                  <a:cubicBezTo>
                    <a:pt x="10697972" y="0"/>
                    <a:pt x="10768457" y="70358"/>
                    <a:pt x="10768457" y="157226"/>
                  </a:cubicBezTo>
                  <a:lnTo>
                    <a:pt x="10762107" y="157226"/>
                  </a:lnTo>
                  <a:lnTo>
                    <a:pt x="10768457" y="157226"/>
                  </a:lnTo>
                  <a:lnTo>
                    <a:pt x="10768457" y="3960622"/>
                  </a:lnTo>
                  <a:lnTo>
                    <a:pt x="10762107" y="3960622"/>
                  </a:lnTo>
                  <a:lnTo>
                    <a:pt x="10768457" y="3960622"/>
                  </a:lnTo>
                  <a:cubicBezTo>
                    <a:pt x="10768457" y="4047490"/>
                    <a:pt x="10697972" y="4117848"/>
                    <a:pt x="10610977" y="4117848"/>
                  </a:cubicBezTo>
                  <a:lnTo>
                    <a:pt x="10610977" y="4111498"/>
                  </a:lnTo>
                  <a:lnTo>
                    <a:pt x="10610977" y="4117848"/>
                  </a:lnTo>
                  <a:lnTo>
                    <a:pt x="157480" y="4117848"/>
                  </a:lnTo>
                  <a:lnTo>
                    <a:pt x="157480" y="4111498"/>
                  </a:lnTo>
                  <a:lnTo>
                    <a:pt x="157480" y="4117848"/>
                  </a:lnTo>
                  <a:cubicBezTo>
                    <a:pt x="70485" y="4117848"/>
                    <a:pt x="0" y="4047490"/>
                    <a:pt x="0" y="3960622"/>
                  </a:cubicBezTo>
                  <a:lnTo>
                    <a:pt x="0" y="157226"/>
                  </a:lnTo>
                  <a:lnTo>
                    <a:pt x="6350" y="157226"/>
                  </a:lnTo>
                  <a:lnTo>
                    <a:pt x="0" y="157226"/>
                  </a:lnTo>
                  <a:moveTo>
                    <a:pt x="12700" y="157226"/>
                  </a:moveTo>
                  <a:lnTo>
                    <a:pt x="12700" y="3960622"/>
                  </a:lnTo>
                  <a:lnTo>
                    <a:pt x="6350" y="3960622"/>
                  </a:lnTo>
                  <a:lnTo>
                    <a:pt x="12700" y="3960622"/>
                  </a:lnTo>
                  <a:cubicBezTo>
                    <a:pt x="12700" y="4040378"/>
                    <a:pt x="77470" y="4105148"/>
                    <a:pt x="157480" y="4105148"/>
                  </a:cubicBezTo>
                  <a:lnTo>
                    <a:pt x="10610977" y="4105148"/>
                  </a:lnTo>
                  <a:cubicBezTo>
                    <a:pt x="10690987" y="4105148"/>
                    <a:pt x="10755757" y="4040505"/>
                    <a:pt x="10755757" y="3960622"/>
                  </a:cubicBezTo>
                  <a:lnTo>
                    <a:pt x="10755757" y="157226"/>
                  </a:lnTo>
                  <a:cubicBezTo>
                    <a:pt x="10755757" y="77470"/>
                    <a:pt x="10690987" y="12700"/>
                    <a:pt x="10610977" y="12700"/>
                  </a:cubicBezTo>
                  <a:lnTo>
                    <a:pt x="157480" y="12700"/>
                  </a:lnTo>
                  <a:lnTo>
                    <a:pt x="157480" y="6350"/>
                  </a:lnTo>
                  <a:lnTo>
                    <a:pt x="157480" y="12700"/>
                  </a:lnTo>
                  <a:cubicBezTo>
                    <a:pt x="77470" y="12700"/>
                    <a:pt x="12700" y="77343"/>
                    <a:pt x="12700" y="157226"/>
                  </a:cubicBezTo>
                  <a:close/>
                </a:path>
              </a:pathLst>
            </a:custGeom>
            <a:solidFill>
              <a:srgbClr val="BCDBD4"/>
            </a:solidFill>
          </p:spPr>
        </p:sp>
      </p:grpSp>
      <p:grpSp>
        <p:nvGrpSpPr>
          <p:cNvPr name="Group 29" id="29"/>
          <p:cNvGrpSpPr/>
          <p:nvPr/>
        </p:nvGrpSpPr>
        <p:grpSpPr>
          <a:xfrm rot="0">
            <a:off x="1221284" y="6529685"/>
            <a:ext cx="807839" cy="807839"/>
            <a:chOff x="0" y="0"/>
            <a:chExt cx="1077118" cy="1077118"/>
          </a:xfrm>
        </p:grpSpPr>
        <p:sp>
          <p:nvSpPr>
            <p:cNvPr name="Freeform 30" id="30"/>
            <p:cNvSpPr/>
            <p:nvPr/>
          </p:nvSpPr>
          <p:spPr>
            <a:xfrm flipH="false" flipV="false" rot="0">
              <a:off x="0" y="0"/>
              <a:ext cx="1077087" cy="1077087"/>
            </a:xfrm>
            <a:custGeom>
              <a:avLst/>
              <a:gdLst/>
              <a:ahLst/>
              <a:cxnLst/>
              <a:rect r="r" b="b" t="t" l="l"/>
              <a:pathLst>
                <a:path h="1077087" w="1077087">
                  <a:moveTo>
                    <a:pt x="0" y="538607"/>
                  </a:moveTo>
                  <a:cubicBezTo>
                    <a:pt x="0" y="241173"/>
                    <a:pt x="241173" y="0"/>
                    <a:pt x="538607" y="0"/>
                  </a:cubicBezTo>
                  <a:cubicBezTo>
                    <a:pt x="836041" y="0"/>
                    <a:pt x="1077087" y="241173"/>
                    <a:pt x="1077087" y="538607"/>
                  </a:cubicBezTo>
                  <a:cubicBezTo>
                    <a:pt x="1077087" y="836041"/>
                    <a:pt x="836041" y="1077087"/>
                    <a:pt x="538607" y="1077087"/>
                  </a:cubicBezTo>
                  <a:cubicBezTo>
                    <a:pt x="241173" y="1077087"/>
                    <a:pt x="0" y="836041"/>
                    <a:pt x="0" y="538607"/>
                  </a:cubicBezTo>
                  <a:close/>
                </a:path>
              </a:pathLst>
            </a:custGeom>
            <a:solidFill>
              <a:srgbClr val="26A688"/>
            </a:solidFill>
          </p:spPr>
        </p:sp>
      </p:grpSp>
      <p:grpSp>
        <p:nvGrpSpPr>
          <p:cNvPr name="Group 31" id="31"/>
          <p:cNvGrpSpPr>
            <a:grpSpLocks noChangeAspect="true"/>
          </p:cNvGrpSpPr>
          <p:nvPr/>
        </p:nvGrpSpPr>
        <p:grpSpPr>
          <a:xfrm rot="0">
            <a:off x="1443484" y="6706344"/>
            <a:ext cx="363439" cy="454373"/>
            <a:chOff x="0" y="0"/>
            <a:chExt cx="484585" cy="605830"/>
          </a:xfrm>
        </p:grpSpPr>
        <p:sp>
          <p:nvSpPr>
            <p:cNvPr name="Freeform 32" id="32" descr="preencoded.png"/>
            <p:cNvSpPr/>
            <p:nvPr/>
          </p:nvSpPr>
          <p:spPr>
            <a:xfrm flipH="false" flipV="false" rot="0">
              <a:off x="0" y="0"/>
              <a:ext cx="484632" cy="605790"/>
            </a:xfrm>
            <a:custGeom>
              <a:avLst/>
              <a:gdLst/>
              <a:ahLst/>
              <a:cxnLst/>
              <a:rect r="r" b="b" t="t" l="l"/>
              <a:pathLst>
                <a:path h="605790" w="484632">
                  <a:moveTo>
                    <a:pt x="0" y="0"/>
                  </a:moveTo>
                  <a:lnTo>
                    <a:pt x="484632" y="0"/>
                  </a:lnTo>
                  <a:lnTo>
                    <a:pt x="484632" y="605790"/>
                  </a:lnTo>
                  <a:lnTo>
                    <a:pt x="0" y="605790"/>
                  </a:lnTo>
                  <a:lnTo>
                    <a:pt x="0" y="0"/>
                  </a:lnTo>
                  <a:close/>
                </a:path>
              </a:pathLst>
            </a:custGeom>
            <a:blipFill>
              <a:blip r:embed="rId5"/>
              <a:stretch>
                <a:fillRect l="0" t="-518" r="9" b="-524"/>
              </a:stretch>
            </a:blipFill>
          </p:spPr>
        </p:sp>
      </p:grpSp>
      <p:sp>
        <p:nvSpPr>
          <p:cNvPr name="TextBox 33" id="33"/>
          <p:cNvSpPr txBox="true"/>
          <p:nvPr/>
        </p:nvSpPr>
        <p:spPr>
          <a:xfrm rot="0">
            <a:off x="1221284" y="7568654"/>
            <a:ext cx="3776216" cy="458837"/>
          </a:xfrm>
          <a:prstGeom prst="rect">
            <a:avLst/>
          </a:prstGeom>
        </p:spPr>
        <p:txBody>
          <a:bodyPr anchor="t" rtlCol="false" tIns="0" lIns="0" bIns="0" rIns="0">
            <a:spAutoFit/>
          </a:bodyPr>
          <a:lstStyle/>
          <a:p>
            <a:pPr algn="l">
              <a:lnSpc>
                <a:spcPts val="3312"/>
              </a:lnSpc>
            </a:pPr>
            <a:r>
              <a:rPr lang="en-US" sz="2625" b="true">
                <a:solidFill>
                  <a:srgbClr val="333F70"/>
                </a:solidFill>
                <a:latin typeface="Arimo Bold"/>
                <a:ea typeface="Arimo Bold"/>
                <a:cs typeface="Arimo Bold"/>
                <a:sym typeface="Arimo Bold"/>
              </a:rPr>
              <a:t>Natural Remedies</a:t>
            </a:r>
          </a:p>
        </p:txBody>
      </p:sp>
      <p:sp>
        <p:nvSpPr>
          <p:cNvPr name="TextBox 34" id="34"/>
          <p:cNvSpPr txBox="true"/>
          <p:nvPr/>
        </p:nvSpPr>
        <p:spPr>
          <a:xfrm rot="0">
            <a:off x="1221284" y="8112770"/>
            <a:ext cx="7509272" cy="938212"/>
          </a:xfrm>
          <a:prstGeom prst="rect">
            <a:avLst/>
          </a:prstGeom>
        </p:spPr>
        <p:txBody>
          <a:bodyPr anchor="t" rtlCol="false" tIns="0" lIns="0" bIns="0" rIns="0">
            <a:spAutoFit/>
          </a:bodyPr>
          <a:lstStyle/>
          <a:p>
            <a:pPr algn="l">
              <a:lnSpc>
                <a:spcPts val="3374"/>
              </a:lnSpc>
            </a:pPr>
            <a:r>
              <a:rPr lang="en-US" sz="2062">
                <a:solidFill>
                  <a:srgbClr val="333F70"/>
                </a:solidFill>
                <a:latin typeface="Open Sans"/>
                <a:ea typeface="Open Sans"/>
                <a:cs typeface="Open Sans"/>
                <a:sym typeface="Open Sans"/>
              </a:rPr>
              <a:t>Suggesting scientifically supported natural remedies and lifestyle changes for minor ailments.</a:t>
            </a:r>
          </a:p>
        </p:txBody>
      </p:sp>
      <p:grpSp>
        <p:nvGrpSpPr>
          <p:cNvPr name="Group 35" id="35"/>
          <p:cNvGrpSpPr/>
          <p:nvPr/>
        </p:nvGrpSpPr>
        <p:grpSpPr>
          <a:xfrm rot="0">
            <a:off x="9273779" y="6246167"/>
            <a:ext cx="8076456" cy="3088332"/>
            <a:chOff x="0" y="0"/>
            <a:chExt cx="10768608" cy="4117777"/>
          </a:xfrm>
        </p:grpSpPr>
        <p:sp>
          <p:nvSpPr>
            <p:cNvPr name="Freeform 36" id="36"/>
            <p:cNvSpPr/>
            <p:nvPr/>
          </p:nvSpPr>
          <p:spPr>
            <a:xfrm flipH="false" flipV="false" rot="0">
              <a:off x="6350" y="6350"/>
              <a:ext cx="10755885" cy="4105148"/>
            </a:xfrm>
            <a:custGeom>
              <a:avLst/>
              <a:gdLst/>
              <a:ahLst/>
              <a:cxnLst/>
              <a:rect r="r" b="b" t="t" l="l"/>
              <a:pathLst>
                <a:path h="4105148" w="10755885">
                  <a:moveTo>
                    <a:pt x="0" y="150876"/>
                  </a:moveTo>
                  <a:cubicBezTo>
                    <a:pt x="0" y="67564"/>
                    <a:pt x="67691" y="0"/>
                    <a:pt x="151130" y="0"/>
                  </a:cubicBezTo>
                  <a:lnTo>
                    <a:pt x="10604754" y="0"/>
                  </a:lnTo>
                  <a:cubicBezTo>
                    <a:pt x="10688193" y="0"/>
                    <a:pt x="10755885" y="67564"/>
                    <a:pt x="10755885" y="150876"/>
                  </a:cubicBezTo>
                  <a:lnTo>
                    <a:pt x="10755885" y="3954272"/>
                  </a:lnTo>
                  <a:cubicBezTo>
                    <a:pt x="10755885" y="4037584"/>
                    <a:pt x="10688193" y="4105148"/>
                    <a:pt x="10604754" y="4105148"/>
                  </a:cubicBezTo>
                  <a:lnTo>
                    <a:pt x="151130" y="4105148"/>
                  </a:lnTo>
                  <a:cubicBezTo>
                    <a:pt x="67691" y="4105148"/>
                    <a:pt x="0" y="4037584"/>
                    <a:pt x="0" y="3954272"/>
                  </a:cubicBezTo>
                  <a:close/>
                </a:path>
              </a:pathLst>
            </a:custGeom>
            <a:solidFill>
              <a:srgbClr val="E2F3EF"/>
            </a:solidFill>
          </p:spPr>
        </p:sp>
        <p:sp>
          <p:nvSpPr>
            <p:cNvPr name="Freeform 37" id="37"/>
            <p:cNvSpPr/>
            <p:nvPr/>
          </p:nvSpPr>
          <p:spPr>
            <a:xfrm flipH="false" flipV="false" rot="0">
              <a:off x="0" y="0"/>
              <a:ext cx="10768585" cy="4117848"/>
            </a:xfrm>
            <a:custGeom>
              <a:avLst/>
              <a:gdLst/>
              <a:ahLst/>
              <a:cxnLst/>
              <a:rect r="r" b="b" t="t" l="l"/>
              <a:pathLst>
                <a:path h="4117848" w="10768585">
                  <a:moveTo>
                    <a:pt x="0" y="157226"/>
                  </a:moveTo>
                  <a:cubicBezTo>
                    <a:pt x="0" y="70358"/>
                    <a:pt x="70485" y="0"/>
                    <a:pt x="157480" y="0"/>
                  </a:cubicBezTo>
                  <a:lnTo>
                    <a:pt x="10611104" y="0"/>
                  </a:lnTo>
                  <a:lnTo>
                    <a:pt x="10611104" y="6350"/>
                  </a:lnTo>
                  <a:lnTo>
                    <a:pt x="10611104" y="0"/>
                  </a:lnTo>
                  <a:cubicBezTo>
                    <a:pt x="10698099" y="0"/>
                    <a:pt x="10768585" y="70358"/>
                    <a:pt x="10768585" y="157226"/>
                  </a:cubicBezTo>
                  <a:lnTo>
                    <a:pt x="10762235" y="157226"/>
                  </a:lnTo>
                  <a:lnTo>
                    <a:pt x="10768585" y="157226"/>
                  </a:lnTo>
                  <a:lnTo>
                    <a:pt x="10768585" y="3960622"/>
                  </a:lnTo>
                  <a:lnTo>
                    <a:pt x="10762235" y="3960622"/>
                  </a:lnTo>
                  <a:lnTo>
                    <a:pt x="10768585" y="3960622"/>
                  </a:lnTo>
                  <a:cubicBezTo>
                    <a:pt x="10768585" y="4047490"/>
                    <a:pt x="10698099" y="4117848"/>
                    <a:pt x="10611104" y="4117848"/>
                  </a:cubicBezTo>
                  <a:lnTo>
                    <a:pt x="10611104" y="4111498"/>
                  </a:lnTo>
                  <a:lnTo>
                    <a:pt x="10611104" y="4117848"/>
                  </a:lnTo>
                  <a:lnTo>
                    <a:pt x="157480" y="4117848"/>
                  </a:lnTo>
                  <a:lnTo>
                    <a:pt x="157480" y="4111498"/>
                  </a:lnTo>
                  <a:lnTo>
                    <a:pt x="157480" y="4117848"/>
                  </a:lnTo>
                  <a:cubicBezTo>
                    <a:pt x="70485" y="4117848"/>
                    <a:pt x="0" y="4047490"/>
                    <a:pt x="0" y="3960622"/>
                  </a:cubicBezTo>
                  <a:lnTo>
                    <a:pt x="0" y="157226"/>
                  </a:lnTo>
                  <a:lnTo>
                    <a:pt x="6350" y="157226"/>
                  </a:lnTo>
                  <a:lnTo>
                    <a:pt x="0" y="157226"/>
                  </a:lnTo>
                  <a:moveTo>
                    <a:pt x="12700" y="157226"/>
                  </a:moveTo>
                  <a:lnTo>
                    <a:pt x="12700" y="3960622"/>
                  </a:lnTo>
                  <a:lnTo>
                    <a:pt x="6350" y="3960622"/>
                  </a:lnTo>
                  <a:lnTo>
                    <a:pt x="12700" y="3960622"/>
                  </a:lnTo>
                  <a:cubicBezTo>
                    <a:pt x="12700" y="4040378"/>
                    <a:pt x="77470" y="4105148"/>
                    <a:pt x="157480" y="4105148"/>
                  </a:cubicBezTo>
                  <a:lnTo>
                    <a:pt x="10611104" y="4105148"/>
                  </a:lnTo>
                  <a:cubicBezTo>
                    <a:pt x="10691114" y="4105148"/>
                    <a:pt x="10755885" y="4040505"/>
                    <a:pt x="10755885" y="3960622"/>
                  </a:cubicBezTo>
                  <a:lnTo>
                    <a:pt x="10755885" y="157226"/>
                  </a:lnTo>
                  <a:cubicBezTo>
                    <a:pt x="10755885" y="77470"/>
                    <a:pt x="10691114" y="12700"/>
                    <a:pt x="10611104" y="12700"/>
                  </a:cubicBezTo>
                  <a:lnTo>
                    <a:pt x="157480" y="12700"/>
                  </a:lnTo>
                  <a:lnTo>
                    <a:pt x="157480" y="6350"/>
                  </a:lnTo>
                  <a:lnTo>
                    <a:pt x="157480" y="12700"/>
                  </a:lnTo>
                  <a:cubicBezTo>
                    <a:pt x="77470" y="12700"/>
                    <a:pt x="12700" y="77343"/>
                    <a:pt x="12700" y="157226"/>
                  </a:cubicBezTo>
                  <a:close/>
                </a:path>
              </a:pathLst>
            </a:custGeom>
            <a:solidFill>
              <a:srgbClr val="BCDBD4"/>
            </a:solidFill>
          </p:spPr>
        </p:sp>
      </p:grpSp>
      <p:grpSp>
        <p:nvGrpSpPr>
          <p:cNvPr name="Group 38" id="38"/>
          <p:cNvGrpSpPr/>
          <p:nvPr/>
        </p:nvGrpSpPr>
        <p:grpSpPr>
          <a:xfrm rot="0">
            <a:off x="9557296" y="6529685"/>
            <a:ext cx="807839" cy="807839"/>
            <a:chOff x="0" y="0"/>
            <a:chExt cx="1077118" cy="1077118"/>
          </a:xfrm>
        </p:grpSpPr>
        <p:sp>
          <p:nvSpPr>
            <p:cNvPr name="Freeform 39" id="39"/>
            <p:cNvSpPr/>
            <p:nvPr/>
          </p:nvSpPr>
          <p:spPr>
            <a:xfrm flipH="false" flipV="false" rot="0">
              <a:off x="0" y="0"/>
              <a:ext cx="1077087" cy="1077087"/>
            </a:xfrm>
            <a:custGeom>
              <a:avLst/>
              <a:gdLst/>
              <a:ahLst/>
              <a:cxnLst/>
              <a:rect r="r" b="b" t="t" l="l"/>
              <a:pathLst>
                <a:path h="1077087" w="1077087">
                  <a:moveTo>
                    <a:pt x="0" y="538607"/>
                  </a:moveTo>
                  <a:cubicBezTo>
                    <a:pt x="0" y="241173"/>
                    <a:pt x="241173" y="0"/>
                    <a:pt x="538607" y="0"/>
                  </a:cubicBezTo>
                  <a:cubicBezTo>
                    <a:pt x="836041" y="0"/>
                    <a:pt x="1077087" y="241173"/>
                    <a:pt x="1077087" y="538607"/>
                  </a:cubicBezTo>
                  <a:cubicBezTo>
                    <a:pt x="1077087" y="836041"/>
                    <a:pt x="836041" y="1077087"/>
                    <a:pt x="538607" y="1077087"/>
                  </a:cubicBezTo>
                  <a:cubicBezTo>
                    <a:pt x="241173" y="1077087"/>
                    <a:pt x="0" y="836041"/>
                    <a:pt x="0" y="538607"/>
                  </a:cubicBezTo>
                  <a:close/>
                </a:path>
              </a:pathLst>
            </a:custGeom>
            <a:solidFill>
              <a:srgbClr val="26A688"/>
            </a:solidFill>
          </p:spPr>
        </p:sp>
      </p:grpSp>
      <p:grpSp>
        <p:nvGrpSpPr>
          <p:cNvPr name="Group 40" id="40"/>
          <p:cNvGrpSpPr>
            <a:grpSpLocks noChangeAspect="true"/>
          </p:cNvGrpSpPr>
          <p:nvPr/>
        </p:nvGrpSpPr>
        <p:grpSpPr>
          <a:xfrm rot="0">
            <a:off x="9779496" y="6706344"/>
            <a:ext cx="363439" cy="454373"/>
            <a:chOff x="0" y="0"/>
            <a:chExt cx="484585" cy="605830"/>
          </a:xfrm>
        </p:grpSpPr>
        <p:sp>
          <p:nvSpPr>
            <p:cNvPr name="Freeform 41" id="41" descr="preencoded.png"/>
            <p:cNvSpPr/>
            <p:nvPr/>
          </p:nvSpPr>
          <p:spPr>
            <a:xfrm flipH="false" flipV="false" rot="0">
              <a:off x="0" y="0"/>
              <a:ext cx="484632" cy="605790"/>
            </a:xfrm>
            <a:custGeom>
              <a:avLst/>
              <a:gdLst/>
              <a:ahLst/>
              <a:cxnLst/>
              <a:rect r="r" b="b" t="t" l="l"/>
              <a:pathLst>
                <a:path h="605790" w="484632">
                  <a:moveTo>
                    <a:pt x="0" y="0"/>
                  </a:moveTo>
                  <a:lnTo>
                    <a:pt x="484632" y="0"/>
                  </a:lnTo>
                  <a:lnTo>
                    <a:pt x="484632" y="605790"/>
                  </a:lnTo>
                  <a:lnTo>
                    <a:pt x="0" y="605790"/>
                  </a:lnTo>
                  <a:lnTo>
                    <a:pt x="0" y="0"/>
                  </a:lnTo>
                  <a:close/>
                </a:path>
              </a:pathLst>
            </a:custGeom>
            <a:blipFill>
              <a:blip r:embed="rId6"/>
              <a:stretch>
                <a:fillRect l="0" t="-518" r="9" b="-524"/>
              </a:stretch>
            </a:blipFill>
          </p:spPr>
        </p:sp>
      </p:grpSp>
      <p:sp>
        <p:nvSpPr>
          <p:cNvPr name="TextBox 42" id="42"/>
          <p:cNvSpPr txBox="true"/>
          <p:nvPr/>
        </p:nvSpPr>
        <p:spPr>
          <a:xfrm rot="0">
            <a:off x="9557296" y="7568654"/>
            <a:ext cx="4549528" cy="458837"/>
          </a:xfrm>
          <a:prstGeom prst="rect">
            <a:avLst/>
          </a:prstGeom>
        </p:spPr>
        <p:txBody>
          <a:bodyPr anchor="t" rtlCol="false" tIns="0" lIns="0" bIns="0" rIns="0">
            <a:spAutoFit/>
          </a:bodyPr>
          <a:lstStyle/>
          <a:p>
            <a:pPr algn="l">
              <a:lnSpc>
                <a:spcPts val="3312"/>
              </a:lnSpc>
            </a:pPr>
            <a:r>
              <a:rPr lang="en-US" sz="2625" b="true">
                <a:solidFill>
                  <a:srgbClr val="333F70"/>
                </a:solidFill>
                <a:latin typeface="Arimo Bold"/>
                <a:ea typeface="Arimo Bold"/>
                <a:cs typeface="Arimo Bold"/>
                <a:sym typeface="Arimo Bold"/>
              </a:rPr>
              <a:t>Critical Case Triaging</a:t>
            </a:r>
          </a:p>
        </p:txBody>
      </p:sp>
      <p:sp>
        <p:nvSpPr>
          <p:cNvPr name="TextBox 43" id="43"/>
          <p:cNvSpPr txBox="true"/>
          <p:nvPr/>
        </p:nvSpPr>
        <p:spPr>
          <a:xfrm rot="0">
            <a:off x="9557296" y="8112770"/>
            <a:ext cx="7509421" cy="938212"/>
          </a:xfrm>
          <a:prstGeom prst="rect">
            <a:avLst/>
          </a:prstGeom>
        </p:spPr>
        <p:txBody>
          <a:bodyPr anchor="t" rtlCol="false" tIns="0" lIns="0" bIns="0" rIns="0">
            <a:spAutoFit/>
          </a:bodyPr>
          <a:lstStyle/>
          <a:p>
            <a:pPr algn="l">
              <a:lnSpc>
                <a:spcPts val="3374"/>
              </a:lnSpc>
            </a:pPr>
            <a:r>
              <a:rPr lang="en-US" sz="2062">
                <a:solidFill>
                  <a:srgbClr val="333F70"/>
                </a:solidFill>
                <a:latin typeface="Open Sans"/>
                <a:ea typeface="Open Sans"/>
                <a:cs typeface="Open Sans"/>
                <a:sym typeface="Open Sans"/>
              </a:rPr>
              <a:t>Identifying severe symptoms and advising immediate consultation with a qualified doctor.</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2F3EF"/>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E2F3EF"/>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E2F3EF"/>
            </a:solidFill>
          </p:spPr>
        </p:sp>
      </p:grpSp>
      <p:sp>
        <p:nvSpPr>
          <p:cNvPr name="TextBox 6" id="6"/>
          <p:cNvSpPr txBox="true"/>
          <p:nvPr/>
        </p:nvSpPr>
        <p:spPr>
          <a:xfrm rot="0">
            <a:off x="824656" y="788342"/>
            <a:ext cx="6952952" cy="636537"/>
          </a:xfrm>
          <a:prstGeom prst="rect">
            <a:avLst/>
          </a:prstGeom>
        </p:spPr>
        <p:txBody>
          <a:bodyPr anchor="t" rtlCol="false" tIns="0" lIns="0" bIns="0" rIns="0">
            <a:spAutoFit/>
          </a:bodyPr>
          <a:lstStyle/>
          <a:p>
            <a:pPr algn="l">
              <a:lnSpc>
                <a:spcPts val="4625"/>
              </a:lnSpc>
            </a:pPr>
            <a:r>
              <a:rPr lang="en-US" sz="3687" b="true">
                <a:solidFill>
                  <a:srgbClr val="333F70"/>
                </a:solidFill>
                <a:latin typeface="Arimo Bold"/>
                <a:ea typeface="Arimo Bold"/>
                <a:cs typeface="Arimo Bold"/>
                <a:sym typeface="Arimo Bold"/>
              </a:rPr>
              <a:t>Core Project Objectives</a:t>
            </a:r>
          </a:p>
        </p:txBody>
      </p:sp>
      <p:sp>
        <p:nvSpPr>
          <p:cNvPr name="TextBox 7" id="7"/>
          <p:cNvSpPr txBox="true"/>
          <p:nvPr/>
        </p:nvSpPr>
        <p:spPr>
          <a:xfrm rot="0">
            <a:off x="824656" y="1829395"/>
            <a:ext cx="16638686" cy="443508"/>
          </a:xfrm>
          <a:prstGeom prst="rect">
            <a:avLst/>
          </a:prstGeom>
        </p:spPr>
        <p:txBody>
          <a:bodyPr anchor="t" rtlCol="false" tIns="0" lIns="0" bIns="0" rIns="0">
            <a:spAutoFit/>
          </a:bodyPr>
          <a:lstStyle/>
          <a:p>
            <a:pPr algn="l">
              <a:lnSpc>
                <a:spcPts val="2937"/>
              </a:lnSpc>
            </a:pPr>
            <a:r>
              <a:rPr lang="en-US" sz="1812">
                <a:solidFill>
                  <a:srgbClr val="333F70"/>
                </a:solidFill>
                <a:latin typeface="Open Sans"/>
                <a:ea typeface="Open Sans"/>
                <a:cs typeface="Open Sans"/>
                <a:sym typeface="Open Sans"/>
              </a:rPr>
              <a:t>Our success will be measured by achieving these key performance indicators and developmental goals.</a:t>
            </a:r>
          </a:p>
        </p:txBody>
      </p:sp>
      <p:grpSp>
        <p:nvGrpSpPr>
          <p:cNvPr name="Group 8" id="8"/>
          <p:cNvGrpSpPr/>
          <p:nvPr/>
        </p:nvGrpSpPr>
        <p:grpSpPr>
          <a:xfrm rot="0">
            <a:off x="3939629" y="2533204"/>
            <a:ext cx="2089249" cy="1743670"/>
            <a:chOff x="0" y="0"/>
            <a:chExt cx="2785665" cy="2324893"/>
          </a:xfrm>
        </p:grpSpPr>
        <p:sp>
          <p:nvSpPr>
            <p:cNvPr name="Freeform 9" id="9"/>
            <p:cNvSpPr/>
            <p:nvPr/>
          </p:nvSpPr>
          <p:spPr>
            <a:xfrm flipH="false" flipV="false" rot="0">
              <a:off x="6350" y="6350"/>
              <a:ext cx="2772918" cy="2312162"/>
            </a:xfrm>
            <a:custGeom>
              <a:avLst/>
              <a:gdLst/>
              <a:ahLst/>
              <a:cxnLst/>
              <a:rect r="r" b="b" t="t" l="l"/>
              <a:pathLst>
                <a:path h="2312162" w="2772918">
                  <a:moveTo>
                    <a:pt x="0" y="131953"/>
                  </a:moveTo>
                  <a:cubicBezTo>
                    <a:pt x="0" y="59055"/>
                    <a:pt x="59182" y="0"/>
                    <a:pt x="132080" y="0"/>
                  </a:cubicBezTo>
                  <a:lnTo>
                    <a:pt x="2640838" y="0"/>
                  </a:lnTo>
                  <a:cubicBezTo>
                    <a:pt x="2713736" y="0"/>
                    <a:pt x="2772918" y="59055"/>
                    <a:pt x="2772918" y="131953"/>
                  </a:cubicBezTo>
                  <a:lnTo>
                    <a:pt x="2772918" y="2180209"/>
                  </a:lnTo>
                  <a:cubicBezTo>
                    <a:pt x="2772918" y="2253107"/>
                    <a:pt x="2713736" y="2312162"/>
                    <a:pt x="2640838" y="2312162"/>
                  </a:cubicBezTo>
                  <a:lnTo>
                    <a:pt x="132080" y="2312162"/>
                  </a:lnTo>
                  <a:cubicBezTo>
                    <a:pt x="59182" y="2312162"/>
                    <a:pt x="0" y="2253107"/>
                    <a:pt x="0" y="2180209"/>
                  </a:cubicBezTo>
                  <a:close/>
                </a:path>
              </a:pathLst>
            </a:custGeom>
            <a:solidFill>
              <a:srgbClr val="E2F3EF"/>
            </a:solidFill>
          </p:spPr>
        </p:sp>
        <p:sp>
          <p:nvSpPr>
            <p:cNvPr name="Freeform 10" id="10"/>
            <p:cNvSpPr/>
            <p:nvPr/>
          </p:nvSpPr>
          <p:spPr>
            <a:xfrm flipH="false" flipV="false" rot="0">
              <a:off x="0" y="0"/>
              <a:ext cx="2785618" cy="2324862"/>
            </a:xfrm>
            <a:custGeom>
              <a:avLst/>
              <a:gdLst/>
              <a:ahLst/>
              <a:cxnLst/>
              <a:rect r="r" b="b" t="t" l="l"/>
              <a:pathLst>
                <a:path h="2324862" w="2785618">
                  <a:moveTo>
                    <a:pt x="0" y="138303"/>
                  </a:moveTo>
                  <a:cubicBezTo>
                    <a:pt x="0" y="61976"/>
                    <a:pt x="61976" y="0"/>
                    <a:pt x="138430" y="0"/>
                  </a:cubicBezTo>
                  <a:lnTo>
                    <a:pt x="2647188" y="0"/>
                  </a:lnTo>
                  <a:lnTo>
                    <a:pt x="2647188" y="6350"/>
                  </a:lnTo>
                  <a:lnTo>
                    <a:pt x="2647188" y="0"/>
                  </a:lnTo>
                  <a:cubicBezTo>
                    <a:pt x="2723642" y="0"/>
                    <a:pt x="2785618" y="61976"/>
                    <a:pt x="2785618" y="138303"/>
                  </a:cubicBezTo>
                  <a:lnTo>
                    <a:pt x="2779268" y="138303"/>
                  </a:lnTo>
                  <a:lnTo>
                    <a:pt x="2785618" y="138303"/>
                  </a:lnTo>
                  <a:lnTo>
                    <a:pt x="2785618" y="2186559"/>
                  </a:lnTo>
                  <a:lnTo>
                    <a:pt x="2779268" y="2186559"/>
                  </a:lnTo>
                  <a:lnTo>
                    <a:pt x="2785618" y="2186559"/>
                  </a:lnTo>
                  <a:cubicBezTo>
                    <a:pt x="2785618" y="2262886"/>
                    <a:pt x="2723642" y="2324862"/>
                    <a:pt x="2647188" y="2324862"/>
                  </a:cubicBezTo>
                  <a:lnTo>
                    <a:pt x="2647188" y="2318512"/>
                  </a:lnTo>
                  <a:lnTo>
                    <a:pt x="2647188" y="2324862"/>
                  </a:lnTo>
                  <a:lnTo>
                    <a:pt x="138430" y="2324862"/>
                  </a:lnTo>
                  <a:lnTo>
                    <a:pt x="138430" y="2318512"/>
                  </a:lnTo>
                  <a:lnTo>
                    <a:pt x="138430" y="2324862"/>
                  </a:lnTo>
                  <a:cubicBezTo>
                    <a:pt x="61976" y="2324862"/>
                    <a:pt x="0" y="2262886"/>
                    <a:pt x="0" y="2186559"/>
                  </a:cubicBezTo>
                  <a:lnTo>
                    <a:pt x="0" y="138303"/>
                  </a:lnTo>
                  <a:lnTo>
                    <a:pt x="6350" y="138303"/>
                  </a:lnTo>
                  <a:lnTo>
                    <a:pt x="0" y="138303"/>
                  </a:lnTo>
                  <a:moveTo>
                    <a:pt x="12700" y="138303"/>
                  </a:moveTo>
                  <a:lnTo>
                    <a:pt x="12700" y="2186559"/>
                  </a:lnTo>
                  <a:lnTo>
                    <a:pt x="6350" y="2186559"/>
                  </a:lnTo>
                  <a:lnTo>
                    <a:pt x="12700" y="2186559"/>
                  </a:lnTo>
                  <a:cubicBezTo>
                    <a:pt x="12700" y="2255901"/>
                    <a:pt x="68961" y="2312162"/>
                    <a:pt x="138430" y="2312162"/>
                  </a:cubicBezTo>
                  <a:lnTo>
                    <a:pt x="2647188" y="2312162"/>
                  </a:lnTo>
                  <a:cubicBezTo>
                    <a:pt x="2716657" y="2312162"/>
                    <a:pt x="2772918" y="2255901"/>
                    <a:pt x="2772918" y="2186559"/>
                  </a:cubicBezTo>
                  <a:lnTo>
                    <a:pt x="2772918" y="138303"/>
                  </a:lnTo>
                  <a:cubicBezTo>
                    <a:pt x="2772918" y="68961"/>
                    <a:pt x="2716657" y="12700"/>
                    <a:pt x="2647188" y="12700"/>
                  </a:cubicBezTo>
                  <a:lnTo>
                    <a:pt x="138430" y="12700"/>
                  </a:lnTo>
                  <a:lnTo>
                    <a:pt x="138430" y="6350"/>
                  </a:lnTo>
                  <a:lnTo>
                    <a:pt x="138430" y="12700"/>
                  </a:lnTo>
                  <a:cubicBezTo>
                    <a:pt x="68961" y="12700"/>
                    <a:pt x="12700" y="68961"/>
                    <a:pt x="12700" y="138303"/>
                  </a:cubicBezTo>
                  <a:close/>
                </a:path>
              </a:pathLst>
            </a:custGeom>
            <a:solidFill>
              <a:srgbClr val="BCDBD4"/>
            </a:solidFill>
          </p:spPr>
        </p:sp>
      </p:grpSp>
      <p:grpSp>
        <p:nvGrpSpPr>
          <p:cNvPr name="Group 11" id="11"/>
          <p:cNvGrpSpPr>
            <a:grpSpLocks noChangeAspect="true"/>
          </p:cNvGrpSpPr>
          <p:nvPr/>
        </p:nvGrpSpPr>
        <p:grpSpPr>
          <a:xfrm rot="0">
            <a:off x="4818609" y="3198019"/>
            <a:ext cx="331291" cy="414040"/>
            <a:chOff x="0" y="0"/>
            <a:chExt cx="441722" cy="552053"/>
          </a:xfrm>
        </p:grpSpPr>
        <p:sp>
          <p:nvSpPr>
            <p:cNvPr name="Freeform 12" id="12" descr="preencoded.png"/>
            <p:cNvSpPr/>
            <p:nvPr/>
          </p:nvSpPr>
          <p:spPr>
            <a:xfrm flipH="false" flipV="false" rot="0">
              <a:off x="0" y="0"/>
              <a:ext cx="441706" cy="552069"/>
            </a:xfrm>
            <a:custGeom>
              <a:avLst/>
              <a:gdLst/>
              <a:ahLst/>
              <a:cxnLst/>
              <a:rect r="r" b="b" t="t" l="l"/>
              <a:pathLst>
                <a:path h="552069" w="441706">
                  <a:moveTo>
                    <a:pt x="0" y="0"/>
                  </a:moveTo>
                  <a:lnTo>
                    <a:pt x="441706" y="0"/>
                  </a:lnTo>
                  <a:lnTo>
                    <a:pt x="441706" y="552069"/>
                  </a:lnTo>
                  <a:lnTo>
                    <a:pt x="0" y="552069"/>
                  </a:lnTo>
                  <a:lnTo>
                    <a:pt x="0" y="0"/>
                  </a:lnTo>
                  <a:close/>
                </a:path>
              </a:pathLst>
            </a:custGeom>
            <a:blipFill>
              <a:blip r:embed="rId3"/>
              <a:stretch>
                <a:fillRect l="-863" t="0" r="-866" b="2"/>
              </a:stretch>
            </a:blipFill>
          </p:spPr>
        </p:sp>
      </p:grpSp>
      <p:sp>
        <p:nvSpPr>
          <p:cNvPr name="TextBox 13" id="13"/>
          <p:cNvSpPr txBox="true"/>
          <p:nvPr/>
        </p:nvSpPr>
        <p:spPr>
          <a:xfrm rot="0">
            <a:off x="6259711" y="2744986"/>
            <a:ext cx="2945160" cy="377825"/>
          </a:xfrm>
          <a:prstGeom prst="rect">
            <a:avLst/>
          </a:prstGeom>
        </p:spPr>
        <p:txBody>
          <a:bodyPr anchor="t" rtlCol="false" tIns="0" lIns="0" bIns="0" rIns="0">
            <a:spAutoFit/>
          </a:bodyPr>
          <a:lstStyle/>
          <a:p>
            <a:pPr algn="l">
              <a:lnSpc>
                <a:spcPts val="2875"/>
              </a:lnSpc>
            </a:pPr>
            <a:r>
              <a:rPr lang="en-US" sz="2312" b="true">
                <a:solidFill>
                  <a:srgbClr val="333F70"/>
                </a:solidFill>
                <a:latin typeface="Arimo Bold"/>
                <a:ea typeface="Arimo Bold"/>
                <a:cs typeface="Arimo Bold"/>
                <a:sym typeface="Arimo Bold"/>
              </a:rPr>
              <a:t>85</a:t>
            </a:r>
            <a:r>
              <a:rPr lang="en-US" sz="2312" b="true">
                <a:solidFill>
                  <a:srgbClr val="333F70"/>
                </a:solidFill>
                <a:latin typeface="Arimo Bold"/>
                <a:ea typeface="Arimo Bold"/>
                <a:cs typeface="Arimo Bold"/>
                <a:sym typeface="Arimo Bold"/>
              </a:rPr>
              <a:t>% Accuracy</a:t>
            </a:r>
          </a:p>
        </p:txBody>
      </p:sp>
      <p:sp>
        <p:nvSpPr>
          <p:cNvPr name="TextBox 14" id="14"/>
          <p:cNvSpPr txBox="true"/>
          <p:nvPr/>
        </p:nvSpPr>
        <p:spPr>
          <a:xfrm rot="0">
            <a:off x="6259711" y="3216176"/>
            <a:ext cx="10968038" cy="712787"/>
          </a:xfrm>
          <a:prstGeom prst="rect">
            <a:avLst/>
          </a:prstGeom>
        </p:spPr>
        <p:txBody>
          <a:bodyPr anchor="t" rtlCol="false" tIns="0" lIns="0" bIns="0" rIns="0">
            <a:spAutoFit/>
          </a:bodyPr>
          <a:lstStyle/>
          <a:p>
            <a:pPr algn="l">
              <a:lnSpc>
                <a:spcPts val="2937"/>
              </a:lnSpc>
            </a:pPr>
            <a:r>
              <a:rPr lang="en-US" sz="1812">
                <a:solidFill>
                  <a:srgbClr val="333F70"/>
                </a:solidFill>
                <a:latin typeface="Open Sans"/>
                <a:ea typeface="Open Sans"/>
                <a:cs typeface="Open Sans"/>
                <a:sym typeface="Open Sans"/>
              </a:rPr>
              <a:t>will </a:t>
            </a:r>
            <a:r>
              <a:rPr lang="en-US" sz="1812">
                <a:solidFill>
                  <a:srgbClr val="333F70"/>
                </a:solidFill>
                <a:latin typeface="Open Sans"/>
                <a:ea typeface="Open Sans"/>
                <a:cs typeface="Open Sans"/>
                <a:sym typeface="Open Sans"/>
              </a:rPr>
              <a:t>Achieve more then 90% accuracy rate in classifying symptom severity and providing relevant disease information.</a:t>
            </a:r>
          </a:p>
        </p:txBody>
      </p:sp>
      <p:grpSp>
        <p:nvGrpSpPr>
          <p:cNvPr name="Group 15" id="15"/>
          <p:cNvGrpSpPr/>
          <p:nvPr/>
        </p:nvGrpSpPr>
        <p:grpSpPr>
          <a:xfrm rot="0">
            <a:off x="6141839" y="4260205"/>
            <a:ext cx="11203781" cy="14288"/>
            <a:chOff x="0" y="0"/>
            <a:chExt cx="14938375" cy="19050"/>
          </a:xfrm>
        </p:grpSpPr>
        <p:sp>
          <p:nvSpPr>
            <p:cNvPr name="Freeform 16" id="16"/>
            <p:cNvSpPr/>
            <p:nvPr/>
          </p:nvSpPr>
          <p:spPr>
            <a:xfrm flipH="false" flipV="false" rot="0">
              <a:off x="0" y="0"/>
              <a:ext cx="14938375" cy="19050"/>
            </a:xfrm>
            <a:custGeom>
              <a:avLst/>
              <a:gdLst/>
              <a:ahLst/>
              <a:cxnLst/>
              <a:rect r="r" b="b" t="t" l="l"/>
              <a:pathLst>
                <a:path h="19050" w="14938375">
                  <a:moveTo>
                    <a:pt x="0" y="9525"/>
                  </a:moveTo>
                  <a:cubicBezTo>
                    <a:pt x="0" y="4318"/>
                    <a:pt x="4318" y="0"/>
                    <a:pt x="9525" y="0"/>
                  </a:cubicBezTo>
                  <a:lnTo>
                    <a:pt x="14928850" y="0"/>
                  </a:lnTo>
                  <a:cubicBezTo>
                    <a:pt x="14934057" y="0"/>
                    <a:pt x="14938375" y="4318"/>
                    <a:pt x="14938375" y="9525"/>
                  </a:cubicBezTo>
                  <a:cubicBezTo>
                    <a:pt x="14938375" y="14732"/>
                    <a:pt x="14934057" y="19050"/>
                    <a:pt x="14928850" y="19050"/>
                  </a:cubicBezTo>
                  <a:lnTo>
                    <a:pt x="9525" y="19050"/>
                  </a:lnTo>
                  <a:cubicBezTo>
                    <a:pt x="4318" y="19050"/>
                    <a:pt x="0" y="14732"/>
                    <a:pt x="0" y="9525"/>
                  </a:cubicBezTo>
                  <a:close/>
                </a:path>
              </a:pathLst>
            </a:custGeom>
            <a:solidFill>
              <a:srgbClr val="BCDBD4"/>
            </a:solidFill>
          </p:spPr>
        </p:sp>
      </p:grpSp>
      <p:grpSp>
        <p:nvGrpSpPr>
          <p:cNvPr name="Group 17" id="17"/>
          <p:cNvGrpSpPr/>
          <p:nvPr/>
        </p:nvGrpSpPr>
        <p:grpSpPr>
          <a:xfrm rot="0">
            <a:off x="2899619" y="4385072"/>
            <a:ext cx="4169123" cy="1366837"/>
            <a:chOff x="0" y="0"/>
            <a:chExt cx="5558830" cy="1822450"/>
          </a:xfrm>
        </p:grpSpPr>
        <p:sp>
          <p:nvSpPr>
            <p:cNvPr name="Freeform 18" id="18"/>
            <p:cNvSpPr/>
            <p:nvPr/>
          </p:nvSpPr>
          <p:spPr>
            <a:xfrm flipH="false" flipV="false" rot="0">
              <a:off x="6350" y="6350"/>
              <a:ext cx="5546090" cy="1809750"/>
            </a:xfrm>
            <a:custGeom>
              <a:avLst/>
              <a:gdLst/>
              <a:ahLst/>
              <a:cxnLst/>
              <a:rect r="r" b="b" t="t" l="l"/>
              <a:pathLst>
                <a:path h="1809750" w="5546090">
                  <a:moveTo>
                    <a:pt x="0" y="131953"/>
                  </a:moveTo>
                  <a:cubicBezTo>
                    <a:pt x="0" y="59055"/>
                    <a:pt x="59309" y="0"/>
                    <a:pt x="132588" y="0"/>
                  </a:cubicBezTo>
                  <a:lnTo>
                    <a:pt x="5413502" y="0"/>
                  </a:lnTo>
                  <a:cubicBezTo>
                    <a:pt x="5486781" y="0"/>
                    <a:pt x="5546090" y="59055"/>
                    <a:pt x="5546090" y="131953"/>
                  </a:cubicBezTo>
                  <a:lnTo>
                    <a:pt x="5546090" y="1677797"/>
                  </a:lnTo>
                  <a:cubicBezTo>
                    <a:pt x="5546090" y="1750695"/>
                    <a:pt x="5486781" y="1809750"/>
                    <a:pt x="5413502" y="1809750"/>
                  </a:cubicBezTo>
                  <a:lnTo>
                    <a:pt x="132588" y="1809750"/>
                  </a:lnTo>
                  <a:cubicBezTo>
                    <a:pt x="59309" y="1809750"/>
                    <a:pt x="0" y="1750695"/>
                    <a:pt x="0" y="1677797"/>
                  </a:cubicBezTo>
                  <a:close/>
                </a:path>
              </a:pathLst>
            </a:custGeom>
            <a:solidFill>
              <a:srgbClr val="E2F3EF"/>
            </a:solidFill>
          </p:spPr>
        </p:sp>
        <p:sp>
          <p:nvSpPr>
            <p:cNvPr name="Freeform 19" id="19"/>
            <p:cNvSpPr/>
            <p:nvPr/>
          </p:nvSpPr>
          <p:spPr>
            <a:xfrm flipH="false" flipV="false" rot="0">
              <a:off x="0" y="0"/>
              <a:ext cx="5558790" cy="1822450"/>
            </a:xfrm>
            <a:custGeom>
              <a:avLst/>
              <a:gdLst/>
              <a:ahLst/>
              <a:cxnLst/>
              <a:rect r="r" b="b" t="t" l="l"/>
              <a:pathLst>
                <a:path h="1822450" w="5558790">
                  <a:moveTo>
                    <a:pt x="0" y="138303"/>
                  </a:moveTo>
                  <a:cubicBezTo>
                    <a:pt x="0" y="61849"/>
                    <a:pt x="62230" y="0"/>
                    <a:pt x="138938" y="0"/>
                  </a:cubicBezTo>
                  <a:lnTo>
                    <a:pt x="5419852" y="0"/>
                  </a:lnTo>
                  <a:lnTo>
                    <a:pt x="5419852" y="6350"/>
                  </a:lnTo>
                  <a:lnTo>
                    <a:pt x="5419852" y="0"/>
                  </a:lnTo>
                  <a:cubicBezTo>
                    <a:pt x="5496560" y="0"/>
                    <a:pt x="5558790" y="61849"/>
                    <a:pt x="5558790" y="138303"/>
                  </a:cubicBezTo>
                  <a:lnTo>
                    <a:pt x="5552440" y="138303"/>
                  </a:lnTo>
                  <a:lnTo>
                    <a:pt x="5558790" y="138303"/>
                  </a:lnTo>
                  <a:lnTo>
                    <a:pt x="5558790" y="1684147"/>
                  </a:lnTo>
                  <a:lnTo>
                    <a:pt x="5552440" y="1684147"/>
                  </a:lnTo>
                  <a:lnTo>
                    <a:pt x="5558790" y="1684147"/>
                  </a:lnTo>
                  <a:cubicBezTo>
                    <a:pt x="5558790" y="1760601"/>
                    <a:pt x="5496560" y="1822450"/>
                    <a:pt x="5419852" y="1822450"/>
                  </a:cubicBezTo>
                  <a:lnTo>
                    <a:pt x="5419852" y="1816100"/>
                  </a:lnTo>
                  <a:lnTo>
                    <a:pt x="5419852" y="1822450"/>
                  </a:lnTo>
                  <a:lnTo>
                    <a:pt x="138938" y="1822450"/>
                  </a:lnTo>
                  <a:lnTo>
                    <a:pt x="138938" y="1816100"/>
                  </a:lnTo>
                  <a:lnTo>
                    <a:pt x="138938" y="1822450"/>
                  </a:lnTo>
                  <a:cubicBezTo>
                    <a:pt x="62230" y="1822450"/>
                    <a:pt x="0" y="1760601"/>
                    <a:pt x="0" y="1684147"/>
                  </a:cubicBezTo>
                  <a:lnTo>
                    <a:pt x="0" y="138303"/>
                  </a:lnTo>
                  <a:lnTo>
                    <a:pt x="6350" y="138303"/>
                  </a:lnTo>
                  <a:lnTo>
                    <a:pt x="0" y="138303"/>
                  </a:lnTo>
                  <a:moveTo>
                    <a:pt x="12700" y="138303"/>
                  </a:moveTo>
                  <a:lnTo>
                    <a:pt x="12700" y="1684147"/>
                  </a:lnTo>
                  <a:lnTo>
                    <a:pt x="6350" y="1684147"/>
                  </a:lnTo>
                  <a:lnTo>
                    <a:pt x="12700" y="1684147"/>
                  </a:lnTo>
                  <a:cubicBezTo>
                    <a:pt x="12700" y="1753489"/>
                    <a:pt x="69215" y="1809750"/>
                    <a:pt x="138938" y="1809750"/>
                  </a:cubicBezTo>
                  <a:lnTo>
                    <a:pt x="5419852" y="1809750"/>
                  </a:lnTo>
                  <a:cubicBezTo>
                    <a:pt x="5489575" y="1809750"/>
                    <a:pt x="5546090" y="1753489"/>
                    <a:pt x="5546090" y="1684147"/>
                  </a:cubicBezTo>
                  <a:lnTo>
                    <a:pt x="5546090" y="138303"/>
                  </a:lnTo>
                  <a:cubicBezTo>
                    <a:pt x="5546090" y="68961"/>
                    <a:pt x="5489575" y="12700"/>
                    <a:pt x="5419852" y="12700"/>
                  </a:cubicBezTo>
                  <a:lnTo>
                    <a:pt x="138938" y="12700"/>
                  </a:lnTo>
                  <a:lnTo>
                    <a:pt x="138938" y="6350"/>
                  </a:lnTo>
                  <a:lnTo>
                    <a:pt x="138938" y="12700"/>
                  </a:lnTo>
                  <a:cubicBezTo>
                    <a:pt x="69215" y="12700"/>
                    <a:pt x="12700" y="68961"/>
                    <a:pt x="12700" y="138303"/>
                  </a:cubicBezTo>
                  <a:close/>
                </a:path>
              </a:pathLst>
            </a:custGeom>
            <a:solidFill>
              <a:srgbClr val="BCDBD4"/>
            </a:solidFill>
          </p:spPr>
        </p:sp>
      </p:grpSp>
      <p:grpSp>
        <p:nvGrpSpPr>
          <p:cNvPr name="Group 20" id="20"/>
          <p:cNvGrpSpPr>
            <a:grpSpLocks noChangeAspect="true"/>
          </p:cNvGrpSpPr>
          <p:nvPr/>
        </p:nvGrpSpPr>
        <p:grpSpPr>
          <a:xfrm rot="0">
            <a:off x="4818460" y="4861471"/>
            <a:ext cx="331291" cy="414040"/>
            <a:chOff x="0" y="0"/>
            <a:chExt cx="441722" cy="552053"/>
          </a:xfrm>
        </p:grpSpPr>
        <p:sp>
          <p:nvSpPr>
            <p:cNvPr name="Freeform 21" id="21" descr="preencoded.png"/>
            <p:cNvSpPr/>
            <p:nvPr/>
          </p:nvSpPr>
          <p:spPr>
            <a:xfrm flipH="false" flipV="false" rot="0">
              <a:off x="0" y="0"/>
              <a:ext cx="441706" cy="552069"/>
            </a:xfrm>
            <a:custGeom>
              <a:avLst/>
              <a:gdLst/>
              <a:ahLst/>
              <a:cxnLst/>
              <a:rect r="r" b="b" t="t" l="l"/>
              <a:pathLst>
                <a:path h="552069" w="441706">
                  <a:moveTo>
                    <a:pt x="0" y="0"/>
                  </a:moveTo>
                  <a:lnTo>
                    <a:pt x="441706" y="0"/>
                  </a:lnTo>
                  <a:lnTo>
                    <a:pt x="441706" y="552069"/>
                  </a:lnTo>
                  <a:lnTo>
                    <a:pt x="0" y="552069"/>
                  </a:lnTo>
                  <a:lnTo>
                    <a:pt x="0" y="0"/>
                  </a:lnTo>
                  <a:close/>
                </a:path>
              </a:pathLst>
            </a:custGeom>
            <a:blipFill>
              <a:blip r:embed="rId4"/>
              <a:stretch>
                <a:fillRect l="-863" t="0" r="-866" b="2"/>
              </a:stretch>
            </a:blipFill>
          </p:spPr>
        </p:sp>
      </p:grpSp>
      <p:sp>
        <p:nvSpPr>
          <p:cNvPr name="TextBox 22" id="22"/>
          <p:cNvSpPr txBox="true"/>
          <p:nvPr/>
        </p:nvSpPr>
        <p:spPr>
          <a:xfrm rot="0">
            <a:off x="7299572" y="4596854"/>
            <a:ext cx="4178499" cy="396628"/>
          </a:xfrm>
          <a:prstGeom prst="rect">
            <a:avLst/>
          </a:prstGeom>
        </p:spPr>
        <p:txBody>
          <a:bodyPr anchor="t" rtlCol="false" tIns="0" lIns="0" bIns="0" rIns="0">
            <a:spAutoFit/>
          </a:bodyPr>
          <a:lstStyle/>
          <a:p>
            <a:pPr algn="l">
              <a:lnSpc>
                <a:spcPts val="2875"/>
              </a:lnSpc>
            </a:pPr>
            <a:r>
              <a:rPr lang="en-US" sz="2312" b="true">
                <a:solidFill>
                  <a:srgbClr val="333F70"/>
                </a:solidFill>
                <a:latin typeface="Arimo Bold"/>
                <a:ea typeface="Arimo Bold"/>
                <a:cs typeface="Arimo Bold"/>
                <a:sym typeface="Arimo Bold"/>
              </a:rPr>
              <a:t>High User Satisfaction</a:t>
            </a:r>
          </a:p>
        </p:txBody>
      </p:sp>
      <p:sp>
        <p:nvSpPr>
          <p:cNvPr name="TextBox 23" id="23"/>
          <p:cNvSpPr txBox="true"/>
          <p:nvPr/>
        </p:nvSpPr>
        <p:spPr>
          <a:xfrm rot="0">
            <a:off x="7299572" y="5068044"/>
            <a:ext cx="9880252" cy="443508"/>
          </a:xfrm>
          <a:prstGeom prst="rect">
            <a:avLst/>
          </a:prstGeom>
        </p:spPr>
        <p:txBody>
          <a:bodyPr anchor="t" rtlCol="false" tIns="0" lIns="0" bIns="0" rIns="0">
            <a:spAutoFit/>
          </a:bodyPr>
          <a:lstStyle/>
          <a:p>
            <a:pPr algn="l">
              <a:lnSpc>
                <a:spcPts val="2937"/>
              </a:lnSpc>
            </a:pPr>
            <a:r>
              <a:rPr lang="en-US" sz="1812">
                <a:solidFill>
                  <a:srgbClr val="333F70"/>
                </a:solidFill>
                <a:latin typeface="Open Sans"/>
                <a:ea typeface="Open Sans"/>
                <a:cs typeface="Open Sans"/>
                <a:sym typeface="Open Sans"/>
              </a:rPr>
              <a:t>Maintain a user satisfaction (CSAT) score above 4.5/5 for conversational quality and clarity.</a:t>
            </a:r>
          </a:p>
        </p:txBody>
      </p:sp>
      <p:grpSp>
        <p:nvGrpSpPr>
          <p:cNvPr name="Group 24" id="24"/>
          <p:cNvGrpSpPr/>
          <p:nvPr/>
        </p:nvGrpSpPr>
        <p:grpSpPr>
          <a:xfrm rot="0">
            <a:off x="7181701" y="5735241"/>
            <a:ext cx="10163919" cy="14288"/>
            <a:chOff x="0" y="0"/>
            <a:chExt cx="13551892" cy="19050"/>
          </a:xfrm>
        </p:grpSpPr>
        <p:sp>
          <p:nvSpPr>
            <p:cNvPr name="Freeform 25" id="25"/>
            <p:cNvSpPr/>
            <p:nvPr/>
          </p:nvSpPr>
          <p:spPr>
            <a:xfrm flipH="false" flipV="false" rot="0">
              <a:off x="0" y="0"/>
              <a:ext cx="13551915" cy="19050"/>
            </a:xfrm>
            <a:custGeom>
              <a:avLst/>
              <a:gdLst/>
              <a:ahLst/>
              <a:cxnLst/>
              <a:rect r="r" b="b" t="t" l="l"/>
              <a:pathLst>
                <a:path h="19050" w="13551915">
                  <a:moveTo>
                    <a:pt x="0" y="9525"/>
                  </a:moveTo>
                  <a:cubicBezTo>
                    <a:pt x="0" y="4318"/>
                    <a:pt x="4318" y="0"/>
                    <a:pt x="9525" y="0"/>
                  </a:cubicBezTo>
                  <a:lnTo>
                    <a:pt x="13542390" y="0"/>
                  </a:lnTo>
                  <a:cubicBezTo>
                    <a:pt x="13547598" y="0"/>
                    <a:pt x="13551915" y="4318"/>
                    <a:pt x="13551915" y="9525"/>
                  </a:cubicBezTo>
                  <a:cubicBezTo>
                    <a:pt x="13551915" y="14732"/>
                    <a:pt x="13547598" y="19050"/>
                    <a:pt x="13542390" y="19050"/>
                  </a:cubicBezTo>
                  <a:lnTo>
                    <a:pt x="9525" y="19050"/>
                  </a:lnTo>
                  <a:cubicBezTo>
                    <a:pt x="4318" y="19050"/>
                    <a:pt x="0" y="14732"/>
                    <a:pt x="0" y="9525"/>
                  </a:cubicBezTo>
                  <a:close/>
                </a:path>
              </a:pathLst>
            </a:custGeom>
            <a:solidFill>
              <a:srgbClr val="BCDBD4"/>
            </a:solidFill>
          </p:spPr>
        </p:sp>
      </p:grpSp>
      <p:grpSp>
        <p:nvGrpSpPr>
          <p:cNvPr name="Group 26" id="26"/>
          <p:cNvGrpSpPr/>
          <p:nvPr/>
        </p:nvGrpSpPr>
        <p:grpSpPr>
          <a:xfrm rot="0">
            <a:off x="1859756" y="5860108"/>
            <a:ext cx="6248995" cy="1743670"/>
            <a:chOff x="0" y="0"/>
            <a:chExt cx="8331993" cy="2324893"/>
          </a:xfrm>
        </p:grpSpPr>
        <p:sp>
          <p:nvSpPr>
            <p:cNvPr name="Freeform 27" id="27"/>
            <p:cNvSpPr/>
            <p:nvPr/>
          </p:nvSpPr>
          <p:spPr>
            <a:xfrm flipH="false" flipV="false" rot="0">
              <a:off x="6350" y="6350"/>
              <a:ext cx="8319262" cy="2312162"/>
            </a:xfrm>
            <a:custGeom>
              <a:avLst/>
              <a:gdLst/>
              <a:ahLst/>
              <a:cxnLst/>
              <a:rect r="r" b="b" t="t" l="l"/>
              <a:pathLst>
                <a:path h="2312162" w="8319262">
                  <a:moveTo>
                    <a:pt x="0" y="131953"/>
                  </a:moveTo>
                  <a:cubicBezTo>
                    <a:pt x="0" y="59055"/>
                    <a:pt x="59309" y="0"/>
                    <a:pt x="132461" y="0"/>
                  </a:cubicBezTo>
                  <a:lnTo>
                    <a:pt x="8186801" y="0"/>
                  </a:lnTo>
                  <a:cubicBezTo>
                    <a:pt x="8259953" y="0"/>
                    <a:pt x="8319262" y="59055"/>
                    <a:pt x="8319262" y="131953"/>
                  </a:cubicBezTo>
                  <a:lnTo>
                    <a:pt x="8319262" y="2180209"/>
                  </a:lnTo>
                  <a:cubicBezTo>
                    <a:pt x="8319262" y="2253107"/>
                    <a:pt x="8259953" y="2312162"/>
                    <a:pt x="8186801" y="2312162"/>
                  </a:cubicBezTo>
                  <a:lnTo>
                    <a:pt x="132461" y="2312162"/>
                  </a:lnTo>
                  <a:cubicBezTo>
                    <a:pt x="59309" y="2312162"/>
                    <a:pt x="0" y="2253107"/>
                    <a:pt x="0" y="2180209"/>
                  </a:cubicBezTo>
                  <a:close/>
                </a:path>
              </a:pathLst>
            </a:custGeom>
            <a:solidFill>
              <a:srgbClr val="E2F3EF"/>
            </a:solidFill>
          </p:spPr>
        </p:sp>
        <p:sp>
          <p:nvSpPr>
            <p:cNvPr name="Freeform 28" id="28"/>
            <p:cNvSpPr/>
            <p:nvPr/>
          </p:nvSpPr>
          <p:spPr>
            <a:xfrm flipH="false" flipV="false" rot="0">
              <a:off x="0" y="0"/>
              <a:ext cx="8331962" cy="2324862"/>
            </a:xfrm>
            <a:custGeom>
              <a:avLst/>
              <a:gdLst/>
              <a:ahLst/>
              <a:cxnLst/>
              <a:rect r="r" b="b" t="t" l="l"/>
              <a:pathLst>
                <a:path h="2324862" w="8331962">
                  <a:moveTo>
                    <a:pt x="0" y="138303"/>
                  </a:moveTo>
                  <a:cubicBezTo>
                    <a:pt x="0" y="61849"/>
                    <a:pt x="62230" y="0"/>
                    <a:pt x="138811" y="0"/>
                  </a:cubicBezTo>
                  <a:lnTo>
                    <a:pt x="8193151" y="0"/>
                  </a:lnTo>
                  <a:lnTo>
                    <a:pt x="8193151" y="6350"/>
                  </a:lnTo>
                  <a:lnTo>
                    <a:pt x="8193151" y="0"/>
                  </a:lnTo>
                  <a:cubicBezTo>
                    <a:pt x="8269859" y="0"/>
                    <a:pt x="8331962" y="61849"/>
                    <a:pt x="8331962" y="138303"/>
                  </a:cubicBezTo>
                  <a:lnTo>
                    <a:pt x="8325612" y="138303"/>
                  </a:lnTo>
                  <a:lnTo>
                    <a:pt x="8331962" y="138303"/>
                  </a:lnTo>
                  <a:lnTo>
                    <a:pt x="8331962" y="2186559"/>
                  </a:lnTo>
                  <a:lnTo>
                    <a:pt x="8325612" y="2186559"/>
                  </a:lnTo>
                  <a:lnTo>
                    <a:pt x="8331962" y="2186559"/>
                  </a:lnTo>
                  <a:cubicBezTo>
                    <a:pt x="8331962" y="2263013"/>
                    <a:pt x="8269732" y="2324862"/>
                    <a:pt x="8193151" y="2324862"/>
                  </a:cubicBezTo>
                  <a:lnTo>
                    <a:pt x="8193151" y="2318512"/>
                  </a:lnTo>
                  <a:lnTo>
                    <a:pt x="8193151" y="2324862"/>
                  </a:lnTo>
                  <a:lnTo>
                    <a:pt x="138811" y="2324862"/>
                  </a:lnTo>
                  <a:lnTo>
                    <a:pt x="138811" y="2318512"/>
                  </a:lnTo>
                  <a:lnTo>
                    <a:pt x="138811" y="2324862"/>
                  </a:lnTo>
                  <a:cubicBezTo>
                    <a:pt x="62230" y="2324862"/>
                    <a:pt x="0" y="2263013"/>
                    <a:pt x="0" y="2186559"/>
                  </a:cubicBezTo>
                  <a:lnTo>
                    <a:pt x="0" y="138303"/>
                  </a:lnTo>
                  <a:lnTo>
                    <a:pt x="6350" y="138303"/>
                  </a:lnTo>
                  <a:lnTo>
                    <a:pt x="0" y="138303"/>
                  </a:lnTo>
                  <a:moveTo>
                    <a:pt x="12700" y="138303"/>
                  </a:moveTo>
                  <a:lnTo>
                    <a:pt x="12700" y="2186559"/>
                  </a:lnTo>
                  <a:lnTo>
                    <a:pt x="6350" y="2186559"/>
                  </a:lnTo>
                  <a:lnTo>
                    <a:pt x="12700" y="2186559"/>
                  </a:lnTo>
                  <a:cubicBezTo>
                    <a:pt x="12700" y="2255901"/>
                    <a:pt x="69088" y="2312162"/>
                    <a:pt x="138811" y="2312162"/>
                  </a:cubicBezTo>
                  <a:lnTo>
                    <a:pt x="8193151" y="2312162"/>
                  </a:lnTo>
                  <a:cubicBezTo>
                    <a:pt x="8262874" y="2312162"/>
                    <a:pt x="8319262" y="2255901"/>
                    <a:pt x="8319262" y="2186559"/>
                  </a:cubicBezTo>
                  <a:lnTo>
                    <a:pt x="8319262" y="138303"/>
                  </a:lnTo>
                  <a:cubicBezTo>
                    <a:pt x="8319262" y="68961"/>
                    <a:pt x="8262874" y="12700"/>
                    <a:pt x="8193151" y="12700"/>
                  </a:cubicBezTo>
                  <a:lnTo>
                    <a:pt x="138811" y="12700"/>
                  </a:lnTo>
                  <a:lnTo>
                    <a:pt x="138811" y="6350"/>
                  </a:lnTo>
                  <a:lnTo>
                    <a:pt x="138811" y="12700"/>
                  </a:lnTo>
                  <a:cubicBezTo>
                    <a:pt x="69088" y="12700"/>
                    <a:pt x="12700" y="68961"/>
                    <a:pt x="12700" y="138303"/>
                  </a:cubicBezTo>
                  <a:close/>
                </a:path>
              </a:pathLst>
            </a:custGeom>
            <a:solidFill>
              <a:srgbClr val="BCDBD4"/>
            </a:solidFill>
          </p:spPr>
        </p:sp>
      </p:grpSp>
      <p:grpSp>
        <p:nvGrpSpPr>
          <p:cNvPr name="Group 29" id="29"/>
          <p:cNvGrpSpPr>
            <a:grpSpLocks noChangeAspect="true"/>
          </p:cNvGrpSpPr>
          <p:nvPr/>
        </p:nvGrpSpPr>
        <p:grpSpPr>
          <a:xfrm rot="0">
            <a:off x="4818609" y="6524922"/>
            <a:ext cx="331291" cy="414040"/>
            <a:chOff x="0" y="0"/>
            <a:chExt cx="441722" cy="552053"/>
          </a:xfrm>
        </p:grpSpPr>
        <p:sp>
          <p:nvSpPr>
            <p:cNvPr name="Freeform 30" id="30" descr="preencoded.png"/>
            <p:cNvSpPr/>
            <p:nvPr/>
          </p:nvSpPr>
          <p:spPr>
            <a:xfrm flipH="false" flipV="false" rot="0">
              <a:off x="0" y="0"/>
              <a:ext cx="441706" cy="552069"/>
            </a:xfrm>
            <a:custGeom>
              <a:avLst/>
              <a:gdLst/>
              <a:ahLst/>
              <a:cxnLst/>
              <a:rect r="r" b="b" t="t" l="l"/>
              <a:pathLst>
                <a:path h="552069" w="441706">
                  <a:moveTo>
                    <a:pt x="0" y="0"/>
                  </a:moveTo>
                  <a:lnTo>
                    <a:pt x="441706" y="0"/>
                  </a:lnTo>
                  <a:lnTo>
                    <a:pt x="441706" y="552069"/>
                  </a:lnTo>
                  <a:lnTo>
                    <a:pt x="0" y="552069"/>
                  </a:lnTo>
                  <a:lnTo>
                    <a:pt x="0" y="0"/>
                  </a:lnTo>
                  <a:close/>
                </a:path>
              </a:pathLst>
            </a:custGeom>
            <a:blipFill>
              <a:blip r:embed="rId5"/>
              <a:stretch>
                <a:fillRect l="-863" t="0" r="-866" b="2"/>
              </a:stretch>
            </a:blipFill>
          </p:spPr>
        </p:sp>
      </p:grpSp>
      <p:sp>
        <p:nvSpPr>
          <p:cNvPr name="TextBox 31" id="31"/>
          <p:cNvSpPr txBox="true"/>
          <p:nvPr/>
        </p:nvSpPr>
        <p:spPr>
          <a:xfrm rot="0">
            <a:off x="8339584" y="6071890"/>
            <a:ext cx="2987725" cy="396628"/>
          </a:xfrm>
          <a:prstGeom prst="rect">
            <a:avLst/>
          </a:prstGeom>
        </p:spPr>
        <p:txBody>
          <a:bodyPr anchor="t" rtlCol="false" tIns="0" lIns="0" bIns="0" rIns="0">
            <a:spAutoFit/>
          </a:bodyPr>
          <a:lstStyle/>
          <a:p>
            <a:pPr algn="l">
              <a:lnSpc>
                <a:spcPts val="2875"/>
              </a:lnSpc>
            </a:pPr>
            <a:r>
              <a:rPr lang="en-US" sz="2312" b="true">
                <a:solidFill>
                  <a:srgbClr val="333F70"/>
                </a:solidFill>
                <a:latin typeface="Arimo Bold"/>
                <a:ea typeface="Arimo Bold"/>
                <a:cs typeface="Arimo Bold"/>
                <a:sym typeface="Arimo Bold"/>
              </a:rPr>
              <a:t>Robust Security</a:t>
            </a:r>
          </a:p>
        </p:txBody>
      </p:sp>
      <p:sp>
        <p:nvSpPr>
          <p:cNvPr name="TextBox 32" id="32"/>
          <p:cNvSpPr txBox="true"/>
          <p:nvPr/>
        </p:nvSpPr>
        <p:spPr>
          <a:xfrm rot="0">
            <a:off x="8339584" y="6543080"/>
            <a:ext cx="8888165" cy="820341"/>
          </a:xfrm>
          <a:prstGeom prst="rect">
            <a:avLst/>
          </a:prstGeom>
        </p:spPr>
        <p:txBody>
          <a:bodyPr anchor="t" rtlCol="false" tIns="0" lIns="0" bIns="0" rIns="0">
            <a:spAutoFit/>
          </a:bodyPr>
          <a:lstStyle/>
          <a:p>
            <a:pPr algn="l">
              <a:lnSpc>
                <a:spcPts val="2937"/>
              </a:lnSpc>
            </a:pPr>
            <a:r>
              <a:rPr lang="en-US" sz="1812">
                <a:solidFill>
                  <a:srgbClr val="333F70"/>
                </a:solidFill>
                <a:latin typeface="Open Sans"/>
                <a:ea typeface="Open Sans"/>
                <a:cs typeface="Open Sans"/>
                <a:sym typeface="Open Sans"/>
              </a:rPr>
              <a:t>Implement end-to-end encryption and comply with all data privacy regulations for patient interaction.</a:t>
            </a:r>
          </a:p>
        </p:txBody>
      </p:sp>
      <p:grpSp>
        <p:nvGrpSpPr>
          <p:cNvPr name="Group 33" id="33"/>
          <p:cNvGrpSpPr/>
          <p:nvPr/>
        </p:nvGrpSpPr>
        <p:grpSpPr>
          <a:xfrm rot="0">
            <a:off x="8221712" y="7587109"/>
            <a:ext cx="9123909" cy="14288"/>
            <a:chOff x="0" y="0"/>
            <a:chExt cx="12165212" cy="19050"/>
          </a:xfrm>
        </p:grpSpPr>
        <p:sp>
          <p:nvSpPr>
            <p:cNvPr name="Freeform 34" id="34"/>
            <p:cNvSpPr/>
            <p:nvPr/>
          </p:nvSpPr>
          <p:spPr>
            <a:xfrm flipH="false" flipV="false" rot="0">
              <a:off x="0" y="0"/>
              <a:ext cx="12165203" cy="19050"/>
            </a:xfrm>
            <a:custGeom>
              <a:avLst/>
              <a:gdLst/>
              <a:ahLst/>
              <a:cxnLst/>
              <a:rect r="r" b="b" t="t" l="l"/>
              <a:pathLst>
                <a:path h="19050" w="12165203">
                  <a:moveTo>
                    <a:pt x="0" y="9525"/>
                  </a:moveTo>
                  <a:cubicBezTo>
                    <a:pt x="0" y="4318"/>
                    <a:pt x="4318" y="0"/>
                    <a:pt x="9525" y="0"/>
                  </a:cubicBezTo>
                  <a:lnTo>
                    <a:pt x="12155678" y="0"/>
                  </a:lnTo>
                  <a:cubicBezTo>
                    <a:pt x="12160885" y="0"/>
                    <a:pt x="12165203" y="4318"/>
                    <a:pt x="12165203" y="9525"/>
                  </a:cubicBezTo>
                  <a:cubicBezTo>
                    <a:pt x="12165203" y="14732"/>
                    <a:pt x="12160885" y="19050"/>
                    <a:pt x="12155678" y="19050"/>
                  </a:cubicBezTo>
                  <a:lnTo>
                    <a:pt x="9525" y="19050"/>
                  </a:lnTo>
                  <a:cubicBezTo>
                    <a:pt x="4318" y="19050"/>
                    <a:pt x="0" y="14732"/>
                    <a:pt x="0" y="9525"/>
                  </a:cubicBezTo>
                  <a:close/>
                </a:path>
              </a:pathLst>
            </a:custGeom>
            <a:solidFill>
              <a:srgbClr val="BCDBD4"/>
            </a:solidFill>
          </p:spPr>
        </p:sp>
      </p:grpSp>
      <p:grpSp>
        <p:nvGrpSpPr>
          <p:cNvPr name="Group 35" id="35"/>
          <p:cNvGrpSpPr/>
          <p:nvPr/>
        </p:nvGrpSpPr>
        <p:grpSpPr>
          <a:xfrm rot="0">
            <a:off x="819894" y="7711976"/>
            <a:ext cx="8328869" cy="1743670"/>
            <a:chOff x="0" y="0"/>
            <a:chExt cx="11105158" cy="2324893"/>
          </a:xfrm>
        </p:grpSpPr>
        <p:sp>
          <p:nvSpPr>
            <p:cNvPr name="Freeform 36" id="36"/>
            <p:cNvSpPr/>
            <p:nvPr/>
          </p:nvSpPr>
          <p:spPr>
            <a:xfrm flipH="false" flipV="false" rot="0">
              <a:off x="6350" y="6350"/>
              <a:ext cx="11092561" cy="2312162"/>
            </a:xfrm>
            <a:custGeom>
              <a:avLst/>
              <a:gdLst/>
              <a:ahLst/>
              <a:cxnLst/>
              <a:rect r="r" b="b" t="t" l="l"/>
              <a:pathLst>
                <a:path h="2312162" w="11092561">
                  <a:moveTo>
                    <a:pt x="0" y="131953"/>
                  </a:moveTo>
                  <a:cubicBezTo>
                    <a:pt x="0" y="59055"/>
                    <a:pt x="59309" y="0"/>
                    <a:pt x="132588" y="0"/>
                  </a:cubicBezTo>
                  <a:lnTo>
                    <a:pt x="10959973" y="0"/>
                  </a:lnTo>
                  <a:cubicBezTo>
                    <a:pt x="11033125" y="0"/>
                    <a:pt x="11092561" y="59055"/>
                    <a:pt x="11092561" y="131953"/>
                  </a:cubicBezTo>
                  <a:lnTo>
                    <a:pt x="11092561" y="2180209"/>
                  </a:lnTo>
                  <a:cubicBezTo>
                    <a:pt x="11092561" y="2253107"/>
                    <a:pt x="11033252" y="2312162"/>
                    <a:pt x="10959973" y="2312162"/>
                  </a:cubicBezTo>
                  <a:lnTo>
                    <a:pt x="132588" y="2312162"/>
                  </a:lnTo>
                  <a:cubicBezTo>
                    <a:pt x="59309" y="2312162"/>
                    <a:pt x="0" y="2253107"/>
                    <a:pt x="0" y="2180209"/>
                  </a:cubicBezTo>
                  <a:close/>
                </a:path>
              </a:pathLst>
            </a:custGeom>
            <a:solidFill>
              <a:srgbClr val="E2F3EF"/>
            </a:solidFill>
          </p:spPr>
        </p:sp>
        <p:sp>
          <p:nvSpPr>
            <p:cNvPr name="Freeform 37" id="37"/>
            <p:cNvSpPr/>
            <p:nvPr/>
          </p:nvSpPr>
          <p:spPr>
            <a:xfrm flipH="false" flipV="false" rot="0">
              <a:off x="0" y="0"/>
              <a:ext cx="11105261" cy="2324862"/>
            </a:xfrm>
            <a:custGeom>
              <a:avLst/>
              <a:gdLst/>
              <a:ahLst/>
              <a:cxnLst/>
              <a:rect r="r" b="b" t="t" l="l"/>
              <a:pathLst>
                <a:path h="2324862" w="11105261">
                  <a:moveTo>
                    <a:pt x="0" y="138303"/>
                  </a:moveTo>
                  <a:cubicBezTo>
                    <a:pt x="0" y="61849"/>
                    <a:pt x="62230" y="0"/>
                    <a:pt x="138938" y="0"/>
                  </a:cubicBezTo>
                  <a:lnTo>
                    <a:pt x="10966323" y="0"/>
                  </a:lnTo>
                  <a:lnTo>
                    <a:pt x="10966323" y="6350"/>
                  </a:lnTo>
                  <a:lnTo>
                    <a:pt x="10966323" y="0"/>
                  </a:lnTo>
                  <a:cubicBezTo>
                    <a:pt x="11043031" y="0"/>
                    <a:pt x="11105261" y="61849"/>
                    <a:pt x="11105261" y="138303"/>
                  </a:cubicBezTo>
                  <a:lnTo>
                    <a:pt x="11098911" y="138303"/>
                  </a:lnTo>
                  <a:lnTo>
                    <a:pt x="11105261" y="138303"/>
                  </a:lnTo>
                  <a:lnTo>
                    <a:pt x="11105261" y="2186559"/>
                  </a:lnTo>
                  <a:lnTo>
                    <a:pt x="11098911" y="2186559"/>
                  </a:lnTo>
                  <a:lnTo>
                    <a:pt x="11105261" y="2186559"/>
                  </a:lnTo>
                  <a:cubicBezTo>
                    <a:pt x="11105261" y="2263013"/>
                    <a:pt x="11043031" y="2324862"/>
                    <a:pt x="10966323" y="2324862"/>
                  </a:cubicBezTo>
                  <a:lnTo>
                    <a:pt x="10966323" y="2318512"/>
                  </a:lnTo>
                  <a:lnTo>
                    <a:pt x="10966323" y="2324862"/>
                  </a:lnTo>
                  <a:lnTo>
                    <a:pt x="138938" y="2324862"/>
                  </a:lnTo>
                  <a:lnTo>
                    <a:pt x="138938" y="2318512"/>
                  </a:lnTo>
                  <a:lnTo>
                    <a:pt x="138938" y="2324862"/>
                  </a:lnTo>
                  <a:cubicBezTo>
                    <a:pt x="62230" y="2324862"/>
                    <a:pt x="0" y="2263013"/>
                    <a:pt x="0" y="2186559"/>
                  </a:cubicBezTo>
                  <a:lnTo>
                    <a:pt x="0" y="138303"/>
                  </a:lnTo>
                  <a:lnTo>
                    <a:pt x="6350" y="138303"/>
                  </a:lnTo>
                  <a:lnTo>
                    <a:pt x="0" y="138303"/>
                  </a:lnTo>
                  <a:moveTo>
                    <a:pt x="12700" y="138303"/>
                  </a:moveTo>
                  <a:lnTo>
                    <a:pt x="12700" y="2186559"/>
                  </a:lnTo>
                  <a:lnTo>
                    <a:pt x="6350" y="2186559"/>
                  </a:lnTo>
                  <a:lnTo>
                    <a:pt x="12700" y="2186559"/>
                  </a:lnTo>
                  <a:cubicBezTo>
                    <a:pt x="12700" y="2255901"/>
                    <a:pt x="69215" y="2312162"/>
                    <a:pt x="138938" y="2312162"/>
                  </a:cubicBezTo>
                  <a:lnTo>
                    <a:pt x="10966323" y="2312162"/>
                  </a:lnTo>
                  <a:cubicBezTo>
                    <a:pt x="11036046" y="2312162"/>
                    <a:pt x="11092561" y="2255901"/>
                    <a:pt x="11092561" y="2186559"/>
                  </a:cubicBezTo>
                  <a:lnTo>
                    <a:pt x="11092561" y="138303"/>
                  </a:lnTo>
                  <a:cubicBezTo>
                    <a:pt x="11092561" y="68961"/>
                    <a:pt x="11036046" y="12700"/>
                    <a:pt x="10966323" y="12700"/>
                  </a:cubicBezTo>
                  <a:lnTo>
                    <a:pt x="138938" y="12700"/>
                  </a:lnTo>
                  <a:lnTo>
                    <a:pt x="138938" y="6350"/>
                  </a:lnTo>
                  <a:lnTo>
                    <a:pt x="138938" y="12700"/>
                  </a:lnTo>
                  <a:cubicBezTo>
                    <a:pt x="69215" y="12700"/>
                    <a:pt x="12700" y="68961"/>
                    <a:pt x="12700" y="138303"/>
                  </a:cubicBezTo>
                  <a:close/>
                </a:path>
              </a:pathLst>
            </a:custGeom>
            <a:solidFill>
              <a:srgbClr val="BCDBD4"/>
            </a:solidFill>
          </p:spPr>
        </p:sp>
      </p:grpSp>
      <p:grpSp>
        <p:nvGrpSpPr>
          <p:cNvPr name="Group 38" id="38"/>
          <p:cNvGrpSpPr>
            <a:grpSpLocks noChangeAspect="true"/>
          </p:cNvGrpSpPr>
          <p:nvPr/>
        </p:nvGrpSpPr>
        <p:grpSpPr>
          <a:xfrm rot="0">
            <a:off x="4818609" y="8376791"/>
            <a:ext cx="331291" cy="414040"/>
            <a:chOff x="0" y="0"/>
            <a:chExt cx="441722" cy="552053"/>
          </a:xfrm>
        </p:grpSpPr>
        <p:sp>
          <p:nvSpPr>
            <p:cNvPr name="Freeform 39" id="39" descr="preencoded.png"/>
            <p:cNvSpPr/>
            <p:nvPr/>
          </p:nvSpPr>
          <p:spPr>
            <a:xfrm flipH="false" flipV="false" rot="0">
              <a:off x="0" y="0"/>
              <a:ext cx="441706" cy="552069"/>
            </a:xfrm>
            <a:custGeom>
              <a:avLst/>
              <a:gdLst/>
              <a:ahLst/>
              <a:cxnLst/>
              <a:rect r="r" b="b" t="t" l="l"/>
              <a:pathLst>
                <a:path h="552069" w="441706">
                  <a:moveTo>
                    <a:pt x="0" y="0"/>
                  </a:moveTo>
                  <a:lnTo>
                    <a:pt x="441706" y="0"/>
                  </a:lnTo>
                  <a:lnTo>
                    <a:pt x="441706" y="552069"/>
                  </a:lnTo>
                  <a:lnTo>
                    <a:pt x="0" y="552069"/>
                  </a:lnTo>
                  <a:lnTo>
                    <a:pt x="0" y="0"/>
                  </a:lnTo>
                  <a:close/>
                </a:path>
              </a:pathLst>
            </a:custGeom>
            <a:blipFill>
              <a:blip r:embed="rId6"/>
              <a:stretch>
                <a:fillRect l="-863" t="0" r="-866" b="2"/>
              </a:stretch>
            </a:blipFill>
          </p:spPr>
        </p:sp>
      </p:grpSp>
      <p:sp>
        <p:nvSpPr>
          <p:cNvPr name="TextBox 40" id="40"/>
          <p:cNvSpPr txBox="true"/>
          <p:nvPr/>
        </p:nvSpPr>
        <p:spPr>
          <a:xfrm rot="0">
            <a:off x="9379595" y="7923759"/>
            <a:ext cx="3979515" cy="396628"/>
          </a:xfrm>
          <a:prstGeom prst="rect">
            <a:avLst/>
          </a:prstGeom>
        </p:spPr>
        <p:txBody>
          <a:bodyPr anchor="t" rtlCol="false" tIns="0" lIns="0" bIns="0" rIns="0">
            <a:spAutoFit/>
          </a:bodyPr>
          <a:lstStyle/>
          <a:p>
            <a:pPr algn="l">
              <a:lnSpc>
                <a:spcPts val="2875"/>
              </a:lnSpc>
            </a:pPr>
            <a:r>
              <a:rPr lang="en-US" sz="2312" b="true">
                <a:solidFill>
                  <a:srgbClr val="333F70"/>
                </a:solidFill>
                <a:latin typeface="Arimo Bold"/>
                <a:ea typeface="Arimo Bold"/>
                <a:cs typeface="Arimo Bold"/>
                <a:sym typeface="Arimo Bold"/>
              </a:rPr>
              <a:t>Seamless Integration</a:t>
            </a:r>
          </a:p>
        </p:txBody>
      </p:sp>
      <p:sp>
        <p:nvSpPr>
          <p:cNvPr name="TextBox 41" id="41"/>
          <p:cNvSpPr txBox="true"/>
          <p:nvPr/>
        </p:nvSpPr>
        <p:spPr>
          <a:xfrm rot="0">
            <a:off x="9379595" y="8394947"/>
            <a:ext cx="7848154" cy="820341"/>
          </a:xfrm>
          <a:prstGeom prst="rect">
            <a:avLst/>
          </a:prstGeom>
        </p:spPr>
        <p:txBody>
          <a:bodyPr anchor="t" rtlCol="false" tIns="0" lIns="0" bIns="0" rIns="0">
            <a:spAutoFit/>
          </a:bodyPr>
          <a:lstStyle/>
          <a:p>
            <a:pPr algn="l">
              <a:lnSpc>
                <a:spcPts val="2937"/>
              </a:lnSpc>
            </a:pPr>
            <a:r>
              <a:rPr lang="en-US" sz="1812">
                <a:solidFill>
                  <a:srgbClr val="333F70"/>
                </a:solidFill>
                <a:latin typeface="Open Sans"/>
                <a:ea typeface="Open Sans"/>
                <a:cs typeface="Open Sans"/>
                <a:sym typeface="Open Sans"/>
              </a:rPr>
              <a:t>Design the API for easy integration into existing hospital or university health portals.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2F3EF"/>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E2F3EF"/>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E2F3EF"/>
            </a:solidFill>
          </p:spPr>
        </p:sp>
      </p:grpSp>
      <p:sp>
        <p:nvSpPr>
          <p:cNvPr name="TextBox 6" id="6"/>
          <p:cNvSpPr txBox="true"/>
          <p:nvPr/>
        </p:nvSpPr>
        <p:spPr>
          <a:xfrm rot="0">
            <a:off x="974229" y="727322"/>
            <a:ext cx="16339543" cy="1429941"/>
          </a:xfrm>
          <a:prstGeom prst="rect">
            <a:avLst/>
          </a:prstGeom>
        </p:spPr>
        <p:txBody>
          <a:bodyPr anchor="t" rtlCol="false" tIns="0" lIns="0" bIns="0" rIns="0">
            <a:spAutoFit/>
          </a:bodyPr>
          <a:lstStyle/>
          <a:p>
            <a:pPr algn="l">
              <a:lnSpc>
                <a:spcPts val="5437"/>
              </a:lnSpc>
            </a:pPr>
            <a:r>
              <a:rPr lang="en-US" sz="4375" b="true">
                <a:solidFill>
                  <a:srgbClr val="333F70"/>
                </a:solidFill>
                <a:latin typeface="Arimo Bold"/>
                <a:ea typeface="Arimo Bold"/>
                <a:cs typeface="Arimo Bold"/>
                <a:sym typeface="Arimo Bold"/>
              </a:rPr>
              <a:t>Literature Review: State of Conversational AI in Health</a:t>
            </a:r>
          </a:p>
        </p:txBody>
      </p:sp>
      <p:sp>
        <p:nvSpPr>
          <p:cNvPr name="TextBox 7" id="7"/>
          <p:cNvSpPr txBox="true"/>
          <p:nvPr/>
        </p:nvSpPr>
        <p:spPr>
          <a:xfrm rot="0">
            <a:off x="974229" y="2628156"/>
            <a:ext cx="16339543" cy="976313"/>
          </a:xfrm>
          <a:prstGeom prst="rect">
            <a:avLst/>
          </a:prstGeom>
        </p:spPr>
        <p:txBody>
          <a:bodyPr anchor="t" rtlCol="false" tIns="0" lIns="0" bIns="0" rIns="0">
            <a:spAutoFit/>
          </a:bodyPr>
          <a:lstStyle/>
          <a:p>
            <a:pPr algn="l">
              <a:lnSpc>
                <a:spcPts val="3500"/>
              </a:lnSpc>
            </a:pPr>
            <a:r>
              <a:rPr lang="en-US" sz="2187">
                <a:solidFill>
                  <a:srgbClr val="333F70"/>
                </a:solidFill>
                <a:latin typeface="Open Sans"/>
                <a:ea typeface="Open Sans"/>
                <a:cs typeface="Open Sans"/>
                <a:sym typeface="Open Sans"/>
              </a:rPr>
              <a:t>Our project is built upon established research in Natural Language Processing (NLP) and medical informatics. We analysed existing models to understand best practices and limitations.</a:t>
            </a:r>
          </a:p>
        </p:txBody>
      </p:sp>
      <p:sp>
        <p:nvSpPr>
          <p:cNvPr name="TextBox 8" id="8"/>
          <p:cNvSpPr txBox="true"/>
          <p:nvPr/>
        </p:nvSpPr>
        <p:spPr>
          <a:xfrm rot="0">
            <a:off x="1701701" y="4468117"/>
            <a:ext cx="4582865" cy="463451"/>
          </a:xfrm>
          <a:prstGeom prst="rect">
            <a:avLst/>
          </a:prstGeom>
        </p:spPr>
        <p:txBody>
          <a:bodyPr anchor="t" rtlCol="false" tIns="0" lIns="0" bIns="0" rIns="0">
            <a:spAutoFit/>
          </a:bodyPr>
          <a:lstStyle/>
          <a:p>
            <a:pPr algn="r">
              <a:lnSpc>
                <a:spcPts val="3374"/>
              </a:lnSpc>
            </a:pPr>
            <a:r>
              <a:rPr lang="en-US" sz="2687" b="true">
                <a:solidFill>
                  <a:srgbClr val="333F70"/>
                </a:solidFill>
                <a:latin typeface="Arimo Bold"/>
                <a:ea typeface="Arimo Bold"/>
                <a:cs typeface="Arimo Bold"/>
                <a:sym typeface="Arimo Bold"/>
              </a:rPr>
              <a:t>Diagnostic Accuracy</a:t>
            </a:r>
          </a:p>
        </p:txBody>
      </p:sp>
      <p:sp>
        <p:nvSpPr>
          <p:cNvPr name="TextBox 9" id="9"/>
          <p:cNvSpPr txBox="true"/>
          <p:nvPr/>
        </p:nvSpPr>
        <p:spPr>
          <a:xfrm rot="0">
            <a:off x="974229" y="5012829"/>
            <a:ext cx="5310336" cy="976313"/>
          </a:xfrm>
          <a:prstGeom prst="rect">
            <a:avLst/>
          </a:prstGeom>
        </p:spPr>
        <p:txBody>
          <a:bodyPr anchor="t" rtlCol="false" tIns="0" lIns="0" bIns="0" rIns="0">
            <a:spAutoFit/>
          </a:bodyPr>
          <a:lstStyle/>
          <a:p>
            <a:pPr algn="r">
              <a:lnSpc>
                <a:spcPts val="3500"/>
              </a:lnSpc>
            </a:pPr>
            <a:r>
              <a:rPr lang="en-US" sz="2187">
                <a:solidFill>
                  <a:srgbClr val="333F70"/>
                </a:solidFill>
                <a:latin typeface="Open Sans"/>
                <a:ea typeface="Open Sans"/>
                <a:cs typeface="Open Sans"/>
                <a:sym typeface="Open Sans"/>
              </a:rPr>
              <a:t>Reviewing benchmarks for symptom checker algorithms.</a:t>
            </a:r>
          </a:p>
        </p:txBody>
      </p:sp>
      <p:grpSp>
        <p:nvGrpSpPr>
          <p:cNvPr name="Group 10" id="10"/>
          <p:cNvGrpSpPr>
            <a:grpSpLocks noChangeAspect="true"/>
          </p:cNvGrpSpPr>
          <p:nvPr/>
        </p:nvGrpSpPr>
        <p:grpSpPr>
          <a:xfrm rot="0">
            <a:off x="6284565" y="3917602"/>
            <a:ext cx="5718721" cy="5718721"/>
            <a:chOff x="0" y="0"/>
            <a:chExt cx="7624962" cy="7624962"/>
          </a:xfrm>
        </p:grpSpPr>
        <p:sp>
          <p:nvSpPr>
            <p:cNvPr name="Freeform 11" id="11" descr="preencoded.png"/>
            <p:cNvSpPr/>
            <p:nvPr/>
          </p:nvSpPr>
          <p:spPr>
            <a:xfrm flipH="false" flipV="false" rot="0">
              <a:off x="0" y="0"/>
              <a:ext cx="7624953" cy="7624953"/>
            </a:xfrm>
            <a:custGeom>
              <a:avLst/>
              <a:gdLst/>
              <a:ahLst/>
              <a:cxnLst/>
              <a:rect r="r" b="b" t="t" l="l"/>
              <a:pathLst>
                <a:path h="7624953" w="7624953">
                  <a:moveTo>
                    <a:pt x="0" y="0"/>
                  </a:moveTo>
                  <a:lnTo>
                    <a:pt x="7624953" y="0"/>
                  </a:lnTo>
                  <a:lnTo>
                    <a:pt x="7624953" y="7624953"/>
                  </a:lnTo>
                  <a:lnTo>
                    <a:pt x="0" y="7624953"/>
                  </a:lnTo>
                  <a:lnTo>
                    <a:pt x="0" y="0"/>
                  </a:lnTo>
                  <a:close/>
                </a:path>
              </a:pathLst>
            </a:custGeom>
            <a:blipFill>
              <a:blip r:embed="rId3"/>
              <a:stretch>
                <a:fillRect l="0" t="0" r="0" b="0"/>
              </a:stretch>
            </a:blipFill>
          </p:spPr>
        </p:sp>
      </p:grpSp>
      <p:grpSp>
        <p:nvGrpSpPr>
          <p:cNvPr name="Group 12" id="12"/>
          <p:cNvGrpSpPr>
            <a:grpSpLocks noChangeAspect="true"/>
          </p:cNvGrpSpPr>
          <p:nvPr/>
        </p:nvGrpSpPr>
        <p:grpSpPr>
          <a:xfrm rot="0">
            <a:off x="7906941" y="5491014"/>
            <a:ext cx="391417" cy="489197"/>
            <a:chOff x="0" y="0"/>
            <a:chExt cx="521890" cy="652263"/>
          </a:xfrm>
        </p:grpSpPr>
        <p:sp>
          <p:nvSpPr>
            <p:cNvPr name="Freeform 13" id="13" descr="preencoded.png"/>
            <p:cNvSpPr/>
            <p:nvPr/>
          </p:nvSpPr>
          <p:spPr>
            <a:xfrm flipH="false" flipV="false" rot="0">
              <a:off x="0" y="0"/>
              <a:ext cx="521843" cy="652272"/>
            </a:xfrm>
            <a:custGeom>
              <a:avLst/>
              <a:gdLst/>
              <a:ahLst/>
              <a:cxnLst/>
              <a:rect r="r" b="b" t="t" l="l"/>
              <a:pathLst>
                <a:path h="652272" w="521843">
                  <a:moveTo>
                    <a:pt x="0" y="0"/>
                  </a:moveTo>
                  <a:lnTo>
                    <a:pt x="521843" y="0"/>
                  </a:lnTo>
                  <a:lnTo>
                    <a:pt x="521843" y="652272"/>
                  </a:lnTo>
                  <a:lnTo>
                    <a:pt x="0" y="652272"/>
                  </a:lnTo>
                  <a:lnTo>
                    <a:pt x="0" y="0"/>
                  </a:lnTo>
                  <a:close/>
                </a:path>
              </a:pathLst>
            </a:custGeom>
            <a:blipFill>
              <a:blip r:embed="rId4"/>
              <a:stretch>
                <a:fillRect l="-237" t="0" r="-246" b="1"/>
              </a:stretch>
            </a:blipFill>
          </p:spPr>
        </p:sp>
      </p:grpSp>
      <p:sp>
        <p:nvSpPr>
          <p:cNvPr name="TextBox 14" id="14"/>
          <p:cNvSpPr txBox="true"/>
          <p:nvPr/>
        </p:nvSpPr>
        <p:spPr>
          <a:xfrm rot="0">
            <a:off x="12003286" y="4468117"/>
            <a:ext cx="3877419" cy="463451"/>
          </a:xfrm>
          <a:prstGeom prst="rect">
            <a:avLst/>
          </a:prstGeom>
        </p:spPr>
        <p:txBody>
          <a:bodyPr anchor="t" rtlCol="false" tIns="0" lIns="0" bIns="0" rIns="0">
            <a:spAutoFit/>
          </a:bodyPr>
          <a:lstStyle/>
          <a:p>
            <a:pPr algn="l">
              <a:lnSpc>
                <a:spcPts val="3374"/>
              </a:lnSpc>
            </a:pPr>
            <a:r>
              <a:rPr lang="en-US" sz="2687" b="true">
                <a:solidFill>
                  <a:srgbClr val="333F70"/>
                </a:solidFill>
                <a:latin typeface="Arimo Bold"/>
                <a:ea typeface="Arimo Bold"/>
                <a:cs typeface="Arimo Bold"/>
                <a:sym typeface="Arimo Bold"/>
              </a:rPr>
              <a:t>Ethical Guidelines</a:t>
            </a:r>
          </a:p>
        </p:txBody>
      </p:sp>
      <p:sp>
        <p:nvSpPr>
          <p:cNvPr name="TextBox 15" id="15"/>
          <p:cNvSpPr txBox="true"/>
          <p:nvPr/>
        </p:nvSpPr>
        <p:spPr>
          <a:xfrm rot="0">
            <a:off x="12003286" y="5012829"/>
            <a:ext cx="5310485" cy="412750"/>
          </a:xfrm>
          <a:prstGeom prst="rect">
            <a:avLst/>
          </a:prstGeom>
        </p:spPr>
        <p:txBody>
          <a:bodyPr anchor="t" rtlCol="false" tIns="0" lIns="0" bIns="0" rIns="0">
            <a:spAutoFit/>
          </a:bodyPr>
          <a:lstStyle/>
          <a:p>
            <a:pPr algn="l">
              <a:lnSpc>
                <a:spcPts val="3500"/>
              </a:lnSpc>
            </a:pPr>
            <a:r>
              <a:rPr lang="en-US" sz="2187">
                <a:solidFill>
                  <a:srgbClr val="333F70"/>
                </a:solidFill>
                <a:latin typeface="Open Sans"/>
                <a:ea typeface="Open Sans"/>
                <a:cs typeface="Open Sans"/>
                <a:sym typeface="Open Sans"/>
              </a:rPr>
              <a:t> Responsible AI use.</a:t>
            </a:r>
          </a:p>
        </p:txBody>
      </p:sp>
      <p:grpSp>
        <p:nvGrpSpPr>
          <p:cNvPr name="Group 16" id="16"/>
          <p:cNvGrpSpPr>
            <a:grpSpLocks noChangeAspect="true"/>
          </p:cNvGrpSpPr>
          <p:nvPr/>
        </p:nvGrpSpPr>
        <p:grpSpPr>
          <a:xfrm rot="0">
            <a:off x="6284565" y="3917602"/>
            <a:ext cx="5718721" cy="5718721"/>
            <a:chOff x="0" y="0"/>
            <a:chExt cx="7624962" cy="7624962"/>
          </a:xfrm>
        </p:grpSpPr>
        <p:sp>
          <p:nvSpPr>
            <p:cNvPr name="Freeform 17" id="17" descr="preencoded.png"/>
            <p:cNvSpPr/>
            <p:nvPr/>
          </p:nvSpPr>
          <p:spPr>
            <a:xfrm flipH="false" flipV="false" rot="0">
              <a:off x="0" y="0"/>
              <a:ext cx="7624953" cy="7624953"/>
            </a:xfrm>
            <a:custGeom>
              <a:avLst/>
              <a:gdLst/>
              <a:ahLst/>
              <a:cxnLst/>
              <a:rect r="r" b="b" t="t" l="l"/>
              <a:pathLst>
                <a:path h="7624953" w="7624953">
                  <a:moveTo>
                    <a:pt x="0" y="0"/>
                  </a:moveTo>
                  <a:lnTo>
                    <a:pt x="7624953" y="0"/>
                  </a:lnTo>
                  <a:lnTo>
                    <a:pt x="7624953" y="7624953"/>
                  </a:lnTo>
                  <a:lnTo>
                    <a:pt x="0" y="7624953"/>
                  </a:lnTo>
                  <a:lnTo>
                    <a:pt x="0" y="0"/>
                  </a:lnTo>
                  <a:close/>
                </a:path>
              </a:pathLst>
            </a:custGeom>
            <a:blipFill>
              <a:blip r:embed="rId5"/>
              <a:stretch>
                <a:fillRect l="0" t="0" r="0" b="0"/>
              </a:stretch>
            </a:blipFill>
          </p:spPr>
        </p:sp>
      </p:grpSp>
      <p:grpSp>
        <p:nvGrpSpPr>
          <p:cNvPr name="Group 18" id="18"/>
          <p:cNvGrpSpPr>
            <a:grpSpLocks noChangeAspect="true"/>
          </p:cNvGrpSpPr>
          <p:nvPr/>
        </p:nvGrpSpPr>
        <p:grpSpPr>
          <a:xfrm rot="0">
            <a:off x="9989344" y="5491014"/>
            <a:ext cx="391417" cy="489197"/>
            <a:chOff x="0" y="0"/>
            <a:chExt cx="521890" cy="652263"/>
          </a:xfrm>
        </p:grpSpPr>
        <p:sp>
          <p:nvSpPr>
            <p:cNvPr name="Freeform 19" id="19" descr="preencoded.png"/>
            <p:cNvSpPr/>
            <p:nvPr/>
          </p:nvSpPr>
          <p:spPr>
            <a:xfrm flipH="false" flipV="false" rot="0">
              <a:off x="0" y="0"/>
              <a:ext cx="521843" cy="652272"/>
            </a:xfrm>
            <a:custGeom>
              <a:avLst/>
              <a:gdLst/>
              <a:ahLst/>
              <a:cxnLst/>
              <a:rect r="r" b="b" t="t" l="l"/>
              <a:pathLst>
                <a:path h="652272" w="521843">
                  <a:moveTo>
                    <a:pt x="0" y="0"/>
                  </a:moveTo>
                  <a:lnTo>
                    <a:pt x="521843" y="0"/>
                  </a:lnTo>
                  <a:lnTo>
                    <a:pt x="521843" y="652272"/>
                  </a:lnTo>
                  <a:lnTo>
                    <a:pt x="0" y="652272"/>
                  </a:lnTo>
                  <a:lnTo>
                    <a:pt x="0" y="0"/>
                  </a:lnTo>
                  <a:close/>
                </a:path>
              </a:pathLst>
            </a:custGeom>
            <a:blipFill>
              <a:blip r:embed="rId6"/>
              <a:stretch>
                <a:fillRect l="-237" t="0" r="-246" b="1"/>
              </a:stretch>
            </a:blipFill>
          </p:spPr>
        </p:sp>
      </p:grpSp>
      <p:sp>
        <p:nvSpPr>
          <p:cNvPr name="TextBox 20" id="20"/>
          <p:cNvSpPr txBox="true"/>
          <p:nvPr/>
        </p:nvSpPr>
        <p:spPr>
          <a:xfrm rot="0">
            <a:off x="12003286" y="7536210"/>
            <a:ext cx="3897660" cy="463451"/>
          </a:xfrm>
          <a:prstGeom prst="rect">
            <a:avLst/>
          </a:prstGeom>
        </p:spPr>
        <p:txBody>
          <a:bodyPr anchor="t" rtlCol="false" tIns="0" lIns="0" bIns="0" rIns="0">
            <a:spAutoFit/>
          </a:bodyPr>
          <a:lstStyle/>
          <a:p>
            <a:pPr algn="l">
              <a:lnSpc>
                <a:spcPts val="3374"/>
              </a:lnSpc>
            </a:pPr>
            <a:r>
              <a:rPr lang="en-US" sz="2687" b="true">
                <a:solidFill>
                  <a:srgbClr val="333F70"/>
                </a:solidFill>
                <a:latin typeface="Arimo Bold"/>
                <a:ea typeface="Arimo Bold"/>
                <a:cs typeface="Arimo Bold"/>
                <a:sym typeface="Arimo Bold"/>
              </a:rPr>
              <a:t>User Interface/UX</a:t>
            </a:r>
          </a:p>
        </p:txBody>
      </p:sp>
      <p:sp>
        <p:nvSpPr>
          <p:cNvPr name="TextBox 21" id="21"/>
          <p:cNvSpPr txBox="true"/>
          <p:nvPr/>
        </p:nvSpPr>
        <p:spPr>
          <a:xfrm rot="0">
            <a:off x="12003286" y="8080921"/>
            <a:ext cx="5310485" cy="976313"/>
          </a:xfrm>
          <a:prstGeom prst="rect">
            <a:avLst/>
          </a:prstGeom>
        </p:spPr>
        <p:txBody>
          <a:bodyPr anchor="t" rtlCol="false" tIns="0" lIns="0" bIns="0" rIns="0">
            <a:spAutoFit/>
          </a:bodyPr>
          <a:lstStyle/>
          <a:p>
            <a:pPr algn="l">
              <a:lnSpc>
                <a:spcPts val="3500"/>
              </a:lnSpc>
            </a:pPr>
            <a:r>
              <a:rPr lang="en-US" sz="2187">
                <a:solidFill>
                  <a:srgbClr val="333F70"/>
                </a:solidFill>
                <a:latin typeface="Open Sans"/>
                <a:ea typeface="Open Sans"/>
                <a:cs typeface="Open Sans"/>
                <a:sym typeface="Open Sans"/>
              </a:rPr>
              <a:t>Identifying optimal conversation flows and user-friendly design.</a:t>
            </a:r>
          </a:p>
        </p:txBody>
      </p:sp>
      <p:grpSp>
        <p:nvGrpSpPr>
          <p:cNvPr name="Group 22" id="22"/>
          <p:cNvGrpSpPr>
            <a:grpSpLocks noChangeAspect="true"/>
          </p:cNvGrpSpPr>
          <p:nvPr/>
        </p:nvGrpSpPr>
        <p:grpSpPr>
          <a:xfrm rot="0">
            <a:off x="6284565" y="3917602"/>
            <a:ext cx="5718721" cy="5718721"/>
            <a:chOff x="0" y="0"/>
            <a:chExt cx="7624962" cy="7624962"/>
          </a:xfrm>
        </p:grpSpPr>
        <p:sp>
          <p:nvSpPr>
            <p:cNvPr name="Freeform 23" id="23" descr="preencoded.png"/>
            <p:cNvSpPr/>
            <p:nvPr/>
          </p:nvSpPr>
          <p:spPr>
            <a:xfrm flipH="false" flipV="false" rot="0">
              <a:off x="0" y="0"/>
              <a:ext cx="7624953" cy="7624953"/>
            </a:xfrm>
            <a:custGeom>
              <a:avLst/>
              <a:gdLst/>
              <a:ahLst/>
              <a:cxnLst/>
              <a:rect r="r" b="b" t="t" l="l"/>
              <a:pathLst>
                <a:path h="7624953" w="7624953">
                  <a:moveTo>
                    <a:pt x="0" y="0"/>
                  </a:moveTo>
                  <a:lnTo>
                    <a:pt x="7624953" y="0"/>
                  </a:lnTo>
                  <a:lnTo>
                    <a:pt x="7624953" y="7624953"/>
                  </a:lnTo>
                  <a:lnTo>
                    <a:pt x="0" y="7624953"/>
                  </a:lnTo>
                  <a:lnTo>
                    <a:pt x="0" y="0"/>
                  </a:lnTo>
                  <a:close/>
                </a:path>
              </a:pathLst>
            </a:custGeom>
            <a:blipFill>
              <a:blip r:embed="rId7"/>
              <a:stretch>
                <a:fillRect l="0" t="0" r="0" b="0"/>
              </a:stretch>
            </a:blipFill>
          </p:spPr>
        </p:sp>
      </p:grpSp>
      <p:grpSp>
        <p:nvGrpSpPr>
          <p:cNvPr name="Group 24" id="24"/>
          <p:cNvGrpSpPr>
            <a:grpSpLocks noChangeAspect="true"/>
          </p:cNvGrpSpPr>
          <p:nvPr/>
        </p:nvGrpSpPr>
        <p:grpSpPr>
          <a:xfrm rot="0">
            <a:off x="9989344" y="7573416"/>
            <a:ext cx="391417" cy="489197"/>
            <a:chOff x="0" y="0"/>
            <a:chExt cx="521890" cy="652263"/>
          </a:xfrm>
        </p:grpSpPr>
        <p:sp>
          <p:nvSpPr>
            <p:cNvPr name="Freeform 25" id="25" descr="preencoded.png"/>
            <p:cNvSpPr/>
            <p:nvPr/>
          </p:nvSpPr>
          <p:spPr>
            <a:xfrm flipH="false" flipV="false" rot="0">
              <a:off x="0" y="0"/>
              <a:ext cx="521843" cy="652272"/>
            </a:xfrm>
            <a:custGeom>
              <a:avLst/>
              <a:gdLst/>
              <a:ahLst/>
              <a:cxnLst/>
              <a:rect r="r" b="b" t="t" l="l"/>
              <a:pathLst>
                <a:path h="652272" w="521843">
                  <a:moveTo>
                    <a:pt x="0" y="0"/>
                  </a:moveTo>
                  <a:lnTo>
                    <a:pt x="521843" y="0"/>
                  </a:lnTo>
                  <a:lnTo>
                    <a:pt x="521843" y="652272"/>
                  </a:lnTo>
                  <a:lnTo>
                    <a:pt x="0" y="652272"/>
                  </a:lnTo>
                  <a:lnTo>
                    <a:pt x="0" y="0"/>
                  </a:lnTo>
                  <a:close/>
                </a:path>
              </a:pathLst>
            </a:custGeom>
            <a:blipFill>
              <a:blip r:embed="rId8"/>
              <a:stretch>
                <a:fillRect l="-237" t="0" r="-246" b="1"/>
              </a:stretch>
            </a:blipFill>
          </p:spPr>
        </p:sp>
      </p:grpSp>
      <p:sp>
        <p:nvSpPr>
          <p:cNvPr name="TextBox 26" id="26"/>
          <p:cNvSpPr txBox="true"/>
          <p:nvPr/>
        </p:nvSpPr>
        <p:spPr>
          <a:xfrm rot="0">
            <a:off x="1788021" y="7536210"/>
            <a:ext cx="4496544" cy="428625"/>
          </a:xfrm>
          <a:prstGeom prst="rect">
            <a:avLst/>
          </a:prstGeom>
        </p:spPr>
        <p:txBody>
          <a:bodyPr anchor="t" rtlCol="false" tIns="0" lIns="0" bIns="0" rIns="0">
            <a:spAutoFit/>
          </a:bodyPr>
          <a:lstStyle/>
          <a:p>
            <a:pPr algn="r">
              <a:lnSpc>
                <a:spcPts val="3374"/>
              </a:lnSpc>
            </a:pPr>
            <a:r>
              <a:rPr lang="en-US" sz="2687" b="true">
                <a:solidFill>
                  <a:srgbClr val="333F70"/>
                </a:solidFill>
                <a:latin typeface="Arimo Bold"/>
                <a:ea typeface="Arimo Bold"/>
                <a:cs typeface="Arimo Bold"/>
                <a:sym typeface="Arimo Bold"/>
              </a:rPr>
              <a:t>Model Architectures</a:t>
            </a:r>
          </a:p>
        </p:txBody>
      </p:sp>
      <p:sp>
        <p:nvSpPr>
          <p:cNvPr name="TextBox 27" id="27"/>
          <p:cNvSpPr txBox="true"/>
          <p:nvPr/>
        </p:nvSpPr>
        <p:spPr>
          <a:xfrm rot="0">
            <a:off x="1028700" y="7976889"/>
            <a:ext cx="5310336" cy="850900"/>
          </a:xfrm>
          <a:prstGeom prst="rect">
            <a:avLst/>
          </a:prstGeom>
        </p:spPr>
        <p:txBody>
          <a:bodyPr anchor="t" rtlCol="false" tIns="0" lIns="0" bIns="0" rIns="0">
            <a:spAutoFit/>
          </a:bodyPr>
          <a:lstStyle/>
          <a:p>
            <a:pPr algn="r">
              <a:lnSpc>
                <a:spcPts val="3500"/>
              </a:lnSpc>
            </a:pPr>
            <a:r>
              <a:rPr lang="en-US" sz="2187">
                <a:solidFill>
                  <a:srgbClr val="333F70"/>
                </a:solidFill>
                <a:latin typeface="Open Sans"/>
                <a:ea typeface="Open Sans"/>
                <a:cs typeface="Open Sans"/>
                <a:sym typeface="Open Sans"/>
              </a:rPr>
              <a:t>Random Forest, Decision Tree, </a:t>
            </a:r>
          </a:p>
          <a:p>
            <a:pPr algn="r">
              <a:lnSpc>
                <a:spcPts val="3500"/>
              </a:lnSpc>
            </a:pPr>
            <a:r>
              <a:rPr lang="en-US" sz="2187">
                <a:solidFill>
                  <a:srgbClr val="333F70"/>
                </a:solidFill>
                <a:latin typeface="Open Sans"/>
                <a:ea typeface="Open Sans"/>
                <a:cs typeface="Open Sans"/>
                <a:sym typeface="Open Sans"/>
              </a:rPr>
              <a:t>Logistic Regression, SVM, KNN</a:t>
            </a:r>
          </a:p>
        </p:txBody>
      </p:sp>
      <p:grpSp>
        <p:nvGrpSpPr>
          <p:cNvPr name="Group 28" id="28"/>
          <p:cNvGrpSpPr>
            <a:grpSpLocks noChangeAspect="true"/>
          </p:cNvGrpSpPr>
          <p:nvPr/>
        </p:nvGrpSpPr>
        <p:grpSpPr>
          <a:xfrm rot="0">
            <a:off x="6284565" y="3917602"/>
            <a:ext cx="5718721" cy="5718721"/>
            <a:chOff x="0" y="0"/>
            <a:chExt cx="7624962" cy="7624962"/>
          </a:xfrm>
        </p:grpSpPr>
        <p:sp>
          <p:nvSpPr>
            <p:cNvPr name="Freeform 29" id="29" descr="preencoded.png"/>
            <p:cNvSpPr/>
            <p:nvPr/>
          </p:nvSpPr>
          <p:spPr>
            <a:xfrm flipH="false" flipV="false" rot="0">
              <a:off x="0" y="0"/>
              <a:ext cx="7624953" cy="7624953"/>
            </a:xfrm>
            <a:custGeom>
              <a:avLst/>
              <a:gdLst/>
              <a:ahLst/>
              <a:cxnLst/>
              <a:rect r="r" b="b" t="t" l="l"/>
              <a:pathLst>
                <a:path h="7624953" w="7624953">
                  <a:moveTo>
                    <a:pt x="0" y="0"/>
                  </a:moveTo>
                  <a:lnTo>
                    <a:pt x="7624953" y="0"/>
                  </a:lnTo>
                  <a:lnTo>
                    <a:pt x="7624953" y="7624953"/>
                  </a:lnTo>
                  <a:lnTo>
                    <a:pt x="0" y="7624953"/>
                  </a:lnTo>
                  <a:lnTo>
                    <a:pt x="0" y="0"/>
                  </a:lnTo>
                  <a:close/>
                </a:path>
              </a:pathLst>
            </a:custGeom>
            <a:blipFill>
              <a:blip r:embed="rId9"/>
              <a:stretch>
                <a:fillRect l="0" t="0" r="0" b="0"/>
              </a:stretch>
            </a:blipFill>
          </p:spPr>
        </p:sp>
      </p:grpSp>
      <p:grpSp>
        <p:nvGrpSpPr>
          <p:cNvPr name="Group 30" id="30"/>
          <p:cNvGrpSpPr>
            <a:grpSpLocks noChangeAspect="true"/>
          </p:cNvGrpSpPr>
          <p:nvPr/>
        </p:nvGrpSpPr>
        <p:grpSpPr>
          <a:xfrm rot="0">
            <a:off x="7906941" y="7573416"/>
            <a:ext cx="391417" cy="489197"/>
            <a:chOff x="0" y="0"/>
            <a:chExt cx="521890" cy="652263"/>
          </a:xfrm>
        </p:grpSpPr>
        <p:sp>
          <p:nvSpPr>
            <p:cNvPr name="Freeform 31" id="31" descr="preencoded.png"/>
            <p:cNvSpPr/>
            <p:nvPr/>
          </p:nvSpPr>
          <p:spPr>
            <a:xfrm flipH="false" flipV="false" rot="0">
              <a:off x="0" y="0"/>
              <a:ext cx="521843" cy="652272"/>
            </a:xfrm>
            <a:custGeom>
              <a:avLst/>
              <a:gdLst/>
              <a:ahLst/>
              <a:cxnLst/>
              <a:rect r="r" b="b" t="t" l="l"/>
              <a:pathLst>
                <a:path h="652272" w="521843">
                  <a:moveTo>
                    <a:pt x="0" y="0"/>
                  </a:moveTo>
                  <a:lnTo>
                    <a:pt x="521843" y="0"/>
                  </a:lnTo>
                  <a:lnTo>
                    <a:pt x="521843" y="652272"/>
                  </a:lnTo>
                  <a:lnTo>
                    <a:pt x="0" y="652272"/>
                  </a:lnTo>
                  <a:lnTo>
                    <a:pt x="0" y="0"/>
                  </a:lnTo>
                  <a:close/>
                </a:path>
              </a:pathLst>
            </a:custGeom>
            <a:blipFill>
              <a:blip r:embed="rId10"/>
              <a:stretch>
                <a:fillRect l="-237" t="0" r="-246" b="1"/>
              </a:stretch>
            </a:blipFill>
          </p:spPr>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2F3EF"/>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E2F3EF"/>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E2F3EF"/>
            </a:solidFill>
          </p:spPr>
        </p:sp>
      </p:grpSp>
      <p:sp>
        <p:nvSpPr>
          <p:cNvPr name="TextBox 6" id="6"/>
          <p:cNvSpPr txBox="true"/>
          <p:nvPr/>
        </p:nvSpPr>
        <p:spPr>
          <a:xfrm rot="0">
            <a:off x="986879" y="737295"/>
            <a:ext cx="12132766" cy="742950"/>
          </a:xfrm>
          <a:prstGeom prst="rect">
            <a:avLst/>
          </a:prstGeom>
        </p:spPr>
        <p:txBody>
          <a:bodyPr anchor="t" rtlCol="false" tIns="0" lIns="0" bIns="0" rIns="0">
            <a:spAutoFit/>
          </a:bodyPr>
          <a:lstStyle/>
          <a:p>
            <a:pPr algn="l">
              <a:lnSpc>
                <a:spcPts val="5500"/>
              </a:lnSpc>
            </a:pPr>
            <a:r>
              <a:rPr lang="en-US" sz="4437" b="true">
                <a:solidFill>
                  <a:srgbClr val="333F70"/>
                </a:solidFill>
                <a:latin typeface="Arimo Bold"/>
                <a:ea typeface="Arimo Bold"/>
                <a:cs typeface="Arimo Bold"/>
                <a:sym typeface="Arimo Bold"/>
              </a:rPr>
              <a:t>Implementation and Training Data</a:t>
            </a:r>
          </a:p>
        </p:txBody>
      </p:sp>
      <p:sp>
        <p:nvSpPr>
          <p:cNvPr name="TextBox 7" id="7"/>
          <p:cNvSpPr txBox="true"/>
          <p:nvPr/>
        </p:nvSpPr>
        <p:spPr>
          <a:xfrm rot="0">
            <a:off x="986879" y="1958429"/>
            <a:ext cx="16314241" cy="536972"/>
          </a:xfrm>
          <a:prstGeom prst="rect">
            <a:avLst/>
          </a:prstGeom>
        </p:spPr>
        <p:txBody>
          <a:bodyPr anchor="t" rtlCol="false" tIns="0" lIns="0" bIns="0" rIns="0">
            <a:spAutoFit/>
          </a:bodyPr>
          <a:lstStyle/>
          <a:p>
            <a:pPr algn="l">
              <a:lnSpc>
                <a:spcPts val="3500"/>
              </a:lnSpc>
            </a:pPr>
            <a:r>
              <a:rPr lang="en-US" sz="2187">
                <a:solidFill>
                  <a:srgbClr val="333F70"/>
                </a:solidFill>
                <a:latin typeface="Open Sans"/>
                <a:ea typeface="Open Sans"/>
                <a:cs typeface="Open Sans"/>
                <a:sym typeface="Open Sans"/>
              </a:rPr>
              <a:t>Our knowledge base is trained on a rigorously curated dataset to minimise bias and maximise clinical relevance.</a:t>
            </a:r>
          </a:p>
        </p:txBody>
      </p:sp>
      <p:grpSp>
        <p:nvGrpSpPr>
          <p:cNvPr name="Group 8" id="8"/>
          <p:cNvGrpSpPr>
            <a:grpSpLocks noChangeAspect="true"/>
          </p:cNvGrpSpPr>
          <p:nvPr/>
        </p:nvGrpSpPr>
        <p:grpSpPr>
          <a:xfrm rot="0">
            <a:off x="1072009" y="2812554"/>
            <a:ext cx="16143834" cy="6736556"/>
            <a:chOff x="0" y="0"/>
            <a:chExt cx="21525112" cy="8982075"/>
          </a:xfrm>
        </p:grpSpPr>
        <p:sp>
          <p:nvSpPr>
            <p:cNvPr name="Freeform 9" id="9" descr="preencoded.png"/>
            <p:cNvSpPr/>
            <p:nvPr/>
          </p:nvSpPr>
          <p:spPr>
            <a:xfrm flipH="false" flipV="false" rot="0">
              <a:off x="0" y="0"/>
              <a:ext cx="21525103" cy="8982075"/>
            </a:xfrm>
            <a:custGeom>
              <a:avLst/>
              <a:gdLst/>
              <a:ahLst/>
              <a:cxnLst/>
              <a:rect r="r" b="b" t="t" l="l"/>
              <a:pathLst>
                <a:path h="8982075" w="21525103">
                  <a:moveTo>
                    <a:pt x="0" y="0"/>
                  </a:moveTo>
                  <a:lnTo>
                    <a:pt x="21525103" y="0"/>
                  </a:lnTo>
                  <a:lnTo>
                    <a:pt x="21525103" y="8982075"/>
                  </a:lnTo>
                  <a:lnTo>
                    <a:pt x="0" y="8982075"/>
                  </a:lnTo>
                  <a:lnTo>
                    <a:pt x="0" y="0"/>
                  </a:lnTo>
                  <a:close/>
                </a:path>
              </a:pathLst>
            </a:custGeom>
            <a:blipFill>
              <a:blip r:embed="rId3"/>
              <a:stretch>
                <a:fillRect l="-20" t="0" r="-20" b="0"/>
              </a:stretch>
            </a:blipFill>
          </p:spPr>
        </p:sp>
      </p:grpSp>
      <p:grpSp>
        <p:nvGrpSpPr>
          <p:cNvPr name="Group 10" id="10"/>
          <p:cNvGrpSpPr>
            <a:grpSpLocks noChangeAspect="true"/>
          </p:cNvGrpSpPr>
          <p:nvPr/>
        </p:nvGrpSpPr>
        <p:grpSpPr>
          <a:xfrm rot="0">
            <a:off x="2426604" y="6352175"/>
            <a:ext cx="604130" cy="604130"/>
            <a:chOff x="0" y="0"/>
            <a:chExt cx="805507" cy="805507"/>
          </a:xfrm>
        </p:grpSpPr>
        <p:sp>
          <p:nvSpPr>
            <p:cNvPr name="Freeform 11" id="11" descr="preencoded.png"/>
            <p:cNvSpPr/>
            <p:nvPr/>
          </p:nvSpPr>
          <p:spPr>
            <a:xfrm flipH="false" flipV="false" rot="0">
              <a:off x="0" y="0"/>
              <a:ext cx="805561" cy="805561"/>
            </a:xfrm>
            <a:custGeom>
              <a:avLst/>
              <a:gdLst/>
              <a:ahLst/>
              <a:cxnLst/>
              <a:rect r="r" b="b" t="t" l="l"/>
              <a:pathLst>
                <a:path h="805561" w="805561">
                  <a:moveTo>
                    <a:pt x="0" y="0"/>
                  </a:moveTo>
                  <a:lnTo>
                    <a:pt x="805561" y="0"/>
                  </a:lnTo>
                  <a:lnTo>
                    <a:pt x="805561" y="805561"/>
                  </a:lnTo>
                  <a:lnTo>
                    <a:pt x="0" y="805561"/>
                  </a:lnTo>
                  <a:lnTo>
                    <a:pt x="0" y="0"/>
                  </a:lnTo>
                  <a:close/>
                </a:path>
              </a:pathLst>
            </a:custGeom>
            <a:blipFill>
              <a:blip r:embed="rId4"/>
              <a:stretch>
                <a:fillRect l="0" t="0" r="6" b="6"/>
              </a:stretch>
            </a:blipFill>
          </p:spPr>
        </p:sp>
      </p:grpSp>
      <p:sp>
        <p:nvSpPr>
          <p:cNvPr name="TextBox 12" id="12"/>
          <p:cNvSpPr txBox="true"/>
          <p:nvPr/>
        </p:nvSpPr>
        <p:spPr>
          <a:xfrm rot="0">
            <a:off x="10539536" y="3103961"/>
            <a:ext cx="3929649" cy="346251"/>
          </a:xfrm>
          <a:prstGeom prst="rect">
            <a:avLst/>
          </a:prstGeom>
        </p:spPr>
        <p:txBody>
          <a:bodyPr anchor="t" rtlCol="false" tIns="0" lIns="0" bIns="0" rIns="0">
            <a:spAutoFit/>
          </a:bodyPr>
          <a:lstStyle/>
          <a:p>
            <a:pPr algn="l">
              <a:lnSpc>
                <a:spcPts val="2673"/>
              </a:lnSpc>
            </a:pPr>
            <a:r>
              <a:rPr lang="en-US" sz="2187" b="true">
                <a:solidFill>
                  <a:srgbClr val="333F70"/>
                </a:solidFill>
                <a:latin typeface="Arimo Bold"/>
                <a:ea typeface="Arimo Bold"/>
                <a:cs typeface="Arimo Bold"/>
                <a:sym typeface="Arimo Bold"/>
              </a:rPr>
              <a:t>Curated Dataset</a:t>
            </a:r>
          </a:p>
        </p:txBody>
      </p:sp>
      <p:sp>
        <p:nvSpPr>
          <p:cNvPr name="TextBox 13" id="13"/>
          <p:cNvSpPr txBox="true"/>
          <p:nvPr/>
        </p:nvSpPr>
        <p:spPr>
          <a:xfrm rot="0">
            <a:off x="10539536" y="3702831"/>
            <a:ext cx="6292129" cy="285070"/>
          </a:xfrm>
          <a:prstGeom prst="rect">
            <a:avLst/>
          </a:prstGeom>
        </p:spPr>
        <p:txBody>
          <a:bodyPr anchor="t" rtlCol="false" tIns="0" lIns="0" bIns="0" rIns="0">
            <a:spAutoFit/>
          </a:bodyPr>
          <a:lstStyle/>
          <a:p>
            <a:pPr algn="l">
              <a:lnSpc>
                <a:spcPts val="2330"/>
              </a:lnSpc>
            </a:pPr>
            <a:r>
              <a:rPr lang="en-US" sz="1812">
                <a:solidFill>
                  <a:srgbClr val="333F70"/>
                </a:solidFill>
                <a:latin typeface="Open Sans"/>
                <a:ea typeface="Open Sans"/>
                <a:cs typeface="Open Sans"/>
                <a:sym typeface="Open Sans"/>
              </a:rPr>
              <a:t>De-identified records, guidelines, research</a:t>
            </a:r>
          </a:p>
        </p:txBody>
      </p:sp>
      <p:grpSp>
        <p:nvGrpSpPr>
          <p:cNvPr name="Group 14" id="14"/>
          <p:cNvGrpSpPr>
            <a:grpSpLocks noChangeAspect="true"/>
          </p:cNvGrpSpPr>
          <p:nvPr/>
        </p:nvGrpSpPr>
        <p:grpSpPr>
          <a:xfrm rot="0">
            <a:off x="4335349" y="6352175"/>
            <a:ext cx="604130" cy="604130"/>
            <a:chOff x="0" y="0"/>
            <a:chExt cx="805507" cy="805507"/>
          </a:xfrm>
        </p:grpSpPr>
        <p:sp>
          <p:nvSpPr>
            <p:cNvPr name="Freeform 15" id="15" descr="preencoded.png"/>
            <p:cNvSpPr/>
            <p:nvPr/>
          </p:nvSpPr>
          <p:spPr>
            <a:xfrm flipH="false" flipV="false" rot="0">
              <a:off x="0" y="0"/>
              <a:ext cx="805561" cy="805561"/>
            </a:xfrm>
            <a:custGeom>
              <a:avLst/>
              <a:gdLst/>
              <a:ahLst/>
              <a:cxnLst/>
              <a:rect r="r" b="b" t="t" l="l"/>
              <a:pathLst>
                <a:path h="805561" w="805561">
                  <a:moveTo>
                    <a:pt x="0" y="0"/>
                  </a:moveTo>
                  <a:lnTo>
                    <a:pt x="805561" y="0"/>
                  </a:lnTo>
                  <a:lnTo>
                    <a:pt x="805561" y="805561"/>
                  </a:lnTo>
                  <a:lnTo>
                    <a:pt x="0" y="805561"/>
                  </a:lnTo>
                  <a:lnTo>
                    <a:pt x="0" y="0"/>
                  </a:lnTo>
                  <a:close/>
                </a:path>
              </a:pathLst>
            </a:custGeom>
            <a:blipFill>
              <a:blip r:embed="rId5"/>
              <a:stretch>
                <a:fillRect l="0" t="0" r="6" b="6"/>
              </a:stretch>
            </a:blipFill>
          </p:spPr>
        </p:sp>
      </p:grpSp>
      <p:sp>
        <p:nvSpPr>
          <p:cNvPr name="TextBox 16" id="16"/>
          <p:cNvSpPr txBox="true"/>
          <p:nvPr/>
        </p:nvSpPr>
        <p:spPr>
          <a:xfrm rot="0">
            <a:off x="10539789" y="5296162"/>
            <a:ext cx="4121086" cy="346251"/>
          </a:xfrm>
          <a:prstGeom prst="rect">
            <a:avLst/>
          </a:prstGeom>
        </p:spPr>
        <p:txBody>
          <a:bodyPr anchor="t" rtlCol="false" tIns="0" lIns="0" bIns="0" rIns="0">
            <a:spAutoFit/>
          </a:bodyPr>
          <a:lstStyle/>
          <a:p>
            <a:pPr algn="l">
              <a:lnSpc>
                <a:spcPts val="2673"/>
              </a:lnSpc>
            </a:pPr>
            <a:r>
              <a:rPr lang="en-US" sz="2187" b="true">
                <a:solidFill>
                  <a:srgbClr val="333F70"/>
                </a:solidFill>
                <a:latin typeface="Arimo Bold"/>
                <a:ea typeface="Arimo Bold"/>
                <a:cs typeface="Arimo Bold"/>
                <a:sym typeface="Arimo Bold"/>
              </a:rPr>
              <a:t>Clinical Validation</a:t>
            </a:r>
          </a:p>
        </p:txBody>
      </p:sp>
      <p:sp>
        <p:nvSpPr>
          <p:cNvPr name="TextBox 17" id="17"/>
          <p:cNvSpPr txBox="true"/>
          <p:nvPr/>
        </p:nvSpPr>
        <p:spPr>
          <a:xfrm rot="0">
            <a:off x="10539789" y="5895034"/>
            <a:ext cx="6292130" cy="285070"/>
          </a:xfrm>
          <a:prstGeom prst="rect">
            <a:avLst/>
          </a:prstGeom>
        </p:spPr>
        <p:txBody>
          <a:bodyPr anchor="t" rtlCol="false" tIns="0" lIns="0" bIns="0" rIns="0">
            <a:spAutoFit/>
          </a:bodyPr>
          <a:lstStyle/>
          <a:p>
            <a:pPr algn="l">
              <a:lnSpc>
                <a:spcPts val="2330"/>
              </a:lnSpc>
            </a:pPr>
            <a:r>
              <a:rPr lang="en-US" sz="1812">
                <a:solidFill>
                  <a:srgbClr val="333F70"/>
                </a:solidFill>
                <a:latin typeface="Open Sans"/>
                <a:ea typeface="Open Sans"/>
                <a:cs typeface="Open Sans"/>
                <a:sym typeface="Open Sans"/>
              </a:rPr>
              <a:t>Reviewed continuously by medical experts</a:t>
            </a:r>
          </a:p>
        </p:txBody>
      </p:sp>
      <p:grpSp>
        <p:nvGrpSpPr>
          <p:cNvPr name="Group 18" id="18"/>
          <p:cNvGrpSpPr>
            <a:grpSpLocks noChangeAspect="true"/>
          </p:cNvGrpSpPr>
          <p:nvPr/>
        </p:nvGrpSpPr>
        <p:grpSpPr>
          <a:xfrm rot="0">
            <a:off x="6227780" y="6352175"/>
            <a:ext cx="604130" cy="604130"/>
            <a:chOff x="0" y="0"/>
            <a:chExt cx="805507" cy="805507"/>
          </a:xfrm>
        </p:grpSpPr>
        <p:sp>
          <p:nvSpPr>
            <p:cNvPr name="Freeform 19" id="19" descr="preencoded.png"/>
            <p:cNvSpPr/>
            <p:nvPr/>
          </p:nvSpPr>
          <p:spPr>
            <a:xfrm flipH="false" flipV="false" rot="0">
              <a:off x="0" y="0"/>
              <a:ext cx="805561" cy="805561"/>
            </a:xfrm>
            <a:custGeom>
              <a:avLst/>
              <a:gdLst/>
              <a:ahLst/>
              <a:cxnLst/>
              <a:rect r="r" b="b" t="t" l="l"/>
              <a:pathLst>
                <a:path h="805561" w="805561">
                  <a:moveTo>
                    <a:pt x="0" y="0"/>
                  </a:moveTo>
                  <a:lnTo>
                    <a:pt x="805561" y="0"/>
                  </a:lnTo>
                  <a:lnTo>
                    <a:pt x="805561" y="805561"/>
                  </a:lnTo>
                  <a:lnTo>
                    <a:pt x="0" y="805561"/>
                  </a:lnTo>
                  <a:lnTo>
                    <a:pt x="0" y="0"/>
                  </a:lnTo>
                  <a:close/>
                </a:path>
              </a:pathLst>
            </a:custGeom>
            <a:blipFill>
              <a:blip r:embed="rId6"/>
              <a:stretch>
                <a:fillRect l="0" t="0" r="6" b="6"/>
              </a:stretch>
            </a:blipFill>
          </p:spPr>
        </p:sp>
      </p:grpSp>
      <p:sp>
        <p:nvSpPr>
          <p:cNvPr name="TextBox 20" id="20"/>
          <p:cNvSpPr txBox="true"/>
          <p:nvPr/>
        </p:nvSpPr>
        <p:spPr>
          <a:xfrm rot="0">
            <a:off x="10539789" y="7557445"/>
            <a:ext cx="4137400" cy="346251"/>
          </a:xfrm>
          <a:prstGeom prst="rect">
            <a:avLst/>
          </a:prstGeom>
        </p:spPr>
        <p:txBody>
          <a:bodyPr anchor="t" rtlCol="false" tIns="0" lIns="0" bIns="0" rIns="0">
            <a:spAutoFit/>
          </a:bodyPr>
          <a:lstStyle/>
          <a:p>
            <a:pPr algn="l">
              <a:lnSpc>
                <a:spcPts val="2673"/>
              </a:lnSpc>
            </a:pPr>
            <a:r>
              <a:rPr lang="en-US" sz="2187" b="true">
                <a:solidFill>
                  <a:srgbClr val="333F70"/>
                </a:solidFill>
                <a:latin typeface="Arimo Bold"/>
                <a:ea typeface="Arimo Bold"/>
                <a:cs typeface="Arimo Bold"/>
                <a:sym typeface="Arimo Bold"/>
              </a:rPr>
              <a:t>Bias Minimisation</a:t>
            </a:r>
          </a:p>
        </p:txBody>
      </p:sp>
      <p:sp>
        <p:nvSpPr>
          <p:cNvPr name="TextBox 21" id="21"/>
          <p:cNvSpPr txBox="true"/>
          <p:nvPr/>
        </p:nvSpPr>
        <p:spPr>
          <a:xfrm rot="0">
            <a:off x="10539789" y="8156315"/>
            <a:ext cx="6292130" cy="285070"/>
          </a:xfrm>
          <a:prstGeom prst="rect">
            <a:avLst/>
          </a:prstGeom>
        </p:spPr>
        <p:txBody>
          <a:bodyPr anchor="t" rtlCol="false" tIns="0" lIns="0" bIns="0" rIns="0">
            <a:spAutoFit/>
          </a:bodyPr>
          <a:lstStyle/>
          <a:p>
            <a:pPr algn="l">
              <a:lnSpc>
                <a:spcPts val="2330"/>
              </a:lnSpc>
            </a:pPr>
            <a:r>
              <a:rPr lang="en-US" sz="1812">
                <a:solidFill>
                  <a:srgbClr val="333F70"/>
                </a:solidFill>
                <a:latin typeface="Open Sans"/>
                <a:ea typeface="Open Sans"/>
                <a:cs typeface="Open Sans"/>
                <a:sym typeface="Open Sans"/>
              </a:rPr>
              <a:t>Rigorous curation to reduce bias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2F3EF"/>
        </a:solidFill>
      </p:bgPr>
    </p:bg>
    <p:spTree>
      <p:nvGrpSpPr>
        <p:cNvPr id="1" name=""/>
        <p:cNvGrpSpPr/>
        <p:nvPr/>
      </p:nvGrpSpPr>
      <p:grpSpPr>
        <a:xfrm>
          <a:off x="0" y="0"/>
          <a:ext cx="0" cy="0"/>
          <a:chOff x="0" y="0"/>
          <a:chExt cx="0" cy="0"/>
        </a:xfrm>
      </p:grpSpPr>
      <p:sp>
        <p:nvSpPr>
          <p:cNvPr name="Freeform 2" id="2"/>
          <p:cNvSpPr/>
          <p:nvPr/>
        </p:nvSpPr>
        <p:spPr>
          <a:xfrm flipH="false" flipV="false" rot="0">
            <a:off x="0" y="664227"/>
            <a:ext cx="18409428" cy="9622773"/>
          </a:xfrm>
          <a:custGeom>
            <a:avLst/>
            <a:gdLst/>
            <a:ahLst/>
            <a:cxnLst/>
            <a:rect r="r" b="b" t="t" l="l"/>
            <a:pathLst>
              <a:path h="9622773" w="18409428">
                <a:moveTo>
                  <a:pt x="0" y="0"/>
                </a:moveTo>
                <a:lnTo>
                  <a:pt x="18409428" y="0"/>
                </a:lnTo>
                <a:lnTo>
                  <a:pt x="18409428" y="9622773"/>
                </a:lnTo>
                <a:lnTo>
                  <a:pt x="0" y="9622773"/>
                </a:lnTo>
                <a:lnTo>
                  <a:pt x="0" y="0"/>
                </a:lnTo>
                <a:close/>
              </a:path>
            </a:pathLst>
          </a:custGeom>
          <a:blipFill>
            <a:blip r:embed="rId2"/>
            <a:stretch>
              <a:fillRect l="0" t="-356" r="0" b="-1994"/>
            </a:stretch>
          </a:blipFill>
        </p:spPr>
      </p:sp>
      <p:sp>
        <p:nvSpPr>
          <p:cNvPr name="TextBox 3" id="3"/>
          <p:cNvSpPr txBox="true"/>
          <p:nvPr/>
        </p:nvSpPr>
        <p:spPr>
          <a:xfrm rot="0">
            <a:off x="653661" y="-47625"/>
            <a:ext cx="16295858" cy="711852"/>
          </a:xfrm>
          <a:prstGeom prst="rect">
            <a:avLst/>
          </a:prstGeom>
        </p:spPr>
        <p:txBody>
          <a:bodyPr anchor="t" rtlCol="false" tIns="0" lIns="0" bIns="0" rIns="0">
            <a:spAutoFit/>
          </a:bodyPr>
          <a:lstStyle/>
          <a:p>
            <a:pPr algn="ctr">
              <a:lnSpc>
                <a:spcPts val="5509"/>
              </a:lnSpc>
              <a:spcBef>
                <a:spcPct val="0"/>
              </a:spcBef>
            </a:pPr>
            <a:r>
              <a:rPr lang="en-US" b="true" sz="4387">
                <a:solidFill>
                  <a:srgbClr val="000000"/>
                </a:solidFill>
                <a:latin typeface="Arimo Bold"/>
                <a:ea typeface="Arimo Bold"/>
                <a:cs typeface="Arimo Bold"/>
                <a:sym typeface="Arimo Bold"/>
              </a:rPr>
              <a:t>Comparative Analysis of Healthcare AI System</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E2F3EF"/>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E2F3EF"/>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E2F3EF"/>
            </a:solidFill>
          </p:spPr>
        </p:sp>
      </p:grpSp>
      <p:sp>
        <p:nvSpPr>
          <p:cNvPr name="TextBox 6" id="6"/>
          <p:cNvSpPr txBox="true"/>
          <p:nvPr/>
        </p:nvSpPr>
        <p:spPr>
          <a:xfrm rot="0">
            <a:off x="992237" y="1207591"/>
            <a:ext cx="15871775" cy="712788"/>
          </a:xfrm>
          <a:prstGeom prst="rect">
            <a:avLst/>
          </a:prstGeom>
        </p:spPr>
        <p:txBody>
          <a:bodyPr anchor="t" rtlCol="false" tIns="0" lIns="0" bIns="0" rIns="0">
            <a:spAutoFit/>
          </a:bodyPr>
          <a:lstStyle/>
          <a:p>
            <a:pPr algn="l">
              <a:lnSpc>
                <a:spcPts val="5562"/>
              </a:lnSpc>
            </a:pPr>
            <a:r>
              <a:rPr lang="en-US" sz="4437" b="true">
                <a:solidFill>
                  <a:srgbClr val="333F70"/>
                </a:solidFill>
                <a:latin typeface="Arimo Bold"/>
                <a:ea typeface="Arimo Bold"/>
                <a:cs typeface="Arimo Bold"/>
                <a:sym typeface="Arimo Bold"/>
              </a:rPr>
              <a:t>Conclusion: Next Steps and Potential Impact</a:t>
            </a:r>
          </a:p>
        </p:txBody>
      </p:sp>
      <p:sp>
        <p:nvSpPr>
          <p:cNvPr name="TextBox 7" id="7"/>
          <p:cNvSpPr txBox="true"/>
          <p:nvPr/>
        </p:nvSpPr>
        <p:spPr>
          <a:xfrm rot="0">
            <a:off x="992238" y="2435721"/>
            <a:ext cx="16303526" cy="992981"/>
          </a:xfrm>
          <a:prstGeom prst="rect">
            <a:avLst/>
          </a:prstGeom>
        </p:spPr>
        <p:txBody>
          <a:bodyPr anchor="t" rtlCol="false" tIns="0" lIns="0" bIns="0" rIns="0">
            <a:spAutoFit/>
          </a:bodyPr>
          <a:lstStyle/>
          <a:p>
            <a:pPr algn="l">
              <a:lnSpc>
                <a:spcPts val="3562"/>
              </a:lnSpc>
            </a:pPr>
            <a:r>
              <a:rPr lang="en-US" sz="2187">
                <a:solidFill>
                  <a:srgbClr val="333F70"/>
                </a:solidFill>
                <a:latin typeface="Open Sans"/>
                <a:ea typeface="Open Sans"/>
                <a:cs typeface="Open Sans"/>
                <a:sym typeface="Open Sans"/>
              </a:rPr>
              <a:t>The AI Healthcare Chatbot represents a significant step towards democratising health knowledge and enhancing patient autonomy.</a:t>
            </a:r>
          </a:p>
        </p:txBody>
      </p:sp>
      <p:grpSp>
        <p:nvGrpSpPr>
          <p:cNvPr name="Group 8" id="8"/>
          <p:cNvGrpSpPr/>
          <p:nvPr/>
        </p:nvGrpSpPr>
        <p:grpSpPr>
          <a:xfrm rot="0">
            <a:off x="992238" y="4172842"/>
            <a:ext cx="5245447" cy="3457872"/>
            <a:chOff x="0" y="0"/>
            <a:chExt cx="6993930" cy="4610497"/>
          </a:xfrm>
        </p:grpSpPr>
        <p:sp>
          <p:nvSpPr>
            <p:cNvPr name="Freeform 9" id="9"/>
            <p:cNvSpPr/>
            <p:nvPr/>
          </p:nvSpPr>
          <p:spPr>
            <a:xfrm flipH="false" flipV="false" rot="0">
              <a:off x="0" y="0"/>
              <a:ext cx="6993890" cy="4610481"/>
            </a:xfrm>
            <a:custGeom>
              <a:avLst/>
              <a:gdLst/>
              <a:ahLst/>
              <a:cxnLst/>
              <a:rect r="r" b="b" t="t" l="l"/>
              <a:pathLst>
                <a:path h="4610481" w="6993890">
                  <a:moveTo>
                    <a:pt x="0" y="243840"/>
                  </a:moveTo>
                  <a:cubicBezTo>
                    <a:pt x="0" y="109220"/>
                    <a:pt x="109220" y="0"/>
                    <a:pt x="243840" y="0"/>
                  </a:cubicBezTo>
                  <a:lnTo>
                    <a:pt x="6750050" y="0"/>
                  </a:lnTo>
                  <a:cubicBezTo>
                    <a:pt x="6884670" y="0"/>
                    <a:pt x="6993890" y="109220"/>
                    <a:pt x="6993890" y="243840"/>
                  </a:cubicBezTo>
                  <a:lnTo>
                    <a:pt x="6993890" y="4366641"/>
                  </a:lnTo>
                  <a:cubicBezTo>
                    <a:pt x="6993890" y="4501261"/>
                    <a:pt x="6884670" y="4610481"/>
                    <a:pt x="6750050" y="4610481"/>
                  </a:cubicBezTo>
                  <a:lnTo>
                    <a:pt x="243840" y="4610481"/>
                  </a:lnTo>
                  <a:cubicBezTo>
                    <a:pt x="109220" y="4610481"/>
                    <a:pt x="0" y="4501261"/>
                    <a:pt x="0" y="4366641"/>
                  </a:cubicBezTo>
                  <a:close/>
                </a:path>
              </a:pathLst>
            </a:custGeom>
            <a:solidFill>
              <a:srgbClr val="E2F3EF"/>
            </a:solidFill>
          </p:spPr>
        </p:sp>
      </p:grpSp>
      <p:grpSp>
        <p:nvGrpSpPr>
          <p:cNvPr name="Group 10" id="10"/>
          <p:cNvGrpSpPr/>
          <p:nvPr/>
        </p:nvGrpSpPr>
        <p:grpSpPr>
          <a:xfrm rot="0">
            <a:off x="992238" y="4134742"/>
            <a:ext cx="5245447" cy="152400"/>
            <a:chOff x="0" y="0"/>
            <a:chExt cx="6993930" cy="203200"/>
          </a:xfrm>
        </p:grpSpPr>
        <p:sp>
          <p:nvSpPr>
            <p:cNvPr name="Freeform 11" id="11"/>
            <p:cNvSpPr/>
            <p:nvPr/>
          </p:nvSpPr>
          <p:spPr>
            <a:xfrm flipH="false" flipV="false" rot="0">
              <a:off x="0" y="0"/>
              <a:ext cx="6993890" cy="203200"/>
            </a:xfrm>
            <a:custGeom>
              <a:avLst/>
              <a:gdLst/>
              <a:ahLst/>
              <a:cxnLst/>
              <a:rect r="r" b="b" t="t" l="l"/>
              <a:pathLst>
                <a:path h="203200" w="6993890">
                  <a:moveTo>
                    <a:pt x="0" y="101600"/>
                  </a:moveTo>
                  <a:cubicBezTo>
                    <a:pt x="0" y="45466"/>
                    <a:pt x="45466" y="0"/>
                    <a:pt x="101600" y="0"/>
                  </a:cubicBezTo>
                  <a:lnTo>
                    <a:pt x="6892290" y="0"/>
                  </a:lnTo>
                  <a:cubicBezTo>
                    <a:pt x="6948424" y="0"/>
                    <a:pt x="6993890" y="45466"/>
                    <a:pt x="6993890" y="101600"/>
                  </a:cubicBezTo>
                  <a:cubicBezTo>
                    <a:pt x="6993890" y="157734"/>
                    <a:pt x="6948424" y="203200"/>
                    <a:pt x="6892290" y="203200"/>
                  </a:cubicBezTo>
                  <a:lnTo>
                    <a:pt x="101600" y="203200"/>
                  </a:lnTo>
                  <a:cubicBezTo>
                    <a:pt x="45466" y="203200"/>
                    <a:pt x="0" y="157734"/>
                    <a:pt x="0" y="101600"/>
                  </a:cubicBezTo>
                  <a:close/>
                </a:path>
              </a:pathLst>
            </a:custGeom>
            <a:solidFill>
              <a:srgbClr val="26A688"/>
            </a:solidFill>
          </p:spPr>
        </p:sp>
      </p:grpSp>
      <p:grpSp>
        <p:nvGrpSpPr>
          <p:cNvPr name="Group 12" id="12"/>
          <p:cNvGrpSpPr/>
          <p:nvPr/>
        </p:nvGrpSpPr>
        <p:grpSpPr>
          <a:xfrm rot="0">
            <a:off x="3189610" y="3747641"/>
            <a:ext cx="850552" cy="850552"/>
            <a:chOff x="0" y="0"/>
            <a:chExt cx="1134070" cy="1134070"/>
          </a:xfrm>
        </p:grpSpPr>
        <p:sp>
          <p:nvSpPr>
            <p:cNvPr name="Freeform 13" id="13"/>
            <p:cNvSpPr/>
            <p:nvPr/>
          </p:nvSpPr>
          <p:spPr>
            <a:xfrm flipH="false" flipV="false" rot="0">
              <a:off x="0" y="0"/>
              <a:ext cx="1134110" cy="1134110"/>
            </a:xfrm>
            <a:custGeom>
              <a:avLst/>
              <a:gdLst/>
              <a:ahLst/>
              <a:cxnLst/>
              <a:rect r="r" b="b" t="t" l="l"/>
              <a:pathLst>
                <a:path h="1134110" w="1134110">
                  <a:moveTo>
                    <a:pt x="0" y="567055"/>
                  </a:moveTo>
                  <a:cubicBezTo>
                    <a:pt x="0" y="253873"/>
                    <a:pt x="253873" y="0"/>
                    <a:pt x="567055" y="0"/>
                  </a:cubicBezTo>
                  <a:cubicBezTo>
                    <a:pt x="880237" y="0"/>
                    <a:pt x="1134110" y="253873"/>
                    <a:pt x="1134110" y="567055"/>
                  </a:cubicBezTo>
                  <a:cubicBezTo>
                    <a:pt x="1134110" y="880237"/>
                    <a:pt x="880237" y="1134110"/>
                    <a:pt x="567055" y="1134110"/>
                  </a:cubicBezTo>
                  <a:cubicBezTo>
                    <a:pt x="253873" y="1134110"/>
                    <a:pt x="0" y="880237"/>
                    <a:pt x="0" y="567055"/>
                  </a:cubicBezTo>
                  <a:close/>
                </a:path>
              </a:pathLst>
            </a:custGeom>
            <a:solidFill>
              <a:srgbClr val="26A688"/>
            </a:solidFill>
          </p:spPr>
        </p:sp>
      </p:grpSp>
      <p:grpSp>
        <p:nvGrpSpPr>
          <p:cNvPr name="Group 14" id="14"/>
          <p:cNvGrpSpPr>
            <a:grpSpLocks noChangeAspect="true"/>
          </p:cNvGrpSpPr>
          <p:nvPr/>
        </p:nvGrpSpPr>
        <p:grpSpPr>
          <a:xfrm rot="0">
            <a:off x="3444701" y="3960316"/>
            <a:ext cx="340221" cy="425203"/>
            <a:chOff x="0" y="0"/>
            <a:chExt cx="453628" cy="566937"/>
          </a:xfrm>
        </p:grpSpPr>
        <p:sp>
          <p:nvSpPr>
            <p:cNvPr name="Freeform 15" id="15" descr="preencoded.png"/>
            <p:cNvSpPr/>
            <p:nvPr/>
          </p:nvSpPr>
          <p:spPr>
            <a:xfrm flipH="false" flipV="false" rot="0">
              <a:off x="0" y="0"/>
              <a:ext cx="453644" cy="566928"/>
            </a:xfrm>
            <a:custGeom>
              <a:avLst/>
              <a:gdLst/>
              <a:ahLst/>
              <a:cxnLst/>
              <a:rect r="r" b="b" t="t" l="l"/>
              <a:pathLst>
                <a:path h="566928" w="453644">
                  <a:moveTo>
                    <a:pt x="0" y="0"/>
                  </a:moveTo>
                  <a:lnTo>
                    <a:pt x="453644" y="0"/>
                  </a:lnTo>
                  <a:lnTo>
                    <a:pt x="453644" y="566928"/>
                  </a:lnTo>
                  <a:lnTo>
                    <a:pt x="0" y="566928"/>
                  </a:lnTo>
                  <a:lnTo>
                    <a:pt x="0" y="0"/>
                  </a:lnTo>
                  <a:close/>
                </a:path>
              </a:pathLst>
            </a:custGeom>
            <a:blipFill>
              <a:blip r:embed="rId3"/>
              <a:stretch>
                <a:fillRect l="0" t="-8" r="3" b="-10"/>
              </a:stretch>
            </a:blipFill>
          </p:spPr>
        </p:sp>
      </p:grpSp>
      <p:sp>
        <p:nvSpPr>
          <p:cNvPr name="TextBox 16" id="16"/>
          <p:cNvSpPr txBox="true"/>
          <p:nvPr/>
        </p:nvSpPr>
        <p:spPr>
          <a:xfrm rot="0">
            <a:off x="1313855" y="4653756"/>
            <a:ext cx="4151411" cy="481012"/>
          </a:xfrm>
          <a:prstGeom prst="rect">
            <a:avLst/>
          </a:prstGeom>
        </p:spPr>
        <p:txBody>
          <a:bodyPr anchor="t" rtlCol="false" tIns="0" lIns="0" bIns="0" rIns="0">
            <a:spAutoFit/>
          </a:bodyPr>
          <a:lstStyle/>
          <a:p>
            <a:pPr algn="l">
              <a:lnSpc>
                <a:spcPts val="3437"/>
              </a:lnSpc>
            </a:pPr>
            <a:r>
              <a:rPr lang="en-US" sz="2750" b="true">
                <a:solidFill>
                  <a:srgbClr val="333F70"/>
                </a:solidFill>
                <a:latin typeface="Arimo Bold"/>
                <a:ea typeface="Arimo Bold"/>
                <a:cs typeface="Arimo Bold"/>
                <a:sym typeface="Arimo Bold"/>
              </a:rPr>
              <a:t>Clinical Pilot Study</a:t>
            </a:r>
          </a:p>
        </p:txBody>
      </p:sp>
      <p:sp>
        <p:nvSpPr>
          <p:cNvPr name="TextBox 17" id="17"/>
          <p:cNvSpPr txBox="true"/>
          <p:nvPr/>
        </p:nvSpPr>
        <p:spPr>
          <a:xfrm rot="0">
            <a:off x="1313855" y="5238750"/>
            <a:ext cx="4602212" cy="1900237"/>
          </a:xfrm>
          <a:prstGeom prst="rect">
            <a:avLst/>
          </a:prstGeom>
        </p:spPr>
        <p:txBody>
          <a:bodyPr anchor="t" rtlCol="false" tIns="0" lIns="0" bIns="0" rIns="0">
            <a:spAutoFit/>
          </a:bodyPr>
          <a:lstStyle/>
          <a:p>
            <a:pPr algn="l">
              <a:lnSpc>
                <a:spcPts val="3562"/>
              </a:lnSpc>
            </a:pPr>
            <a:r>
              <a:rPr lang="en-US" sz="2187">
                <a:solidFill>
                  <a:srgbClr val="333F70"/>
                </a:solidFill>
                <a:latin typeface="Open Sans"/>
                <a:ea typeface="Open Sans"/>
                <a:cs typeface="Open Sans"/>
                <a:sym typeface="Open Sans"/>
              </a:rPr>
              <a:t>Launch a controlled pilot with a university health service to validate performance in a real-world setting.</a:t>
            </a:r>
          </a:p>
        </p:txBody>
      </p:sp>
      <p:grpSp>
        <p:nvGrpSpPr>
          <p:cNvPr name="Group 18" id="18"/>
          <p:cNvGrpSpPr/>
          <p:nvPr/>
        </p:nvGrpSpPr>
        <p:grpSpPr>
          <a:xfrm rot="0">
            <a:off x="6521202" y="4172842"/>
            <a:ext cx="5245447" cy="3457872"/>
            <a:chOff x="0" y="0"/>
            <a:chExt cx="6993930" cy="4610497"/>
          </a:xfrm>
        </p:grpSpPr>
        <p:sp>
          <p:nvSpPr>
            <p:cNvPr name="Freeform 19" id="19"/>
            <p:cNvSpPr/>
            <p:nvPr/>
          </p:nvSpPr>
          <p:spPr>
            <a:xfrm flipH="false" flipV="false" rot="0">
              <a:off x="0" y="0"/>
              <a:ext cx="6993890" cy="4610481"/>
            </a:xfrm>
            <a:custGeom>
              <a:avLst/>
              <a:gdLst/>
              <a:ahLst/>
              <a:cxnLst/>
              <a:rect r="r" b="b" t="t" l="l"/>
              <a:pathLst>
                <a:path h="4610481" w="6993890">
                  <a:moveTo>
                    <a:pt x="0" y="243840"/>
                  </a:moveTo>
                  <a:cubicBezTo>
                    <a:pt x="0" y="109220"/>
                    <a:pt x="109220" y="0"/>
                    <a:pt x="243840" y="0"/>
                  </a:cubicBezTo>
                  <a:lnTo>
                    <a:pt x="6750050" y="0"/>
                  </a:lnTo>
                  <a:cubicBezTo>
                    <a:pt x="6884670" y="0"/>
                    <a:pt x="6993890" y="109220"/>
                    <a:pt x="6993890" y="243840"/>
                  </a:cubicBezTo>
                  <a:lnTo>
                    <a:pt x="6993890" y="4366641"/>
                  </a:lnTo>
                  <a:cubicBezTo>
                    <a:pt x="6993890" y="4501261"/>
                    <a:pt x="6884670" y="4610481"/>
                    <a:pt x="6750050" y="4610481"/>
                  </a:cubicBezTo>
                  <a:lnTo>
                    <a:pt x="243840" y="4610481"/>
                  </a:lnTo>
                  <a:cubicBezTo>
                    <a:pt x="109220" y="4610481"/>
                    <a:pt x="0" y="4501261"/>
                    <a:pt x="0" y="4366641"/>
                  </a:cubicBezTo>
                  <a:close/>
                </a:path>
              </a:pathLst>
            </a:custGeom>
            <a:solidFill>
              <a:srgbClr val="E2F3EF"/>
            </a:solidFill>
          </p:spPr>
        </p:sp>
      </p:grpSp>
      <p:grpSp>
        <p:nvGrpSpPr>
          <p:cNvPr name="Group 20" id="20"/>
          <p:cNvGrpSpPr/>
          <p:nvPr/>
        </p:nvGrpSpPr>
        <p:grpSpPr>
          <a:xfrm rot="0">
            <a:off x="6521202" y="4134742"/>
            <a:ext cx="5245447" cy="152400"/>
            <a:chOff x="0" y="0"/>
            <a:chExt cx="6993930" cy="203200"/>
          </a:xfrm>
        </p:grpSpPr>
        <p:sp>
          <p:nvSpPr>
            <p:cNvPr name="Freeform 21" id="21"/>
            <p:cNvSpPr/>
            <p:nvPr/>
          </p:nvSpPr>
          <p:spPr>
            <a:xfrm flipH="false" flipV="false" rot="0">
              <a:off x="0" y="0"/>
              <a:ext cx="6993890" cy="203200"/>
            </a:xfrm>
            <a:custGeom>
              <a:avLst/>
              <a:gdLst/>
              <a:ahLst/>
              <a:cxnLst/>
              <a:rect r="r" b="b" t="t" l="l"/>
              <a:pathLst>
                <a:path h="203200" w="6993890">
                  <a:moveTo>
                    <a:pt x="0" y="101600"/>
                  </a:moveTo>
                  <a:cubicBezTo>
                    <a:pt x="0" y="45466"/>
                    <a:pt x="45466" y="0"/>
                    <a:pt x="101600" y="0"/>
                  </a:cubicBezTo>
                  <a:lnTo>
                    <a:pt x="6892290" y="0"/>
                  </a:lnTo>
                  <a:cubicBezTo>
                    <a:pt x="6948424" y="0"/>
                    <a:pt x="6993890" y="45466"/>
                    <a:pt x="6993890" y="101600"/>
                  </a:cubicBezTo>
                  <a:cubicBezTo>
                    <a:pt x="6993890" y="157734"/>
                    <a:pt x="6948424" y="203200"/>
                    <a:pt x="6892290" y="203200"/>
                  </a:cubicBezTo>
                  <a:lnTo>
                    <a:pt x="101600" y="203200"/>
                  </a:lnTo>
                  <a:cubicBezTo>
                    <a:pt x="45466" y="203200"/>
                    <a:pt x="0" y="157734"/>
                    <a:pt x="0" y="101600"/>
                  </a:cubicBezTo>
                  <a:close/>
                </a:path>
              </a:pathLst>
            </a:custGeom>
            <a:solidFill>
              <a:srgbClr val="26A688"/>
            </a:solidFill>
          </p:spPr>
        </p:sp>
      </p:grpSp>
      <p:grpSp>
        <p:nvGrpSpPr>
          <p:cNvPr name="Group 22" id="22"/>
          <p:cNvGrpSpPr/>
          <p:nvPr/>
        </p:nvGrpSpPr>
        <p:grpSpPr>
          <a:xfrm rot="0">
            <a:off x="8718575" y="3747641"/>
            <a:ext cx="850552" cy="850552"/>
            <a:chOff x="0" y="0"/>
            <a:chExt cx="1134070" cy="1134070"/>
          </a:xfrm>
        </p:grpSpPr>
        <p:sp>
          <p:nvSpPr>
            <p:cNvPr name="Freeform 23" id="23"/>
            <p:cNvSpPr/>
            <p:nvPr/>
          </p:nvSpPr>
          <p:spPr>
            <a:xfrm flipH="false" flipV="false" rot="0">
              <a:off x="0" y="0"/>
              <a:ext cx="1134110" cy="1134110"/>
            </a:xfrm>
            <a:custGeom>
              <a:avLst/>
              <a:gdLst/>
              <a:ahLst/>
              <a:cxnLst/>
              <a:rect r="r" b="b" t="t" l="l"/>
              <a:pathLst>
                <a:path h="1134110" w="1134110">
                  <a:moveTo>
                    <a:pt x="0" y="567055"/>
                  </a:moveTo>
                  <a:cubicBezTo>
                    <a:pt x="0" y="253873"/>
                    <a:pt x="253873" y="0"/>
                    <a:pt x="567055" y="0"/>
                  </a:cubicBezTo>
                  <a:cubicBezTo>
                    <a:pt x="880237" y="0"/>
                    <a:pt x="1134110" y="253873"/>
                    <a:pt x="1134110" y="567055"/>
                  </a:cubicBezTo>
                  <a:cubicBezTo>
                    <a:pt x="1134110" y="880237"/>
                    <a:pt x="880237" y="1134110"/>
                    <a:pt x="567055" y="1134110"/>
                  </a:cubicBezTo>
                  <a:cubicBezTo>
                    <a:pt x="253873" y="1134110"/>
                    <a:pt x="0" y="880237"/>
                    <a:pt x="0" y="567055"/>
                  </a:cubicBezTo>
                  <a:close/>
                </a:path>
              </a:pathLst>
            </a:custGeom>
            <a:solidFill>
              <a:srgbClr val="26A688"/>
            </a:solidFill>
          </p:spPr>
        </p:sp>
      </p:grpSp>
      <p:grpSp>
        <p:nvGrpSpPr>
          <p:cNvPr name="Group 24" id="24"/>
          <p:cNvGrpSpPr>
            <a:grpSpLocks noChangeAspect="true"/>
          </p:cNvGrpSpPr>
          <p:nvPr/>
        </p:nvGrpSpPr>
        <p:grpSpPr>
          <a:xfrm rot="0">
            <a:off x="8973666" y="3960316"/>
            <a:ext cx="340221" cy="425203"/>
            <a:chOff x="0" y="0"/>
            <a:chExt cx="453628" cy="566937"/>
          </a:xfrm>
        </p:grpSpPr>
        <p:sp>
          <p:nvSpPr>
            <p:cNvPr name="Freeform 25" id="25" descr="preencoded.png"/>
            <p:cNvSpPr/>
            <p:nvPr/>
          </p:nvSpPr>
          <p:spPr>
            <a:xfrm flipH="false" flipV="false" rot="0">
              <a:off x="0" y="0"/>
              <a:ext cx="453644" cy="566928"/>
            </a:xfrm>
            <a:custGeom>
              <a:avLst/>
              <a:gdLst/>
              <a:ahLst/>
              <a:cxnLst/>
              <a:rect r="r" b="b" t="t" l="l"/>
              <a:pathLst>
                <a:path h="566928" w="453644">
                  <a:moveTo>
                    <a:pt x="0" y="0"/>
                  </a:moveTo>
                  <a:lnTo>
                    <a:pt x="453644" y="0"/>
                  </a:lnTo>
                  <a:lnTo>
                    <a:pt x="453644" y="566928"/>
                  </a:lnTo>
                  <a:lnTo>
                    <a:pt x="0" y="566928"/>
                  </a:lnTo>
                  <a:lnTo>
                    <a:pt x="0" y="0"/>
                  </a:lnTo>
                  <a:close/>
                </a:path>
              </a:pathLst>
            </a:custGeom>
            <a:blipFill>
              <a:blip r:embed="rId4"/>
              <a:stretch>
                <a:fillRect l="0" t="-8" r="3" b="-10"/>
              </a:stretch>
            </a:blipFill>
          </p:spPr>
        </p:sp>
      </p:grpSp>
      <p:sp>
        <p:nvSpPr>
          <p:cNvPr name="TextBox 26" id="26"/>
          <p:cNvSpPr txBox="true"/>
          <p:nvPr/>
        </p:nvSpPr>
        <p:spPr>
          <a:xfrm rot="0">
            <a:off x="6842820" y="4691062"/>
            <a:ext cx="4180434" cy="481012"/>
          </a:xfrm>
          <a:prstGeom prst="rect">
            <a:avLst/>
          </a:prstGeom>
        </p:spPr>
        <p:txBody>
          <a:bodyPr anchor="t" rtlCol="false" tIns="0" lIns="0" bIns="0" rIns="0">
            <a:spAutoFit/>
          </a:bodyPr>
          <a:lstStyle/>
          <a:p>
            <a:pPr algn="l">
              <a:lnSpc>
                <a:spcPts val="3437"/>
              </a:lnSpc>
            </a:pPr>
            <a:r>
              <a:rPr lang="en-US" sz="2750" b="true">
                <a:solidFill>
                  <a:srgbClr val="333F70"/>
                </a:solidFill>
                <a:latin typeface="Arimo Bold"/>
                <a:ea typeface="Arimo Bold"/>
                <a:cs typeface="Arimo Bold"/>
                <a:sym typeface="Arimo Bold"/>
              </a:rPr>
              <a:t>Feature Expansion</a:t>
            </a:r>
          </a:p>
        </p:txBody>
      </p:sp>
      <p:sp>
        <p:nvSpPr>
          <p:cNvPr name="TextBox 27" id="27"/>
          <p:cNvSpPr txBox="true"/>
          <p:nvPr/>
        </p:nvSpPr>
        <p:spPr>
          <a:xfrm rot="0">
            <a:off x="6842820" y="5217319"/>
            <a:ext cx="4602212" cy="3995817"/>
          </a:xfrm>
          <a:prstGeom prst="rect">
            <a:avLst/>
          </a:prstGeom>
        </p:spPr>
        <p:txBody>
          <a:bodyPr anchor="t" rtlCol="false" tIns="0" lIns="0" bIns="0" rIns="0">
            <a:spAutoFit/>
          </a:bodyPr>
          <a:lstStyle/>
          <a:p>
            <a:pPr algn="l">
              <a:lnSpc>
                <a:spcPts val="3561"/>
              </a:lnSpc>
            </a:pPr>
            <a:r>
              <a:rPr lang="en-US" sz="2187">
                <a:solidFill>
                  <a:srgbClr val="333F70"/>
                </a:solidFill>
                <a:latin typeface="Open Sans"/>
                <a:ea typeface="Open Sans"/>
                <a:cs typeface="Open Sans"/>
                <a:sym typeface="Open Sans"/>
              </a:rPr>
              <a:t>Future upgrades include multilingual support and AI-based image diagnosis to improve accessibility, usability, and healthcare assistance accuracy.</a:t>
            </a:r>
          </a:p>
          <a:p>
            <a:pPr algn="l">
              <a:lnSpc>
                <a:spcPts val="3561"/>
              </a:lnSpc>
            </a:pPr>
          </a:p>
          <a:p>
            <a:pPr algn="l">
              <a:lnSpc>
                <a:spcPts val="3561"/>
              </a:lnSpc>
            </a:pPr>
          </a:p>
          <a:p>
            <a:pPr algn="l">
              <a:lnSpc>
                <a:spcPts val="3561"/>
              </a:lnSpc>
            </a:pPr>
          </a:p>
          <a:p>
            <a:pPr algn="l">
              <a:lnSpc>
                <a:spcPts val="3562"/>
              </a:lnSpc>
            </a:pPr>
          </a:p>
        </p:txBody>
      </p:sp>
      <p:grpSp>
        <p:nvGrpSpPr>
          <p:cNvPr name="Group 28" id="28"/>
          <p:cNvGrpSpPr/>
          <p:nvPr/>
        </p:nvGrpSpPr>
        <p:grpSpPr>
          <a:xfrm rot="0">
            <a:off x="12052400" y="4385519"/>
            <a:ext cx="5245447" cy="3457872"/>
            <a:chOff x="0" y="0"/>
            <a:chExt cx="6993930" cy="4610497"/>
          </a:xfrm>
        </p:grpSpPr>
        <p:sp>
          <p:nvSpPr>
            <p:cNvPr name="Freeform 29" id="29"/>
            <p:cNvSpPr/>
            <p:nvPr/>
          </p:nvSpPr>
          <p:spPr>
            <a:xfrm flipH="false" flipV="false" rot="0">
              <a:off x="0" y="0"/>
              <a:ext cx="6993890" cy="4610481"/>
            </a:xfrm>
            <a:custGeom>
              <a:avLst/>
              <a:gdLst/>
              <a:ahLst/>
              <a:cxnLst/>
              <a:rect r="r" b="b" t="t" l="l"/>
              <a:pathLst>
                <a:path h="4610481" w="6993890">
                  <a:moveTo>
                    <a:pt x="0" y="243840"/>
                  </a:moveTo>
                  <a:cubicBezTo>
                    <a:pt x="0" y="109220"/>
                    <a:pt x="109220" y="0"/>
                    <a:pt x="243840" y="0"/>
                  </a:cubicBezTo>
                  <a:lnTo>
                    <a:pt x="6750050" y="0"/>
                  </a:lnTo>
                  <a:cubicBezTo>
                    <a:pt x="6884670" y="0"/>
                    <a:pt x="6993890" y="109220"/>
                    <a:pt x="6993890" y="243840"/>
                  </a:cubicBezTo>
                  <a:lnTo>
                    <a:pt x="6993890" y="4366641"/>
                  </a:lnTo>
                  <a:cubicBezTo>
                    <a:pt x="6993890" y="4501261"/>
                    <a:pt x="6884670" y="4610481"/>
                    <a:pt x="6750050" y="4610481"/>
                  </a:cubicBezTo>
                  <a:lnTo>
                    <a:pt x="243840" y="4610481"/>
                  </a:lnTo>
                  <a:cubicBezTo>
                    <a:pt x="109220" y="4610481"/>
                    <a:pt x="0" y="4501261"/>
                    <a:pt x="0" y="4366641"/>
                  </a:cubicBezTo>
                  <a:close/>
                </a:path>
              </a:pathLst>
            </a:custGeom>
            <a:solidFill>
              <a:srgbClr val="E2F3EF"/>
            </a:solidFill>
          </p:spPr>
        </p:sp>
      </p:grpSp>
      <p:grpSp>
        <p:nvGrpSpPr>
          <p:cNvPr name="Group 30" id="30"/>
          <p:cNvGrpSpPr/>
          <p:nvPr/>
        </p:nvGrpSpPr>
        <p:grpSpPr>
          <a:xfrm rot="0">
            <a:off x="12050166" y="4134742"/>
            <a:ext cx="5245447" cy="152400"/>
            <a:chOff x="0" y="0"/>
            <a:chExt cx="6993930" cy="203200"/>
          </a:xfrm>
        </p:grpSpPr>
        <p:sp>
          <p:nvSpPr>
            <p:cNvPr name="Freeform 31" id="31"/>
            <p:cNvSpPr/>
            <p:nvPr/>
          </p:nvSpPr>
          <p:spPr>
            <a:xfrm flipH="false" flipV="false" rot="0">
              <a:off x="0" y="0"/>
              <a:ext cx="6993890" cy="203200"/>
            </a:xfrm>
            <a:custGeom>
              <a:avLst/>
              <a:gdLst/>
              <a:ahLst/>
              <a:cxnLst/>
              <a:rect r="r" b="b" t="t" l="l"/>
              <a:pathLst>
                <a:path h="203200" w="6993890">
                  <a:moveTo>
                    <a:pt x="0" y="101600"/>
                  </a:moveTo>
                  <a:cubicBezTo>
                    <a:pt x="0" y="45466"/>
                    <a:pt x="45466" y="0"/>
                    <a:pt x="101600" y="0"/>
                  </a:cubicBezTo>
                  <a:lnTo>
                    <a:pt x="6892290" y="0"/>
                  </a:lnTo>
                  <a:cubicBezTo>
                    <a:pt x="6948424" y="0"/>
                    <a:pt x="6993890" y="45466"/>
                    <a:pt x="6993890" y="101600"/>
                  </a:cubicBezTo>
                  <a:cubicBezTo>
                    <a:pt x="6993890" y="157734"/>
                    <a:pt x="6948424" y="203200"/>
                    <a:pt x="6892290" y="203200"/>
                  </a:cubicBezTo>
                  <a:lnTo>
                    <a:pt x="101600" y="203200"/>
                  </a:lnTo>
                  <a:cubicBezTo>
                    <a:pt x="45466" y="203200"/>
                    <a:pt x="0" y="157734"/>
                    <a:pt x="0" y="101600"/>
                  </a:cubicBezTo>
                  <a:close/>
                </a:path>
              </a:pathLst>
            </a:custGeom>
            <a:solidFill>
              <a:srgbClr val="26A688"/>
            </a:solidFill>
          </p:spPr>
        </p:sp>
      </p:grpSp>
      <p:grpSp>
        <p:nvGrpSpPr>
          <p:cNvPr name="Group 32" id="32"/>
          <p:cNvGrpSpPr/>
          <p:nvPr/>
        </p:nvGrpSpPr>
        <p:grpSpPr>
          <a:xfrm rot="0">
            <a:off x="14247540" y="3747641"/>
            <a:ext cx="850553" cy="850552"/>
            <a:chOff x="0" y="0"/>
            <a:chExt cx="1134070" cy="1134070"/>
          </a:xfrm>
        </p:grpSpPr>
        <p:sp>
          <p:nvSpPr>
            <p:cNvPr name="Freeform 33" id="33"/>
            <p:cNvSpPr/>
            <p:nvPr/>
          </p:nvSpPr>
          <p:spPr>
            <a:xfrm flipH="false" flipV="false" rot="0">
              <a:off x="0" y="0"/>
              <a:ext cx="1134110" cy="1134110"/>
            </a:xfrm>
            <a:custGeom>
              <a:avLst/>
              <a:gdLst/>
              <a:ahLst/>
              <a:cxnLst/>
              <a:rect r="r" b="b" t="t" l="l"/>
              <a:pathLst>
                <a:path h="1134110" w="1134110">
                  <a:moveTo>
                    <a:pt x="0" y="567055"/>
                  </a:moveTo>
                  <a:cubicBezTo>
                    <a:pt x="0" y="253873"/>
                    <a:pt x="253873" y="0"/>
                    <a:pt x="567055" y="0"/>
                  </a:cubicBezTo>
                  <a:cubicBezTo>
                    <a:pt x="880237" y="0"/>
                    <a:pt x="1134110" y="253873"/>
                    <a:pt x="1134110" y="567055"/>
                  </a:cubicBezTo>
                  <a:cubicBezTo>
                    <a:pt x="1134110" y="880237"/>
                    <a:pt x="880237" y="1134110"/>
                    <a:pt x="567055" y="1134110"/>
                  </a:cubicBezTo>
                  <a:cubicBezTo>
                    <a:pt x="253873" y="1134110"/>
                    <a:pt x="0" y="880237"/>
                    <a:pt x="0" y="567055"/>
                  </a:cubicBezTo>
                  <a:close/>
                </a:path>
              </a:pathLst>
            </a:custGeom>
            <a:solidFill>
              <a:srgbClr val="26A688"/>
            </a:solidFill>
          </p:spPr>
        </p:sp>
      </p:grpSp>
      <p:grpSp>
        <p:nvGrpSpPr>
          <p:cNvPr name="Group 34" id="34"/>
          <p:cNvGrpSpPr>
            <a:grpSpLocks noChangeAspect="true"/>
          </p:cNvGrpSpPr>
          <p:nvPr/>
        </p:nvGrpSpPr>
        <p:grpSpPr>
          <a:xfrm rot="0">
            <a:off x="14502631" y="3960316"/>
            <a:ext cx="340221" cy="425203"/>
            <a:chOff x="0" y="0"/>
            <a:chExt cx="453628" cy="566937"/>
          </a:xfrm>
        </p:grpSpPr>
        <p:sp>
          <p:nvSpPr>
            <p:cNvPr name="Freeform 35" id="35" descr="preencoded.png"/>
            <p:cNvSpPr/>
            <p:nvPr/>
          </p:nvSpPr>
          <p:spPr>
            <a:xfrm flipH="false" flipV="false" rot="0">
              <a:off x="0" y="0"/>
              <a:ext cx="453644" cy="566928"/>
            </a:xfrm>
            <a:custGeom>
              <a:avLst/>
              <a:gdLst/>
              <a:ahLst/>
              <a:cxnLst/>
              <a:rect r="r" b="b" t="t" l="l"/>
              <a:pathLst>
                <a:path h="566928" w="453644">
                  <a:moveTo>
                    <a:pt x="0" y="0"/>
                  </a:moveTo>
                  <a:lnTo>
                    <a:pt x="453644" y="0"/>
                  </a:lnTo>
                  <a:lnTo>
                    <a:pt x="453644" y="566928"/>
                  </a:lnTo>
                  <a:lnTo>
                    <a:pt x="0" y="566928"/>
                  </a:lnTo>
                  <a:lnTo>
                    <a:pt x="0" y="0"/>
                  </a:lnTo>
                  <a:close/>
                </a:path>
              </a:pathLst>
            </a:custGeom>
            <a:blipFill>
              <a:blip r:embed="rId5"/>
              <a:stretch>
                <a:fillRect l="0" t="-8" r="3" b="-10"/>
              </a:stretch>
            </a:blipFill>
          </p:spPr>
        </p:sp>
      </p:grpSp>
      <p:sp>
        <p:nvSpPr>
          <p:cNvPr name="TextBox 36" id="36"/>
          <p:cNvSpPr txBox="true"/>
          <p:nvPr/>
        </p:nvSpPr>
        <p:spPr>
          <a:xfrm rot="0">
            <a:off x="12371636" y="4653756"/>
            <a:ext cx="4096289" cy="449262"/>
          </a:xfrm>
          <a:prstGeom prst="rect">
            <a:avLst/>
          </a:prstGeom>
        </p:spPr>
        <p:txBody>
          <a:bodyPr anchor="t" rtlCol="false" tIns="0" lIns="0" bIns="0" rIns="0">
            <a:spAutoFit/>
          </a:bodyPr>
          <a:lstStyle/>
          <a:p>
            <a:pPr algn="l">
              <a:lnSpc>
                <a:spcPts val="3437"/>
              </a:lnSpc>
            </a:pPr>
            <a:r>
              <a:rPr lang="en-US" sz="2750" b="true">
                <a:solidFill>
                  <a:srgbClr val="333F70"/>
                </a:solidFill>
                <a:latin typeface="Arimo Bold"/>
                <a:ea typeface="Arimo Bold"/>
                <a:cs typeface="Arimo Bold"/>
                <a:sym typeface="Arimo Bold"/>
              </a:rPr>
              <a:t>Scalable Deployment</a:t>
            </a:r>
          </a:p>
        </p:txBody>
      </p:sp>
      <p:sp>
        <p:nvSpPr>
          <p:cNvPr name="TextBox 37" id="37"/>
          <p:cNvSpPr txBox="true"/>
          <p:nvPr/>
        </p:nvSpPr>
        <p:spPr>
          <a:xfrm rot="0">
            <a:off x="12371636" y="5238750"/>
            <a:ext cx="4602213" cy="1446610"/>
          </a:xfrm>
          <a:prstGeom prst="rect">
            <a:avLst/>
          </a:prstGeom>
        </p:spPr>
        <p:txBody>
          <a:bodyPr anchor="t" rtlCol="false" tIns="0" lIns="0" bIns="0" rIns="0">
            <a:spAutoFit/>
          </a:bodyPr>
          <a:lstStyle/>
          <a:p>
            <a:pPr algn="l">
              <a:lnSpc>
                <a:spcPts val="3562"/>
              </a:lnSpc>
            </a:pPr>
            <a:r>
              <a:rPr lang="en-US" sz="2187">
                <a:solidFill>
                  <a:srgbClr val="333F70"/>
                </a:solidFill>
                <a:latin typeface="Open Sans"/>
                <a:ea typeface="Open Sans"/>
                <a:cs typeface="Open Sans"/>
                <a:sym typeface="Open Sans"/>
              </a:rPr>
              <a:t>Prepare the platform for large-scale deployment across multiple institutions and regions.</a:t>
            </a:r>
          </a:p>
        </p:txBody>
      </p:sp>
      <p:sp>
        <p:nvSpPr>
          <p:cNvPr name="TextBox 38" id="38"/>
          <p:cNvSpPr txBox="true"/>
          <p:nvPr/>
        </p:nvSpPr>
        <p:spPr>
          <a:xfrm rot="0">
            <a:off x="1417439" y="8182867"/>
            <a:ext cx="15878324" cy="539354"/>
          </a:xfrm>
          <a:prstGeom prst="rect">
            <a:avLst/>
          </a:prstGeom>
        </p:spPr>
        <p:txBody>
          <a:bodyPr anchor="t" rtlCol="false" tIns="0" lIns="0" bIns="0" rIns="0">
            <a:spAutoFit/>
          </a:bodyPr>
          <a:lstStyle/>
          <a:p>
            <a:pPr algn="l">
              <a:lnSpc>
                <a:spcPts val="3562"/>
              </a:lnSpc>
            </a:pPr>
            <a:r>
              <a:rPr lang="en-US" sz="2187">
                <a:solidFill>
                  <a:srgbClr val="333F70"/>
                </a:solidFill>
                <a:latin typeface="Open Sans"/>
                <a:ea typeface="Open Sans"/>
                <a:cs typeface="Open Sans"/>
                <a:sym typeface="Open Sans"/>
              </a:rPr>
              <a:t>This solution is not a replacement for a doctor, but a reliable first responder in the age of digital health.</a:t>
            </a:r>
          </a:p>
        </p:txBody>
      </p:sp>
      <p:grpSp>
        <p:nvGrpSpPr>
          <p:cNvPr name="Group 39" id="39"/>
          <p:cNvGrpSpPr/>
          <p:nvPr/>
        </p:nvGrpSpPr>
        <p:grpSpPr>
          <a:xfrm rot="0">
            <a:off x="992238" y="7949654"/>
            <a:ext cx="38100" cy="1091505"/>
            <a:chOff x="0" y="0"/>
            <a:chExt cx="50800" cy="1455340"/>
          </a:xfrm>
        </p:grpSpPr>
        <p:sp>
          <p:nvSpPr>
            <p:cNvPr name="Freeform 40" id="40"/>
            <p:cNvSpPr/>
            <p:nvPr/>
          </p:nvSpPr>
          <p:spPr>
            <a:xfrm flipH="false" flipV="false" rot="0">
              <a:off x="0" y="0"/>
              <a:ext cx="50800" cy="1455293"/>
            </a:xfrm>
            <a:custGeom>
              <a:avLst/>
              <a:gdLst/>
              <a:ahLst/>
              <a:cxnLst/>
              <a:rect r="r" b="b" t="t" l="l"/>
              <a:pathLst>
                <a:path h="1455293" w="50800">
                  <a:moveTo>
                    <a:pt x="0" y="0"/>
                  </a:moveTo>
                  <a:lnTo>
                    <a:pt x="50800" y="0"/>
                  </a:lnTo>
                  <a:lnTo>
                    <a:pt x="50800" y="1455293"/>
                  </a:lnTo>
                  <a:lnTo>
                    <a:pt x="0" y="1455293"/>
                  </a:lnTo>
                  <a:close/>
                </a:path>
              </a:pathLst>
            </a:custGeom>
            <a:solidFill>
              <a:srgbClr val="26A688"/>
            </a:solidFill>
          </p:spPr>
        </p:sp>
      </p:grpSp>
    </p:spTree>
  </p:cSld>
  <p:clrMapOvr>
    <a:masterClrMapping/>
  </p:clrMapOvr>
</p:sld>
</file>

<file path=ppt/slides/slide11.xml><?xml version="1.0" encoding="utf-8"?>
<p:sld xmlns:p="http://schemas.openxmlformats.org/presentationml/2006/main" xmlns:a="http://schemas.openxmlformats.org/drawingml/2006/main">
  <p:cSld>
    <p:bg>
      <p:bgPr>
        <a:solidFill>
          <a:srgbClr val="E2F3EF"/>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E2F3EF"/>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E2F3EF"/>
            </a:solidFill>
          </p:spPr>
        </p:sp>
      </p:grpSp>
      <p:sp>
        <p:nvSpPr>
          <p:cNvPr name="TextBox 6" id="6"/>
          <p:cNvSpPr txBox="true"/>
          <p:nvPr/>
        </p:nvSpPr>
        <p:spPr>
          <a:xfrm rot="0">
            <a:off x="3754955" y="3581366"/>
            <a:ext cx="16505336" cy="2520851"/>
          </a:xfrm>
          <a:prstGeom prst="rect">
            <a:avLst/>
          </a:prstGeom>
        </p:spPr>
        <p:txBody>
          <a:bodyPr anchor="t" rtlCol="false" tIns="0" lIns="0" bIns="0" rIns="0">
            <a:spAutoFit/>
          </a:bodyPr>
          <a:lstStyle/>
          <a:p>
            <a:pPr algn="l">
              <a:lnSpc>
                <a:spcPts val="18749"/>
              </a:lnSpc>
            </a:pPr>
            <a:r>
              <a:rPr lang="en-US" sz="14999" b="true">
                <a:solidFill>
                  <a:srgbClr val="333F70"/>
                </a:solidFill>
                <a:latin typeface="Arimo Bold"/>
                <a:ea typeface="Arimo Bold"/>
                <a:cs typeface="Arimo Bold"/>
                <a:sym typeface="Arimo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DAG1kwSYCOE</dc:identifier>
  <dcterms:modified xsi:type="dcterms:W3CDTF">2011-08-01T06:04:30Z</dcterms:modified>
  <cp:revision>1</cp:revision>
  <dc:title>Copy-of-AI-Powered-Healthcare-Advisor-Bridging-the-Information-Gap (1).pptx</dc:title>
</cp:coreProperties>
</file>